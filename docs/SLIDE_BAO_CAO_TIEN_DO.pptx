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C"/>
        </a:solidFill>
      </p:bgPr>
    </p:bg>
    <p:spTree>
      <p:nvGrpSpPr>
        <p:cNvPr id="1" name=""/>
        <p:cNvGrpSpPr/>
        <p:nvPr/>
      </p:nvGrpSpPr>
      <p:grpSpPr>
        <a:xfrm>
          <a:off x="0" y="0"/>
          <a:ext cx="0" cy="0"/>
          <a:chOff x="0" y="0"/>
          <a:chExt cx="0" cy="0"/>
        </a:xfrm>
      </p:grpSpPr>
      <p:sp>
        <p:nvSpPr>
          <p:cNvPr id="2" name="Text 0"/>
          <p:cNvSpPr/>
          <p:nvPr/>
        </p:nvSpPr>
        <p:spPr>
          <a:xfrm>
            <a:off x="914400" y="731520"/>
            <a:ext cx="10362895" cy="365760"/>
          </a:xfrm>
          <a:prstGeom prst="rect">
            <a:avLst/>
          </a:prstGeom>
          <a:noFill/>
          <a:ln/>
        </p:spPr>
        <p:txBody>
          <a:bodyPr wrap="square" rtlCol="0" anchor="ctr"/>
          <a:lstStyle/>
          <a:p>
            <a:pPr algn="ctr" indent="0" marL="0">
              <a:buNone/>
            </a:pPr>
            <a:r>
              <a:rPr lang="en-US" sz="1400" b="1" dirty="0">
                <a:solidFill>
                  <a:srgbClr val="F59E0B"/>
                </a:solidFill>
                <a:latin typeface="Calibri" pitchFamily="34" charset="0"/>
                <a:ea typeface="Calibri" pitchFamily="34" charset="-122"/>
                <a:cs typeface="Calibri" pitchFamily="34" charset="-120"/>
              </a:rPr>
              <a:t>TRƯỜNG ĐẠI HỌC CÔNG NGHỆ THÔNG TIN VÀ TRUYỀN THÔNG VIỆT - HÀN (VKU)</a:t>
            </a:r>
            <a:endParaRPr lang="en-US" sz="1400" dirty="0"/>
          </a:p>
        </p:txBody>
      </p:sp>
      <p:sp>
        <p:nvSpPr>
          <p:cNvPr id="3" name="Text 1"/>
          <p:cNvSpPr/>
          <p:nvPr/>
        </p:nvSpPr>
        <p:spPr>
          <a:xfrm>
            <a:off x="914400" y="1097280"/>
            <a:ext cx="10362895" cy="27432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KHOA KHOA HỌC MÁY TÍNH — BỘ MÔN HỆ THỐNG THÔNG TIN &amp; MẠNG</a:t>
            </a:r>
            <a:endParaRPr lang="en-US" sz="1200" dirty="0"/>
          </a:p>
        </p:txBody>
      </p:sp>
      <p:sp>
        <p:nvSpPr>
          <p:cNvPr id="4" name="Shape 2"/>
          <p:cNvSpPr/>
          <p:nvPr/>
        </p:nvSpPr>
        <p:spPr>
          <a:xfrm>
            <a:off x="4266590" y="1645920"/>
            <a:ext cx="3657600" cy="411480"/>
          </a:xfrm>
          <a:prstGeom prst="roundRect">
            <a:avLst>
              <a:gd name="adj" fmla="val 22222"/>
            </a:avLst>
          </a:prstGeom>
          <a:solidFill>
            <a:srgbClr val="1E293B"/>
          </a:solidFill>
          <a:ln w="19050">
            <a:solidFill>
              <a:srgbClr val="0284C7"/>
            </a:solidFill>
            <a:prstDash val="solid"/>
          </a:ln>
        </p:spPr>
      </p:sp>
      <p:sp>
        <p:nvSpPr>
          <p:cNvPr id="5" name="Text 3"/>
          <p:cNvSpPr/>
          <p:nvPr/>
        </p:nvSpPr>
        <p:spPr>
          <a:xfrm>
            <a:off x="4266590" y="1645920"/>
            <a:ext cx="3657600" cy="411480"/>
          </a:xfrm>
          <a:prstGeom prst="rect">
            <a:avLst/>
          </a:prstGeom>
          <a:noFill/>
          <a:ln/>
        </p:spPr>
        <p:txBody>
          <a:bodyPr wrap="square" rtlCol="0" anchor="ctr"/>
          <a:lstStyle/>
          <a:p>
            <a:pPr algn="ctr" indent="0" marL="0">
              <a:buNone/>
            </a:pPr>
            <a:r>
              <a:rPr lang="en-US" sz="1300" b="1" dirty="0">
                <a:solidFill>
                  <a:srgbClr val="38BDF8"/>
                </a:solidFill>
                <a:latin typeface="Calibri" pitchFamily="34" charset="0"/>
                <a:ea typeface="Calibri" pitchFamily="34" charset="-122"/>
                <a:cs typeface="Calibri" pitchFamily="34" charset="-120"/>
              </a:rPr>
              <a:t>BÁO CÁO TIẾN ĐỘ ĐỒ ÁN MÔN HỌC</a:t>
            </a:r>
            <a:endParaRPr lang="en-US" sz="1300" dirty="0"/>
          </a:p>
        </p:txBody>
      </p:sp>
      <p:sp>
        <p:nvSpPr>
          <p:cNvPr id="6" name="Text 4"/>
          <p:cNvSpPr/>
          <p:nvPr/>
        </p:nvSpPr>
        <p:spPr>
          <a:xfrm>
            <a:off x="914400" y="2286000"/>
            <a:ext cx="10362895" cy="12801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CONFIGURE AND DEPLOY MLOPS SERVICES</a:t>
            </a:r>
            <a:endParaRPr lang="en-US" sz="2800" dirty="0"/>
          </a:p>
          <a:p>
            <a:pPr algn="ctr" indent="0" marL="0">
              <a:buNone/>
            </a:pPr>
            <a:r>
              <a:rPr lang="en-US" sz="2800" b="1" dirty="0">
                <a:solidFill>
                  <a:srgbClr val="FFFFFF"/>
                </a:solidFill>
                <a:latin typeface="Calibri" pitchFamily="34" charset="0"/>
                <a:ea typeface="Calibri" pitchFamily="34" charset="-122"/>
                <a:cs typeface="Calibri" pitchFamily="34" charset="-120"/>
              </a:rPr>
              <a:t>ON ARCH LINUX &amp; UBUNTU</a:t>
            </a:r>
            <a:endParaRPr lang="en-US" sz="2800" dirty="0"/>
          </a:p>
        </p:txBody>
      </p:sp>
      <p:sp>
        <p:nvSpPr>
          <p:cNvPr id="7" name="Text 5"/>
          <p:cNvSpPr/>
          <p:nvPr/>
        </p:nvSpPr>
        <p:spPr>
          <a:xfrm>
            <a:off x="914400" y="3657600"/>
            <a:ext cx="10362895" cy="365760"/>
          </a:xfrm>
          <a:prstGeom prst="rect">
            <a:avLst/>
          </a:prstGeom>
          <a:noFill/>
          <a:ln/>
        </p:spPr>
        <p:txBody>
          <a:bodyPr wrap="square" rtlCol="0" anchor="ctr"/>
          <a:lstStyle/>
          <a:p>
            <a:pPr algn="ctr" indent="0" marL="0">
              <a:buNone/>
            </a:pPr>
            <a:r>
              <a:rPr lang="en-US" sz="1500" i="1" dirty="0">
                <a:solidFill>
                  <a:srgbClr val="38BDF8"/>
                </a:solidFill>
                <a:latin typeface="Calibri" pitchFamily="34" charset="0"/>
                <a:ea typeface="Calibri" pitchFamily="34" charset="-122"/>
                <a:cs typeface="Calibri" pitchFamily="34" charset="-120"/>
              </a:rPr>
              <a:t>Nghiên cứu đối kháng, xây dựng hạ tầng Rootless Containerization và Zero-Trust Network</a:t>
            </a:r>
            <a:endParaRPr lang="en-US" sz="1500" dirty="0"/>
          </a:p>
        </p:txBody>
      </p:sp>
      <p:sp>
        <p:nvSpPr>
          <p:cNvPr id="8" name="Shape 6"/>
          <p:cNvSpPr/>
          <p:nvPr/>
        </p:nvSpPr>
        <p:spPr>
          <a:xfrm>
            <a:off x="914400" y="4389120"/>
            <a:ext cx="3230575" cy="1645920"/>
          </a:xfrm>
          <a:prstGeom prst="roundRect">
            <a:avLst>
              <a:gd name="adj" fmla="val 4444"/>
            </a:avLst>
          </a:prstGeom>
          <a:solidFill>
            <a:srgbClr val="1E293B"/>
          </a:solidFill>
          <a:ln w="12700">
            <a:solidFill>
              <a:srgbClr val="334155"/>
            </a:solidFill>
            <a:prstDash val="solid"/>
          </a:ln>
        </p:spPr>
      </p:sp>
      <p:sp>
        <p:nvSpPr>
          <p:cNvPr id="9" name="Text 7"/>
          <p:cNvSpPr/>
          <p:nvPr/>
        </p:nvSpPr>
        <p:spPr>
          <a:xfrm>
            <a:off x="1097280" y="4526280"/>
            <a:ext cx="2864815" cy="32004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GIẢNG VIÊN HƯỚNG DẪN</a:t>
            </a:r>
            <a:endParaRPr lang="en-US" sz="1100" dirty="0"/>
          </a:p>
        </p:txBody>
      </p:sp>
      <p:sp>
        <p:nvSpPr>
          <p:cNvPr id="10" name="Text 8"/>
          <p:cNvSpPr/>
          <p:nvPr/>
        </p:nvSpPr>
        <p:spPr>
          <a:xfrm>
            <a:off x="1097280" y="4892040"/>
            <a:ext cx="2864815" cy="1005840"/>
          </a:xfrm>
          <a:prstGeom prst="rect">
            <a:avLst/>
          </a:prstGeom>
          <a:noFill/>
          <a:ln/>
        </p:spPr>
        <p:txBody>
          <a:bodyPr wrap="square" rtlCol="0" anchor="ctr"/>
          <a:lstStyle/>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TS. Hoàng Hữu Đức</a:t>
            </a:r>
            <a:endParaRPr lang="en-US" sz="1100" dirty="0"/>
          </a:p>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Khoa Khoa học máy tính VKU</a:t>
            </a:r>
            <a:endParaRPr lang="en-US" sz="1100" dirty="0"/>
          </a:p>
        </p:txBody>
      </p:sp>
      <p:sp>
        <p:nvSpPr>
          <p:cNvPr id="11" name="Shape 9"/>
          <p:cNvSpPr/>
          <p:nvPr/>
        </p:nvSpPr>
        <p:spPr>
          <a:xfrm>
            <a:off x="4480560" y="4389120"/>
            <a:ext cx="3230575" cy="1645920"/>
          </a:xfrm>
          <a:prstGeom prst="roundRect">
            <a:avLst>
              <a:gd name="adj" fmla="val 4444"/>
            </a:avLst>
          </a:prstGeom>
          <a:solidFill>
            <a:srgbClr val="1E293B"/>
          </a:solidFill>
          <a:ln w="12700">
            <a:solidFill>
              <a:srgbClr val="334155"/>
            </a:solidFill>
            <a:prstDash val="solid"/>
          </a:ln>
        </p:spPr>
      </p:sp>
      <p:sp>
        <p:nvSpPr>
          <p:cNvPr id="12" name="Text 10"/>
          <p:cNvSpPr/>
          <p:nvPr/>
        </p:nvSpPr>
        <p:spPr>
          <a:xfrm>
            <a:off x="4663440" y="4526280"/>
            <a:ext cx="2864815" cy="32004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NHÓM SINH VIÊN THỰC HIỆN</a:t>
            </a:r>
            <a:endParaRPr lang="en-US" sz="1100" dirty="0"/>
          </a:p>
        </p:txBody>
      </p:sp>
      <p:sp>
        <p:nvSpPr>
          <p:cNvPr id="13" name="Text 11"/>
          <p:cNvSpPr/>
          <p:nvPr/>
        </p:nvSpPr>
        <p:spPr>
          <a:xfrm>
            <a:off x="4663440" y="4892040"/>
            <a:ext cx="2864815" cy="1005840"/>
          </a:xfrm>
          <a:prstGeom prst="rect">
            <a:avLst/>
          </a:prstGeom>
          <a:noFill/>
          <a:ln/>
        </p:spPr>
        <p:txBody>
          <a:bodyPr wrap="square" rtlCol="0" anchor="ctr"/>
          <a:lstStyle/>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Nguyễn Công Đức (Lead - Arch Linux)</a:t>
            </a:r>
            <a:endParaRPr lang="en-US" sz="1100" dirty="0"/>
          </a:p>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Nguyễn Tùng Dương (Ubuntu Node)</a:t>
            </a:r>
            <a:endParaRPr lang="en-US" sz="1100" dirty="0"/>
          </a:p>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Nguyễn Văn C (Observability &amp; Benchmark)</a:t>
            </a:r>
            <a:endParaRPr lang="en-US" sz="1100" dirty="0"/>
          </a:p>
        </p:txBody>
      </p:sp>
      <p:sp>
        <p:nvSpPr>
          <p:cNvPr id="14" name="Shape 12"/>
          <p:cNvSpPr/>
          <p:nvPr/>
        </p:nvSpPr>
        <p:spPr>
          <a:xfrm>
            <a:off x="8046720" y="4389120"/>
            <a:ext cx="3230575" cy="1645920"/>
          </a:xfrm>
          <a:prstGeom prst="roundRect">
            <a:avLst>
              <a:gd name="adj" fmla="val 4444"/>
            </a:avLst>
          </a:prstGeom>
          <a:solidFill>
            <a:srgbClr val="1E293B"/>
          </a:solidFill>
          <a:ln w="12700">
            <a:solidFill>
              <a:srgbClr val="334155"/>
            </a:solidFill>
            <a:prstDash val="solid"/>
          </a:ln>
        </p:spPr>
      </p:sp>
      <p:sp>
        <p:nvSpPr>
          <p:cNvPr id="15" name="Text 13"/>
          <p:cNvSpPr/>
          <p:nvPr/>
        </p:nvSpPr>
        <p:spPr>
          <a:xfrm>
            <a:off x="8229600" y="4526280"/>
            <a:ext cx="2864815" cy="32004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THÔNG TIN BÁO CÁO</a:t>
            </a:r>
            <a:endParaRPr lang="en-US" sz="1100" dirty="0"/>
          </a:p>
        </p:txBody>
      </p:sp>
      <p:sp>
        <p:nvSpPr>
          <p:cNvPr id="16" name="Text 14"/>
          <p:cNvSpPr/>
          <p:nvPr/>
        </p:nvSpPr>
        <p:spPr>
          <a:xfrm>
            <a:off x="8229600" y="4892040"/>
            <a:ext cx="2864815" cy="1005840"/>
          </a:xfrm>
          <a:prstGeom prst="rect">
            <a:avLst/>
          </a:prstGeom>
          <a:noFill/>
          <a:ln/>
        </p:spPr>
        <p:txBody>
          <a:bodyPr wrap="square" rtlCol="0" anchor="ctr"/>
          <a:lstStyle/>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Đồ án Linux &amp; Phần mềm nguồn mở</a:t>
            </a:r>
            <a:endParaRPr lang="en-US" sz="1100" dirty="0"/>
          </a:p>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Học kỳ 1 — Năm học 2026-2027</a:t>
            </a:r>
            <a:endParaRPr lang="en-US" sz="1100" dirty="0"/>
          </a:p>
          <a:p>
            <a:pPr indent="0" marL="0">
              <a:lnSpc>
                <a:spcPts val="1800"/>
              </a:lnSpc>
              <a:buNone/>
            </a:pPr>
            <a:r>
              <a:rPr lang="en-US" sz="1100" dirty="0">
                <a:solidFill>
                  <a:srgbClr val="CBD5E1"/>
                </a:solidFill>
                <a:latin typeface="Calibri" pitchFamily="34" charset="0"/>
                <a:ea typeface="Calibri" pitchFamily="34" charset="-122"/>
                <a:cs typeface="Calibri" pitchFamily="34" charset="-120"/>
              </a:rPr>
              <a:t>Đà Nẵng, Tháng 10/2026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BỐI CẢNH &amp; VẤN ĐỀ</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1. TỔNG QUAN &amp; TÍNH CẤP THIẾT CỦA ĐỀ TÀI</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Thách thức phân phối Linux, rủi ro an ninh Container và giải pháp đột phá của nhóm</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02 / 12</a:t>
            </a:r>
            <a:endParaRPr lang="en-US" sz="1000" dirty="0"/>
          </a:p>
        </p:txBody>
      </p:sp>
      <p:sp>
        <p:nvSpPr>
          <p:cNvPr id="10" name="Shape 8"/>
          <p:cNvSpPr/>
          <p:nvPr/>
        </p:nvSpPr>
        <p:spPr>
          <a:xfrm>
            <a:off x="731520" y="1691640"/>
            <a:ext cx="3413455" cy="4389120"/>
          </a:xfrm>
          <a:prstGeom prst="roundRect">
            <a:avLst>
              <a:gd name="adj" fmla="val 2143"/>
            </a:avLst>
          </a:prstGeom>
          <a:solidFill>
            <a:srgbClr val="FFFFFF"/>
          </a:solidFill>
          <a:ln w="19050">
            <a:solidFill>
              <a:srgbClr val="0284C7"/>
            </a:solidFill>
            <a:prstDash val="solid"/>
          </a:ln>
        </p:spPr>
      </p:sp>
      <p:sp>
        <p:nvSpPr>
          <p:cNvPr id="11" name="Shape 9"/>
          <p:cNvSpPr/>
          <p:nvPr/>
        </p:nvSpPr>
        <p:spPr>
          <a:xfrm>
            <a:off x="914400" y="1874520"/>
            <a:ext cx="3047695" cy="292608"/>
          </a:xfrm>
          <a:prstGeom prst="roundRect">
            <a:avLst>
              <a:gd name="adj" fmla="val 15625"/>
            </a:avLst>
          </a:prstGeom>
          <a:solidFill>
            <a:srgbClr val="0284C7"/>
          </a:solidFill>
          <a:ln w="12700">
            <a:solidFill>
              <a:srgbClr val="0284C7"/>
            </a:solidFill>
            <a:prstDash val="solid"/>
          </a:ln>
        </p:spPr>
      </p:sp>
      <p:sp>
        <p:nvSpPr>
          <p:cNvPr id="12" name="Text 10"/>
          <p:cNvSpPr/>
          <p:nvPr/>
        </p:nvSpPr>
        <p:spPr>
          <a:xfrm>
            <a:off x="914400" y="1874520"/>
            <a:ext cx="3047695"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ARCH LINUX VS UBUNTU</a:t>
            </a:r>
            <a:endParaRPr lang="en-US" sz="1000" dirty="0"/>
          </a:p>
        </p:txBody>
      </p:sp>
      <p:sp>
        <p:nvSpPr>
          <p:cNvPr id="13" name="Text 11"/>
          <p:cNvSpPr/>
          <p:nvPr/>
        </p:nvSpPr>
        <p:spPr>
          <a:xfrm>
            <a:off x="914400" y="2240280"/>
            <a:ext cx="3047695" cy="41148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HAI THÁI CỰC HỆ ĐIỀU HÀNH</a:t>
            </a:r>
            <a:endParaRPr lang="en-US" sz="1300" dirty="0"/>
          </a:p>
        </p:txBody>
      </p:sp>
      <p:sp>
        <p:nvSpPr>
          <p:cNvPr id="14" name="Text 12"/>
          <p:cNvSpPr/>
          <p:nvPr/>
        </p:nvSpPr>
        <p:spPr>
          <a:xfrm>
            <a:off x="960120" y="2743200"/>
            <a:ext cx="2956255" cy="1051560"/>
          </a:xfrm>
          <a:prstGeom prst="rect">
            <a:avLst/>
          </a:prstGeom>
          <a:noFill/>
          <a:ln/>
        </p:spPr>
        <p:txBody>
          <a:bodyPr wrap="square" rtlCol="0" anchor="t"/>
          <a:lstStyle/>
          <a:p>
            <a:pPr indent="0" marL="0">
              <a:lnSpc>
                <a:spcPts val="1600"/>
              </a:lnSpc>
              <a:buNone/>
            </a:pPr>
            <a:r>
              <a:rPr lang="en-US" sz="1300" b="1" dirty="0">
                <a:solidFill>
                  <a:srgbClr val="0284C7"/>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Arch Linux: Mô hình Rolling-Release, nhân Linux 6.x mới nhất, siêu tối giản (~400MB RAM), không cài đặt dịch vụ thừa.</a:t>
            </a:r>
            <a:endParaRPr lang="en-US" sz="1300" dirty="0"/>
          </a:p>
        </p:txBody>
      </p:sp>
      <p:sp>
        <p:nvSpPr>
          <p:cNvPr id="15" name="Text 13"/>
          <p:cNvSpPr/>
          <p:nvPr/>
        </p:nvSpPr>
        <p:spPr>
          <a:xfrm>
            <a:off x="960120" y="3886200"/>
            <a:ext cx="2956255" cy="1051560"/>
          </a:xfrm>
          <a:prstGeom prst="rect">
            <a:avLst/>
          </a:prstGeom>
          <a:noFill/>
          <a:ln/>
        </p:spPr>
        <p:txBody>
          <a:bodyPr wrap="square" rtlCol="0" anchor="t"/>
          <a:lstStyle/>
          <a:p>
            <a:pPr indent="0" marL="0">
              <a:lnSpc>
                <a:spcPts val="1600"/>
              </a:lnSpc>
              <a:buNone/>
            </a:pPr>
            <a:r>
              <a:rPr lang="en-US" sz="1300" b="1" dirty="0">
                <a:solidFill>
                  <a:srgbClr val="0284C7"/>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Ubuntu Server: Chu kỳ LTS 5 năm ổn định, phổ biến nhưng cồng kềnh (~750MB RAM), nhiều daemon nền mặc định.</a:t>
            </a:r>
            <a:endParaRPr lang="en-US" sz="1300" dirty="0"/>
          </a:p>
        </p:txBody>
      </p:sp>
      <p:sp>
        <p:nvSpPr>
          <p:cNvPr id="16" name="Text 14"/>
          <p:cNvSpPr/>
          <p:nvPr/>
        </p:nvSpPr>
        <p:spPr>
          <a:xfrm>
            <a:off x="960120" y="5029200"/>
            <a:ext cx="2956255" cy="1051560"/>
          </a:xfrm>
          <a:prstGeom prst="rect">
            <a:avLst/>
          </a:prstGeom>
          <a:noFill/>
          <a:ln/>
        </p:spPr>
        <p:txBody>
          <a:bodyPr wrap="square" rtlCol="0" anchor="t"/>
          <a:lstStyle/>
          <a:p>
            <a:pPr indent="0" marL="0">
              <a:lnSpc>
                <a:spcPts val="1600"/>
              </a:lnSpc>
              <a:buNone/>
            </a:pPr>
            <a:r>
              <a:rPr lang="en-US" sz="1300" b="1" dirty="0">
                <a:solidFill>
                  <a:srgbClr val="0284C7"/>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Nhu cầu cấp thiết: Cần một công trình đo lường đối sánh định lượng khoa học khi chạy tải công việc MLOps thực tế.</a:t>
            </a:r>
            <a:endParaRPr lang="en-US" sz="1300" dirty="0"/>
          </a:p>
        </p:txBody>
      </p:sp>
      <p:sp>
        <p:nvSpPr>
          <p:cNvPr id="17" name="Shape 15"/>
          <p:cNvSpPr/>
          <p:nvPr/>
        </p:nvSpPr>
        <p:spPr>
          <a:xfrm>
            <a:off x="4389120" y="1691640"/>
            <a:ext cx="3413455" cy="4389120"/>
          </a:xfrm>
          <a:prstGeom prst="roundRect">
            <a:avLst>
              <a:gd name="adj" fmla="val 2143"/>
            </a:avLst>
          </a:prstGeom>
          <a:solidFill>
            <a:srgbClr val="FFFFFF"/>
          </a:solidFill>
          <a:ln w="19050">
            <a:solidFill>
              <a:srgbClr val="BA141A"/>
            </a:solidFill>
            <a:prstDash val="solid"/>
          </a:ln>
        </p:spPr>
      </p:sp>
      <p:sp>
        <p:nvSpPr>
          <p:cNvPr id="18" name="Shape 16"/>
          <p:cNvSpPr/>
          <p:nvPr/>
        </p:nvSpPr>
        <p:spPr>
          <a:xfrm>
            <a:off x="4572000" y="1874520"/>
            <a:ext cx="3047695" cy="292608"/>
          </a:xfrm>
          <a:prstGeom prst="roundRect">
            <a:avLst>
              <a:gd name="adj" fmla="val 15625"/>
            </a:avLst>
          </a:prstGeom>
          <a:solidFill>
            <a:srgbClr val="BA141A"/>
          </a:solidFill>
          <a:ln w="12700">
            <a:solidFill>
              <a:srgbClr val="BA141A"/>
            </a:solidFill>
            <a:prstDash val="solid"/>
          </a:ln>
        </p:spPr>
      </p:sp>
      <p:sp>
        <p:nvSpPr>
          <p:cNvPr id="19" name="Text 17"/>
          <p:cNvSpPr/>
          <p:nvPr/>
        </p:nvSpPr>
        <p:spPr>
          <a:xfrm>
            <a:off x="4572000" y="1874520"/>
            <a:ext cx="3047695"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LỖ HỔNG CONTAINER ESCAPE</a:t>
            </a:r>
            <a:endParaRPr lang="en-US" sz="1000" dirty="0"/>
          </a:p>
        </p:txBody>
      </p:sp>
      <p:sp>
        <p:nvSpPr>
          <p:cNvPr id="20" name="Text 18"/>
          <p:cNvSpPr/>
          <p:nvPr/>
        </p:nvSpPr>
        <p:spPr>
          <a:xfrm>
            <a:off x="4572000" y="2240280"/>
            <a:ext cx="3047695" cy="41148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HIỂM HỌA ROOTFUL DOCKER</a:t>
            </a:r>
            <a:endParaRPr lang="en-US" sz="1300" dirty="0"/>
          </a:p>
        </p:txBody>
      </p:sp>
      <p:sp>
        <p:nvSpPr>
          <p:cNvPr id="21" name="Text 19"/>
          <p:cNvSpPr/>
          <p:nvPr/>
        </p:nvSpPr>
        <p:spPr>
          <a:xfrm>
            <a:off x="4617720" y="2743200"/>
            <a:ext cx="2956255" cy="1051560"/>
          </a:xfrm>
          <a:prstGeom prst="rect">
            <a:avLst/>
          </a:prstGeom>
          <a:noFill/>
          <a:ln/>
        </p:spPr>
        <p:txBody>
          <a:bodyPr wrap="square" rtlCol="0" anchor="t"/>
          <a:lstStyle/>
          <a:p>
            <a:pPr indent="0" marL="0">
              <a:lnSpc>
                <a:spcPts val="1600"/>
              </a:lnSpc>
              <a:buNone/>
            </a:pPr>
            <a:r>
              <a:rPr lang="en-US" sz="1300" b="1" dirty="0">
                <a:solidFill>
                  <a:srgbClr val="BA141A"/>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Docker truyền thống chạy daemon dưới quyền root (UID 0) tối cao của máy chủ.</a:t>
            </a:r>
            <a:endParaRPr lang="en-US" sz="1300" dirty="0"/>
          </a:p>
        </p:txBody>
      </p:sp>
      <p:sp>
        <p:nvSpPr>
          <p:cNvPr id="22" name="Text 20"/>
          <p:cNvSpPr/>
          <p:nvPr/>
        </p:nvSpPr>
        <p:spPr>
          <a:xfrm>
            <a:off x="4617720" y="3886200"/>
            <a:ext cx="2956255" cy="1051560"/>
          </a:xfrm>
          <a:prstGeom prst="rect">
            <a:avLst/>
          </a:prstGeom>
          <a:noFill/>
          <a:ln/>
        </p:spPr>
        <p:txBody>
          <a:bodyPr wrap="square" rtlCol="0" anchor="t"/>
          <a:lstStyle/>
          <a:p>
            <a:pPr indent="0" marL="0">
              <a:lnSpc>
                <a:spcPts val="1600"/>
              </a:lnSpc>
              <a:buNone/>
            </a:pPr>
            <a:r>
              <a:rPr lang="en-US" sz="1300" b="1" dirty="0">
                <a:solidFill>
                  <a:srgbClr val="BA141A"/>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Khi vi dịch vụ AI bị Remote Code Execution (RCE), hacker có thể khai thác CVE-2019-5736 leo thang kiểm soát máy chủ vật lý.</a:t>
            </a:r>
            <a:endParaRPr lang="en-US" sz="1300" dirty="0"/>
          </a:p>
        </p:txBody>
      </p:sp>
      <p:sp>
        <p:nvSpPr>
          <p:cNvPr id="23" name="Text 21"/>
          <p:cNvSpPr/>
          <p:nvPr/>
        </p:nvSpPr>
        <p:spPr>
          <a:xfrm>
            <a:off x="4617720" y="5029200"/>
            <a:ext cx="2956255" cy="1051560"/>
          </a:xfrm>
          <a:prstGeom prst="rect">
            <a:avLst/>
          </a:prstGeom>
          <a:noFill/>
          <a:ln/>
        </p:spPr>
        <p:txBody>
          <a:bodyPr wrap="square" rtlCol="0" anchor="t"/>
          <a:lstStyle/>
          <a:p>
            <a:pPr indent="0" marL="0">
              <a:lnSpc>
                <a:spcPts val="1600"/>
              </a:lnSpc>
              <a:buNone/>
            </a:pPr>
            <a:r>
              <a:rPr lang="en-US" sz="1300" b="1" dirty="0">
                <a:solidFill>
                  <a:srgbClr val="BA141A"/>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Mở cổng cơ sở dữ liệu (5432) ra ngoài Internet tạo điều kiện cho botnet quét mạng và đánh cắp dữ liệu mô hình.</a:t>
            </a:r>
            <a:endParaRPr lang="en-US" sz="1300" dirty="0"/>
          </a:p>
        </p:txBody>
      </p:sp>
      <p:sp>
        <p:nvSpPr>
          <p:cNvPr id="24" name="Shape 22"/>
          <p:cNvSpPr/>
          <p:nvPr/>
        </p:nvSpPr>
        <p:spPr>
          <a:xfrm>
            <a:off x="8046720" y="1691640"/>
            <a:ext cx="3413455" cy="4389120"/>
          </a:xfrm>
          <a:prstGeom prst="roundRect">
            <a:avLst>
              <a:gd name="adj" fmla="val 2143"/>
            </a:avLst>
          </a:prstGeom>
          <a:solidFill>
            <a:srgbClr val="FFFFFF"/>
          </a:solidFill>
          <a:ln w="19050">
            <a:solidFill>
              <a:srgbClr val="16A34A"/>
            </a:solidFill>
            <a:prstDash val="solid"/>
          </a:ln>
        </p:spPr>
      </p:sp>
      <p:sp>
        <p:nvSpPr>
          <p:cNvPr id="25" name="Shape 23"/>
          <p:cNvSpPr/>
          <p:nvPr/>
        </p:nvSpPr>
        <p:spPr>
          <a:xfrm>
            <a:off x="8229600" y="1874520"/>
            <a:ext cx="3047695" cy="292608"/>
          </a:xfrm>
          <a:prstGeom prst="roundRect">
            <a:avLst>
              <a:gd name="adj" fmla="val 15625"/>
            </a:avLst>
          </a:prstGeom>
          <a:solidFill>
            <a:srgbClr val="16A34A"/>
          </a:solidFill>
          <a:ln w="12700">
            <a:solidFill>
              <a:srgbClr val="16A34A"/>
            </a:solidFill>
            <a:prstDash val="solid"/>
          </a:ln>
        </p:spPr>
      </p:sp>
      <p:sp>
        <p:nvSpPr>
          <p:cNvPr id="26" name="Text 24"/>
          <p:cNvSpPr/>
          <p:nvPr/>
        </p:nvSpPr>
        <p:spPr>
          <a:xfrm>
            <a:off x="8229600" y="1874520"/>
            <a:ext cx="3047695"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ROOTLESS &amp; ZERO-TRUST</a:t>
            </a:r>
            <a:endParaRPr lang="en-US" sz="1000" dirty="0"/>
          </a:p>
        </p:txBody>
      </p:sp>
      <p:sp>
        <p:nvSpPr>
          <p:cNvPr id="27" name="Text 25"/>
          <p:cNvSpPr/>
          <p:nvPr/>
        </p:nvSpPr>
        <p:spPr>
          <a:xfrm>
            <a:off x="8229600" y="2240280"/>
            <a:ext cx="3047695" cy="411480"/>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GIẢI PHÁP ĐỘT PHÁ CỦA NHÓM</a:t>
            </a:r>
            <a:endParaRPr lang="en-US" sz="1300" dirty="0"/>
          </a:p>
        </p:txBody>
      </p:sp>
      <p:sp>
        <p:nvSpPr>
          <p:cNvPr id="28" name="Text 26"/>
          <p:cNvSpPr/>
          <p:nvPr/>
        </p:nvSpPr>
        <p:spPr>
          <a:xfrm>
            <a:off x="8275320" y="2743200"/>
            <a:ext cx="2956255" cy="1051560"/>
          </a:xfrm>
          <a:prstGeom prst="rect">
            <a:avLst/>
          </a:prstGeom>
          <a:noFill/>
          <a:ln/>
        </p:spPr>
        <p:txBody>
          <a:bodyPr wrap="square" rtlCol="0" anchor="t"/>
          <a:lstStyle/>
          <a:p>
            <a:pPr indent="0" marL="0">
              <a:lnSpc>
                <a:spcPts val="1600"/>
              </a:lnSpc>
              <a:buNone/>
            </a:pPr>
            <a:r>
              <a:rPr lang="en-US" sz="1300" b="1" dirty="0">
                <a:solidFill>
                  <a:srgbClr val="16A34A"/>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Thiết kế động cơ Rootless Docker: Daemon chạy hoàn toàn dưới user thường mlops (UID 1003).</a:t>
            </a:r>
            <a:endParaRPr lang="en-US" sz="1300" dirty="0"/>
          </a:p>
        </p:txBody>
      </p:sp>
      <p:sp>
        <p:nvSpPr>
          <p:cNvPr id="29" name="Text 27"/>
          <p:cNvSpPr/>
          <p:nvPr/>
        </p:nvSpPr>
        <p:spPr>
          <a:xfrm>
            <a:off x="8275320" y="3886200"/>
            <a:ext cx="2956255" cy="1051560"/>
          </a:xfrm>
          <a:prstGeom prst="rect">
            <a:avLst/>
          </a:prstGeom>
          <a:noFill/>
          <a:ln/>
        </p:spPr>
        <p:txBody>
          <a:bodyPr wrap="square" rtlCol="0" anchor="t"/>
          <a:lstStyle/>
          <a:p>
            <a:pPr indent="0" marL="0">
              <a:lnSpc>
                <a:spcPts val="1600"/>
              </a:lnSpc>
              <a:buNone/>
            </a:pPr>
            <a:r>
              <a:rPr lang="en-US" sz="1300" b="1" dirty="0">
                <a:solidFill>
                  <a:srgbClr val="16A34A"/>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Cách ly mạng nội bộ Zero-Trust: Đóng cổng 5432 trên Host, chỉ giao tiếp nội bộ container qua bridge riêng.</a:t>
            </a:r>
            <a:endParaRPr lang="en-US" sz="1300" dirty="0"/>
          </a:p>
        </p:txBody>
      </p:sp>
      <p:sp>
        <p:nvSpPr>
          <p:cNvPr id="30" name="Text 28"/>
          <p:cNvSpPr/>
          <p:nvPr/>
        </p:nvSpPr>
        <p:spPr>
          <a:xfrm>
            <a:off x="8275320" y="5029200"/>
            <a:ext cx="2956255" cy="1051560"/>
          </a:xfrm>
          <a:prstGeom prst="rect">
            <a:avLst/>
          </a:prstGeom>
          <a:noFill/>
          <a:ln/>
        </p:spPr>
        <p:txBody>
          <a:bodyPr wrap="square" rtlCol="0" anchor="t"/>
          <a:lstStyle/>
          <a:p>
            <a:pPr indent="0" marL="0">
              <a:lnSpc>
                <a:spcPts val="1600"/>
              </a:lnSpc>
              <a:buNone/>
            </a:pPr>
            <a:r>
              <a:rPr lang="en-US" sz="1300" b="1" dirty="0">
                <a:solidFill>
                  <a:srgbClr val="16A34A"/>
                </a:solidFill>
              </a:rPr>
              <a:t>• </a:t>
            </a:r>
            <a:pPr indent="0" marL="0">
              <a:lnSpc>
                <a:spcPts val="1600"/>
              </a:lnSpc>
              <a:buNone/>
            </a:pPr>
            <a:r>
              <a:rPr lang="en-US" sz="1080" dirty="0">
                <a:solidFill>
                  <a:srgbClr val="1E293B"/>
                </a:solidFill>
                <a:latin typeface="Calibri" pitchFamily="34" charset="0"/>
                <a:ea typeface="Calibri" pitchFamily="34" charset="-122"/>
                <a:cs typeface="Calibri" pitchFamily="34" charset="-120"/>
              </a:rPr>
              <a:t>Tự động hóa 100% bằng bộ kịch bản IaC Bash script có thể tái lập tức thì và hỗ trợ rollback an toàn.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MỤC TIÊU NGHIÊN CỨU</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2. MỤC TIÊU NGHIÊN CỨU THEO CHUẨN SMART</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Cam kết và đo lường tiến độ thực hiện đề tài theo 5 tiêu chuẩn khoa học chính xác</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03 / 12</a:t>
            </a:r>
            <a:endParaRPr lang="en-US" sz="1000" dirty="0"/>
          </a:p>
        </p:txBody>
      </p:sp>
      <p:sp>
        <p:nvSpPr>
          <p:cNvPr id="10" name="Shape 8"/>
          <p:cNvSpPr/>
          <p:nvPr/>
        </p:nvSpPr>
        <p:spPr>
          <a:xfrm>
            <a:off x="731520" y="1691640"/>
            <a:ext cx="5242255" cy="2057400"/>
          </a:xfrm>
          <a:prstGeom prst="roundRect">
            <a:avLst>
              <a:gd name="adj" fmla="val 3556"/>
            </a:avLst>
          </a:prstGeom>
          <a:solidFill>
            <a:srgbClr val="FFFFFF"/>
          </a:solidFill>
          <a:ln w="19050">
            <a:solidFill>
              <a:srgbClr val="0284C7"/>
            </a:solidFill>
            <a:prstDash val="solid"/>
          </a:ln>
        </p:spPr>
      </p:sp>
      <p:sp>
        <p:nvSpPr>
          <p:cNvPr id="11" name="Shape 9"/>
          <p:cNvSpPr/>
          <p:nvPr/>
        </p:nvSpPr>
        <p:spPr>
          <a:xfrm>
            <a:off x="1005840" y="1965960"/>
            <a:ext cx="822960" cy="822960"/>
          </a:xfrm>
          <a:prstGeom prst="roundRect">
            <a:avLst>
              <a:gd name="adj" fmla="val 8889"/>
            </a:avLst>
          </a:prstGeom>
          <a:solidFill>
            <a:srgbClr val="0284C7"/>
          </a:solidFill>
          <a:ln w="12700">
            <a:solidFill>
              <a:srgbClr val="0284C7"/>
            </a:solidFill>
            <a:prstDash val="solid"/>
          </a:ln>
        </p:spPr>
      </p:sp>
      <p:sp>
        <p:nvSpPr>
          <p:cNvPr id="12" name="Text 10"/>
          <p:cNvSpPr/>
          <p:nvPr/>
        </p:nvSpPr>
        <p:spPr>
          <a:xfrm>
            <a:off x="1005840" y="1965960"/>
            <a:ext cx="822960" cy="822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13" name="Text 11"/>
          <p:cNvSpPr/>
          <p:nvPr/>
        </p:nvSpPr>
        <p:spPr>
          <a:xfrm>
            <a:off x="2011680" y="1965960"/>
            <a:ext cx="374904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SPECIFIC (MỤC TIÊU CỤ THỂ)</a:t>
            </a:r>
            <a:endParaRPr lang="en-US" sz="1300" dirty="0"/>
          </a:p>
        </p:txBody>
      </p:sp>
      <p:sp>
        <p:nvSpPr>
          <p:cNvPr id="14" name="Text 12"/>
          <p:cNvSpPr/>
          <p:nvPr/>
        </p:nvSpPr>
        <p:spPr>
          <a:xfrm>
            <a:off x="2011680" y="2331720"/>
            <a:ext cx="3749040" cy="1234440"/>
          </a:xfrm>
          <a:prstGeom prst="rect">
            <a:avLst/>
          </a:prstGeom>
          <a:noFill/>
          <a:ln/>
        </p:spPr>
        <p:txBody>
          <a:bodyPr wrap="square" rtlCol="0" anchor="ctr"/>
          <a:lstStyle/>
          <a:p>
            <a:pPr indent="0" marL="0">
              <a:lnSpc>
                <a:spcPts val="1800"/>
              </a:lnSpc>
              <a:buNone/>
            </a:pPr>
            <a:r>
              <a:rPr lang="en-US" sz="1100" dirty="0">
                <a:solidFill>
                  <a:srgbClr val="1E293B"/>
                </a:solidFill>
                <a:latin typeface="Calibri" pitchFamily="34" charset="0"/>
                <a:ea typeface="Calibri" pitchFamily="34" charset="-122"/>
                <a:cs typeface="Calibri" pitchFamily="34" charset="-120"/>
              </a:rPr>
              <a:t>Triển khai thành công 100% cụm dịch vụ MLOps chuẩn doanh nghiệp gồm 5 thành phần: FastAPI OCR, MLflow Tracking, PostgreSQL DB, Prometheus và Grafana hoạt động hoàn toàn không cần quyền root trên Arch Linux.</a:t>
            </a:r>
            <a:endParaRPr lang="en-US" sz="1100" dirty="0"/>
          </a:p>
        </p:txBody>
      </p:sp>
      <p:sp>
        <p:nvSpPr>
          <p:cNvPr id="15" name="Shape 13"/>
          <p:cNvSpPr/>
          <p:nvPr/>
        </p:nvSpPr>
        <p:spPr>
          <a:xfrm>
            <a:off x="6217920" y="1691640"/>
            <a:ext cx="5242255" cy="2057400"/>
          </a:xfrm>
          <a:prstGeom prst="roundRect">
            <a:avLst>
              <a:gd name="adj" fmla="val 3556"/>
            </a:avLst>
          </a:prstGeom>
          <a:solidFill>
            <a:srgbClr val="FFFFFF"/>
          </a:solidFill>
          <a:ln w="19050">
            <a:solidFill>
              <a:srgbClr val="0284C7"/>
            </a:solidFill>
            <a:prstDash val="solid"/>
          </a:ln>
        </p:spPr>
      </p:sp>
      <p:sp>
        <p:nvSpPr>
          <p:cNvPr id="16" name="Shape 14"/>
          <p:cNvSpPr/>
          <p:nvPr/>
        </p:nvSpPr>
        <p:spPr>
          <a:xfrm>
            <a:off x="6492240" y="1965960"/>
            <a:ext cx="822960" cy="822960"/>
          </a:xfrm>
          <a:prstGeom prst="roundRect">
            <a:avLst>
              <a:gd name="adj" fmla="val 8889"/>
            </a:avLst>
          </a:prstGeom>
          <a:solidFill>
            <a:srgbClr val="0284C7"/>
          </a:solidFill>
          <a:ln w="12700">
            <a:solidFill>
              <a:srgbClr val="0284C7"/>
            </a:solidFill>
            <a:prstDash val="solid"/>
          </a:ln>
        </p:spPr>
      </p:sp>
      <p:sp>
        <p:nvSpPr>
          <p:cNvPr id="17" name="Text 15"/>
          <p:cNvSpPr/>
          <p:nvPr/>
        </p:nvSpPr>
        <p:spPr>
          <a:xfrm>
            <a:off x="6492240" y="1965960"/>
            <a:ext cx="822960" cy="822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18" name="Text 16"/>
          <p:cNvSpPr/>
          <p:nvPr/>
        </p:nvSpPr>
        <p:spPr>
          <a:xfrm>
            <a:off x="7498080" y="1965960"/>
            <a:ext cx="374904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MEASURABLE (ĐO LƯỜNG ĐỊNH LƯỢNG)</a:t>
            </a:r>
            <a:endParaRPr lang="en-US" sz="1300" dirty="0"/>
          </a:p>
        </p:txBody>
      </p:sp>
      <p:sp>
        <p:nvSpPr>
          <p:cNvPr id="19" name="Text 17"/>
          <p:cNvSpPr/>
          <p:nvPr/>
        </p:nvSpPr>
        <p:spPr>
          <a:xfrm>
            <a:off x="7498080" y="2331720"/>
            <a:ext cx="3749040" cy="1234440"/>
          </a:xfrm>
          <a:prstGeom prst="rect">
            <a:avLst/>
          </a:prstGeom>
          <a:noFill/>
          <a:ln/>
        </p:spPr>
        <p:txBody>
          <a:bodyPr wrap="square" rtlCol="0" anchor="ctr"/>
          <a:lstStyle/>
          <a:p>
            <a:pPr indent="0" marL="0">
              <a:lnSpc>
                <a:spcPts val="1800"/>
              </a:lnSpc>
              <a:buNone/>
            </a:pPr>
            <a:r>
              <a:rPr lang="en-US" sz="1100" dirty="0">
                <a:solidFill>
                  <a:srgbClr val="1E293B"/>
                </a:solidFill>
                <a:latin typeface="Calibri" pitchFamily="34" charset="0"/>
                <a:ea typeface="Calibri" pitchFamily="34" charset="-122"/>
                <a:cs typeface="Calibri" pitchFamily="34" charset="-120"/>
              </a:rPr>
              <a:t>Thu thập số liệu đo lường thực nghiệm khách quan: Mức chiếm dụng RAM tĩnh (Idle), RAM khi có tải, thời gian khởi động OS (Boot Time), thông lượng xử lý AI (Requests/sec), độ trễ p50/p95/p99 và tỷ lệ lỗi (Error Rate).</a:t>
            </a:r>
            <a:endParaRPr lang="en-US" sz="1100" dirty="0"/>
          </a:p>
        </p:txBody>
      </p:sp>
      <p:sp>
        <p:nvSpPr>
          <p:cNvPr id="20" name="Shape 18"/>
          <p:cNvSpPr/>
          <p:nvPr/>
        </p:nvSpPr>
        <p:spPr>
          <a:xfrm>
            <a:off x="731520" y="3931920"/>
            <a:ext cx="5242255" cy="2057400"/>
          </a:xfrm>
          <a:prstGeom prst="roundRect">
            <a:avLst>
              <a:gd name="adj" fmla="val 3556"/>
            </a:avLst>
          </a:prstGeom>
          <a:solidFill>
            <a:srgbClr val="FFFFFF"/>
          </a:solidFill>
          <a:ln w="19050">
            <a:solidFill>
              <a:srgbClr val="0284C7"/>
            </a:solidFill>
            <a:prstDash val="solid"/>
          </a:ln>
        </p:spPr>
      </p:sp>
      <p:sp>
        <p:nvSpPr>
          <p:cNvPr id="21" name="Shape 19"/>
          <p:cNvSpPr/>
          <p:nvPr/>
        </p:nvSpPr>
        <p:spPr>
          <a:xfrm>
            <a:off x="1005840" y="4206240"/>
            <a:ext cx="822960" cy="822960"/>
          </a:xfrm>
          <a:prstGeom prst="roundRect">
            <a:avLst>
              <a:gd name="adj" fmla="val 8889"/>
            </a:avLst>
          </a:prstGeom>
          <a:solidFill>
            <a:srgbClr val="0284C7"/>
          </a:solidFill>
          <a:ln w="12700">
            <a:solidFill>
              <a:srgbClr val="0284C7"/>
            </a:solidFill>
            <a:prstDash val="solid"/>
          </a:ln>
        </p:spPr>
      </p:sp>
      <p:sp>
        <p:nvSpPr>
          <p:cNvPr id="22" name="Text 20"/>
          <p:cNvSpPr/>
          <p:nvPr/>
        </p:nvSpPr>
        <p:spPr>
          <a:xfrm>
            <a:off x="1005840" y="4206240"/>
            <a:ext cx="822960" cy="822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23" name="Text 21"/>
          <p:cNvSpPr/>
          <p:nvPr/>
        </p:nvSpPr>
        <p:spPr>
          <a:xfrm>
            <a:off x="2011680" y="4206240"/>
            <a:ext cx="374904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ACHIEVABLE (TÍNH KHẢ THI CAO)</a:t>
            </a:r>
            <a:endParaRPr lang="en-US" sz="1300" dirty="0"/>
          </a:p>
        </p:txBody>
      </p:sp>
      <p:sp>
        <p:nvSpPr>
          <p:cNvPr id="24" name="Text 22"/>
          <p:cNvSpPr/>
          <p:nvPr/>
        </p:nvSpPr>
        <p:spPr>
          <a:xfrm>
            <a:off x="2011680" y="4572000"/>
            <a:ext cx="3749040" cy="1234440"/>
          </a:xfrm>
          <a:prstGeom prst="rect">
            <a:avLst/>
          </a:prstGeom>
          <a:noFill/>
          <a:ln/>
        </p:spPr>
        <p:txBody>
          <a:bodyPr wrap="square" rtlCol="0" anchor="ctr"/>
          <a:lstStyle/>
          <a:p>
            <a:pPr indent="0" marL="0">
              <a:lnSpc>
                <a:spcPts val="1800"/>
              </a:lnSpc>
              <a:buNone/>
            </a:pPr>
            <a:r>
              <a:rPr lang="en-US" sz="1100" dirty="0">
                <a:solidFill>
                  <a:srgbClr val="1E293B"/>
                </a:solidFill>
                <a:latin typeface="Calibri" pitchFamily="34" charset="0"/>
                <a:ea typeface="Calibri" pitchFamily="34" charset="-122"/>
                <a:cs typeface="Calibri" pitchFamily="34" charset="-120"/>
              </a:rPr>
              <a:t>Tự động hóa toàn diện 100% hạ tầng thông qua bộ kịch bản IaC Bash shell chuẩn mực (01_hardening, 02_rootless_docker, 03_deploy_stack, 04_verify_system). Khả năng tái lập và rollback chỉ trong vài giây.</a:t>
            </a:r>
            <a:endParaRPr lang="en-US" sz="1100" dirty="0"/>
          </a:p>
        </p:txBody>
      </p:sp>
      <p:sp>
        <p:nvSpPr>
          <p:cNvPr id="25" name="Shape 23"/>
          <p:cNvSpPr/>
          <p:nvPr/>
        </p:nvSpPr>
        <p:spPr>
          <a:xfrm>
            <a:off x="6217920" y="3931920"/>
            <a:ext cx="5242255" cy="2057400"/>
          </a:xfrm>
          <a:prstGeom prst="roundRect">
            <a:avLst>
              <a:gd name="adj" fmla="val 3556"/>
            </a:avLst>
          </a:prstGeom>
          <a:solidFill>
            <a:srgbClr val="FFFFFF"/>
          </a:solidFill>
          <a:ln w="19050">
            <a:solidFill>
              <a:srgbClr val="0284C7"/>
            </a:solidFill>
            <a:prstDash val="solid"/>
          </a:ln>
        </p:spPr>
      </p:sp>
      <p:sp>
        <p:nvSpPr>
          <p:cNvPr id="26" name="Shape 24"/>
          <p:cNvSpPr/>
          <p:nvPr/>
        </p:nvSpPr>
        <p:spPr>
          <a:xfrm>
            <a:off x="6492240" y="4206240"/>
            <a:ext cx="822960" cy="822960"/>
          </a:xfrm>
          <a:prstGeom prst="roundRect">
            <a:avLst>
              <a:gd name="adj" fmla="val 8889"/>
            </a:avLst>
          </a:prstGeom>
          <a:solidFill>
            <a:srgbClr val="0284C7"/>
          </a:solidFill>
          <a:ln w="12700">
            <a:solidFill>
              <a:srgbClr val="0284C7"/>
            </a:solidFill>
            <a:prstDash val="solid"/>
          </a:ln>
        </p:spPr>
      </p:sp>
      <p:sp>
        <p:nvSpPr>
          <p:cNvPr id="27" name="Text 25"/>
          <p:cNvSpPr/>
          <p:nvPr/>
        </p:nvSpPr>
        <p:spPr>
          <a:xfrm>
            <a:off x="6492240" y="4206240"/>
            <a:ext cx="822960" cy="8229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 &amp; T</a:t>
            </a:r>
            <a:endParaRPr lang="en-US" sz="1400" dirty="0"/>
          </a:p>
        </p:txBody>
      </p:sp>
      <p:sp>
        <p:nvSpPr>
          <p:cNvPr id="28" name="Text 26"/>
          <p:cNvSpPr/>
          <p:nvPr/>
        </p:nvSpPr>
        <p:spPr>
          <a:xfrm>
            <a:off x="7498080" y="4206240"/>
            <a:ext cx="374904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REALISTIC &amp; TIMELY (THỰC TIỄN &amp; ĐÚNG HẠN)</a:t>
            </a:r>
            <a:endParaRPr lang="en-US" sz="1300" dirty="0"/>
          </a:p>
        </p:txBody>
      </p:sp>
      <p:sp>
        <p:nvSpPr>
          <p:cNvPr id="29" name="Text 27"/>
          <p:cNvSpPr/>
          <p:nvPr/>
        </p:nvSpPr>
        <p:spPr>
          <a:xfrm>
            <a:off x="7498080" y="4572000"/>
            <a:ext cx="3749040" cy="1234440"/>
          </a:xfrm>
          <a:prstGeom prst="rect">
            <a:avLst/>
          </a:prstGeom>
          <a:noFill/>
          <a:ln/>
        </p:spPr>
        <p:txBody>
          <a:bodyPr wrap="square" rtlCol="0" anchor="ctr"/>
          <a:lstStyle/>
          <a:p>
            <a:pPr indent="0" marL="0">
              <a:lnSpc>
                <a:spcPts val="1800"/>
              </a:lnSpc>
              <a:buNone/>
            </a:pPr>
            <a:r>
              <a:rPr lang="en-US" sz="1100" dirty="0">
                <a:solidFill>
                  <a:srgbClr val="1E293B"/>
                </a:solidFill>
                <a:latin typeface="Calibri" pitchFamily="34" charset="0"/>
                <a:ea typeface="Calibri" pitchFamily="34" charset="-122"/>
                <a:cs typeface="Calibri" pitchFamily="34" charset="-120"/>
              </a:rPr>
              <a:t>Khắc phục triệt để lỗ hổng an ninh Container Escape trong môi trường doanh nghiệp thực tế. Hoàn thành 100% mục tiêu trước hạn bảo vệ: Báo cáo học thuật 82 trang và cụm thực nghiệm sẵn sàng bảo vệ.</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KIẾN TRÚC HẠ TẦNG</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3. KIẾN TRÚC HỆ THỐNG TỔNG THỂ DUAL-NODE</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Mô hình thực nghiệm đối kháng song song giữa nút Arch Linux và nút Ubuntu Server</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04 / 12</a:t>
            </a:r>
            <a:endParaRPr lang="en-US" sz="1000" dirty="0"/>
          </a:p>
        </p:txBody>
      </p:sp>
      <p:sp>
        <p:nvSpPr>
          <p:cNvPr id="10" name="Shape 8"/>
          <p:cNvSpPr/>
          <p:nvPr/>
        </p:nvSpPr>
        <p:spPr>
          <a:xfrm>
            <a:off x="731520" y="1691640"/>
            <a:ext cx="5242255" cy="4389120"/>
          </a:xfrm>
          <a:prstGeom prst="roundRect">
            <a:avLst>
              <a:gd name="adj" fmla="val 1667"/>
            </a:avLst>
          </a:prstGeom>
          <a:solidFill>
            <a:srgbClr val="FFFFFF"/>
          </a:solidFill>
          <a:ln w="19050">
            <a:solidFill>
              <a:srgbClr val="0284C7"/>
            </a:solidFill>
            <a:prstDash val="solid"/>
          </a:ln>
        </p:spPr>
      </p:sp>
      <p:sp>
        <p:nvSpPr>
          <p:cNvPr id="11" name="Shape 9"/>
          <p:cNvSpPr/>
          <p:nvPr/>
        </p:nvSpPr>
        <p:spPr>
          <a:xfrm>
            <a:off x="960120" y="1874520"/>
            <a:ext cx="4785055" cy="320040"/>
          </a:xfrm>
          <a:prstGeom prst="roundRect">
            <a:avLst>
              <a:gd name="adj" fmla="val 14286"/>
            </a:avLst>
          </a:prstGeom>
          <a:solidFill>
            <a:srgbClr val="0284C7"/>
          </a:solidFill>
          <a:ln w="12700">
            <a:solidFill>
              <a:srgbClr val="0284C7"/>
            </a:solidFill>
            <a:prstDash val="solid"/>
          </a:ln>
        </p:spPr>
      </p:sp>
      <p:sp>
        <p:nvSpPr>
          <p:cNvPr id="12" name="Text 10"/>
          <p:cNvSpPr/>
          <p:nvPr/>
        </p:nvSpPr>
        <p:spPr>
          <a:xfrm>
            <a:off x="960120" y="1874520"/>
            <a:ext cx="4785055"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MÁY CHỦ ARCH LINUX (PRIMARY / ROOTLESS DOCKER)</a:t>
            </a:r>
            <a:endParaRPr lang="en-US" sz="1100" dirty="0"/>
          </a:p>
        </p:txBody>
      </p:sp>
      <p:sp>
        <p:nvSpPr>
          <p:cNvPr id="13" name="Text 11"/>
          <p:cNvSpPr/>
          <p:nvPr/>
        </p:nvSpPr>
        <p:spPr>
          <a:xfrm>
            <a:off x="1051560" y="233172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Hệ điều hành: Arch Linux Rolling Release (Linux Kernel 6.x hiện đại).</a:t>
            </a:r>
            <a:endParaRPr lang="en-US" sz="1050" dirty="0"/>
          </a:p>
        </p:txBody>
      </p:sp>
      <p:sp>
        <p:nvSpPr>
          <p:cNvPr id="14" name="Text 12"/>
          <p:cNvSpPr/>
          <p:nvPr/>
        </p:nvSpPr>
        <p:spPr>
          <a:xfrm>
            <a:off x="1051560" y="269748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Tài nguyên tĩnh: Chiếm dụng chỉ 438 MB RAM (siêu nhẹ, tối ưu hóa tối đa).</a:t>
            </a:r>
            <a:endParaRPr lang="en-US" sz="1050" dirty="0"/>
          </a:p>
        </p:txBody>
      </p:sp>
      <p:sp>
        <p:nvSpPr>
          <p:cNvPr id="15" name="Text 13"/>
          <p:cNvSpPr/>
          <p:nvPr/>
        </p:nvSpPr>
        <p:spPr>
          <a:xfrm>
            <a:off x="1051560" y="306324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Động cơ Container: Docker Rootless Daemon (User mlops, UID 1003).</a:t>
            </a:r>
            <a:endParaRPr lang="en-US" sz="1050" dirty="0"/>
          </a:p>
        </p:txBody>
      </p:sp>
      <p:sp>
        <p:nvSpPr>
          <p:cNvPr id="16" name="Text 14"/>
          <p:cNvSpPr/>
          <p:nvPr/>
        </p:nvSpPr>
        <p:spPr>
          <a:xfrm>
            <a:off x="1051560" y="342900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Phân đoạn mạng: Toàn bộ container nằm trong bridge riêng mlops-net.</a:t>
            </a:r>
            <a:endParaRPr lang="en-US" sz="1050" dirty="0"/>
          </a:p>
        </p:txBody>
      </p:sp>
      <p:sp>
        <p:nvSpPr>
          <p:cNvPr id="17" name="Text 15"/>
          <p:cNvSpPr/>
          <p:nvPr/>
        </p:nvSpPr>
        <p:spPr>
          <a:xfrm>
            <a:off x="1051560" y="379476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5 Vi dịch vụ vi mô độc lập:</a:t>
            </a:r>
            <a:endParaRPr lang="en-US" sz="1050" dirty="0"/>
          </a:p>
        </p:txBody>
      </p:sp>
      <p:sp>
        <p:nvSpPr>
          <p:cNvPr id="18" name="Text 16"/>
          <p:cNvSpPr/>
          <p:nvPr/>
        </p:nvSpPr>
        <p:spPr>
          <a:xfrm>
            <a:off x="1051560" y="416052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FastAPI OCR Serving (Port 8080) — Non-root User UID 10001</a:t>
            </a:r>
            <a:endParaRPr lang="en-US" sz="1050" dirty="0"/>
          </a:p>
        </p:txBody>
      </p:sp>
      <p:sp>
        <p:nvSpPr>
          <p:cNvPr id="19" name="Text 17"/>
          <p:cNvSpPr/>
          <p:nvPr/>
        </p:nvSpPr>
        <p:spPr>
          <a:xfrm>
            <a:off x="1051560" y="452628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MLflow Tracking UI (Port 5000) — Quản lý vòng đời mô hình</a:t>
            </a:r>
            <a:endParaRPr lang="en-US" sz="1050" dirty="0"/>
          </a:p>
        </p:txBody>
      </p:sp>
      <p:sp>
        <p:nvSpPr>
          <p:cNvPr id="20" name="Text 18"/>
          <p:cNvSpPr/>
          <p:nvPr/>
        </p:nvSpPr>
        <p:spPr>
          <a:xfrm>
            <a:off x="1051560" y="489204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PostgreSQL 15 (Port 5432) — Zero-Trust, ĐÓNG TRÊN HOST IP</a:t>
            </a:r>
            <a:endParaRPr lang="en-US" sz="1050" dirty="0"/>
          </a:p>
        </p:txBody>
      </p:sp>
      <p:sp>
        <p:nvSpPr>
          <p:cNvPr id="21" name="Text 19"/>
          <p:cNvSpPr/>
          <p:nvPr/>
        </p:nvSpPr>
        <p:spPr>
          <a:xfrm>
            <a:off x="1051560" y="525780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Prometheus Server (Port 9090) — Cào chỉ số chuỗi thời gian</a:t>
            </a:r>
            <a:endParaRPr lang="en-US" sz="1050" dirty="0"/>
          </a:p>
        </p:txBody>
      </p:sp>
      <p:sp>
        <p:nvSpPr>
          <p:cNvPr id="22" name="Text 20"/>
          <p:cNvSpPr/>
          <p:nvPr/>
        </p:nvSpPr>
        <p:spPr>
          <a:xfrm>
            <a:off x="1051560" y="5623560"/>
            <a:ext cx="4602175"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Grafana Dashboard (Port 3000) — Trực quan hóa thời gian thực</a:t>
            </a:r>
            <a:endParaRPr lang="en-US" sz="1050" dirty="0"/>
          </a:p>
        </p:txBody>
      </p:sp>
      <p:sp>
        <p:nvSpPr>
          <p:cNvPr id="23" name="Shape 21"/>
          <p:cNvSpPr/>
          <p:nvPr/>
        </p:nvSpPr>
        <p:spPr>
          <a:xfrm>
            <a:off x="6217920" y="1691640"/>
            <a:ext cx="5242255" cy="4389120"/>
          </a:xfrm>
          <a:prstGeom prst="roundRect">
            <a:avLst>
              <a:gd name="adj" fmla="val 1667"/>
            </a:avLst>
          </a:prstGeom>
          <a:solidFill>
            <a:srgbClr val="FFFFFF"/>
          </a:solidFill>
          <a:ln w="19050">
            <a:solidFill>
              <a:srgbClr val="002060"/>
            </a:solidFill>
            <a:prstDash val="solid"/>
          </a:ln>
        </p:spPr>
      </p:sp>
      <p:sp>
        <p:nvSpPr>
          <p:cNvPr id="24" name="Shape 22"/>
          <p:cNvSpPr/>
          <p:nvPr/>
        </p:nvSpPr>
        <p:spPr>
          <a:xfrm>
            <a:off x="6446520" y="1874520"/>
            <a:ext cx="4785055" cy="320040"/>
          </a:xfrm>
          <a:prstGeom prst="roundRect">
            <a:avLst>
              <a:gd name="adj" fmla="val 14286"/>
            </a:avLst>
          </a:prstGeom>
          <a:solidFill>
            <a:srgbClr val="002060"/>
          </a:solidFill>
          <a:ln w="12700">
            <a:solidFill>
              <a:srgbClr val="002060"/>
            </a:solidFill>
            <a:prstDash val="solid"/>
          </a:ln>
        </p:spPr>
      </p:sp>
      <p:sp>
        <p:nvSpPr>
          <p:cNvPr id="25" name="Text 23"/>
          <p:cNvSpPr/>
          <p:nvPr/>
        </p:nvSpPr>
        <p:spPr>
          <a:xfrm>
            <a:off x="6446520" y="1874520"/>
            <a:ext cx="4785055"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MÁY CHỦ UBUNTU SERVER (BASELINE / ROOTFUL DOCKER)</a:t>
            </a:r>
            <a:endParaRPr lang="en-US" sz="1100" dirty="0"/>
          </a:p>
        </p:txBody>
      </p:sp>
      <p:sp>
        <p:nvSpPr>
          <p:cNvPr id="26" name="Text 24"/>
          <p:cNvSpPr/>
          <p:nvPr/>
        </p:nvSpPr>
        <p:spPr>
          <a:xfrm>
            <a:off x="6537960" y="2331720"/>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Hệ điều hành: Ubuntu Server 22.04 / 24.04 LTS (Nhân Linux 6.8 Enterprise).</a:t>
            </a:r>
            <a:endParaRPr lang="en-US" sz="1050" dirty="0"/>
          </a:p>
        </p:txBody>
      </p:sp>
      <p:sp>
        <p:nvSpPr>
          <p:cNvPr id="27" name="Text 25"/>
          <p:cNvSpPr/>
          <p:nvPr/>
        </p:nvSpPr>
        <p:spPr>
          <a:xfrm>
            <a:off x="6537960" y="2715768"/>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Tài nguyên tĩnh: Chiếm dụng 742 MB RAM (gấp 1.7 lần so với Arch Linux).</a:t>
            </a:r>
            <a:endParaRPr lang="en-US" sz="1050" dirty="0"/>
          </a:p>
        </p:txBody>
      </p:sp>
      <p:sp>
        <p:nvSpPr>
          <p:cNvPr id="28" name="Text 26"/>
          <p:cNvSpPr/>
          <p:nvPr/>
        </p:nvSpPr>
        <p:spPr>
          <a:xfrm>
            <a:off x="6537960" y="3099816"/>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Động cơ Container: Docker Rootful Daemon (Chạy trực tiếp dưới quyền root UID 0).</a:t>
            </a:r>
            <a:endParaRPr lang="en-US" sz="1050" dirty="0"/>
          </a:p>
        </p:txBody>
      </p:sp>
      <p:sp>
        <p:nvSpPr>
          <p:cNvPr id="29" name="Text 27"/>
          <p:cNvSpPr/>
          <p:nvPr/>
        </p:nvSpPr>
        <p:spPr>
          <a:xfrm>
            <a:off x="6537960" y="3483864"/>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Cấu hình Stack đối chứng: Chạy cùng bộ 5 vi dịch vụ và khối lượng tải.</a:t>
            </a:r>
            <a:endParaRPr lang="en-US" sz="1050" dirty="0"/>
          </a:p>
        </p:txBody>
      </p:sp>
      <p:sp>
        <p:nvSpPr>
          <p:cNvPr id="30" name="Text 28"/>
          <p:cNvSpPr/>
          <p:nvPr/>
        </p:nvSpPr>
        <p:spPr>
          <a:xfrm>
            <a:off x="6537960" y="3867912"/>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Mục đích nghiên cứu đối chứng:</a:t>
            </a:r>
            <a:endParaRPr lang="en-US" sz="1050" dirty="0"/>
          </a:p>
        </p:txBody>
      </p:sp>
      <p:sp>
        <p:nvSpPr>
          <p:cNvPr id="31" name="Text 29"/>
          <p:cNvSpPr/>
          <p:nvPr/>
        </p:nvSpPr>
        <p:spPr>
          <a:xfrm>
            <a:off x="6537960" y="4251960"/>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So sánh độ trễ suy luận AI khi có và không có lớp slirp4netns.</a:t>
            </a:r>
            <a:endParaRPr lang="en-US" sz="1050" dirty="0"/>
          </a:p>
        </p:txBody>
      </p:sp>
      <p:sp>
        <p:nvSpPr>
          <p:cNvPr id="32" name="Text 30"/>
          <p:cNvSpPr/>
          <p:nvPr/>
        </p:nvSpPr>
        <p:spPr>
          <a:xfrm>
            <a:off x="6537960" y="4636008"/>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Đánh giá mức độ hao tổn CPU/RAM giữa hai kiến trúc hạt nhân.</a:t>
            </a:r>
            <a:endParaRPr lang="en-US" sz="1050" dirty="0"/>
          </a:p>
        </p:txBody>
      </p:sp>
      <p:sp>
        <p:nvSpPr>
          <p:cNvPr id="33" name="Text 31"/>
          <p:cNvSpPr/>
          <p:nvPr/>
        </p:nvSpPr>
        <p:spPr>
          <a:xfrm>
            <a:off x="6537960" y="5020056"/>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Phân tích sự đánh đổi (trade-off) giữa an ninh và thông lượng xử lý.</a:t>
            </a:r>
            <a:endParaRPr lang="en-US" sz="1050" dirty="0"/>
          </a:p>
        </p:txBody>
      </p:sp>
      <p:sp>
        <p:nvSpPr>
          <p:cNvPr id="34" name="Text 32"/>
          <p:cNvSpPr/>
          <p:nvPr/>
        </p:nvSpPr>
        <p:spPr>
          <a:xfrm>
            <a:off x="6537960" y="5404104"/>
            <a:ext cx="4602175" cy="347472"/>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 Kiểm chứng tính tương thích đa nền tảng của quy chuẩn MLOps.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CƠ CHẾ ĐỘT PHÁ</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4. ĐỘNG CƠ ROOTLESS CONTAINERIZATION</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Cơ chế cô lập tầng kernel, ánh xạ không gian tên và triệt tiêu nguy cơ chiếm quyền</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05 / 12</a:t>
            </a:r>
            <a:endParaRPr lang="en-US" sz="1000" dirty="0"/>
          </a:p>
        </p:txBody>
      </p:sp>
      <p:sp>
        <p:nvSpPr>
          <p:cNvPr id="10" name="Shape 8"/>
          <p:cNvSpPr/>
          <p:nvPr/>
        </p:nvSpPr>
        <p:spPr>
          <a:xfrm>
            <a:off x="731520" y="1691640"/>
            <a:ext cx="10728655" cy="1353312"/>
          </a:xfrm>
          <a:prstGeom prst="roundRect">
            <a:avLst>
              <a:gd name="adj" fmla="val 5405"/>
            </a:avLst>
          </a:prstGeom>
          <a:solidFill>
            <a:srgbClr val="FFFFFF"/>
          </a:solidFill>
          <a:ln w="19050">
            <a:solidFill>
              <a:srgbClr val="0284C7"/>
            </a:solidFill>
            <a:prstDash val="solid"/>
          </a:ln>
        </p:spPr>
      </p:sp>
      <p:sp>
        <p:nvSpPr>
          <p:cNvPr id="11" name="Shape 9"/>
          <p:cNvSpPr/>
          <p:nvPr/>
        </p:nvSpPr>
        <p:spPr>
          <a:xfrm>
            <a:off x="914400" y="1911096"/>
            <a:ext cx="822960" cy="914400"/>
          </a:xfrm>
          <a:prstGeom prst="roundRect">
            <a:avLst>
              <a:gd name="adj" fmla="val 8889"/>
            </a:avLst>
          </a:prstGeom>
          <a:solidFill>
            <a:srgbClr val="0284C7"/>
          </a:solidFill>
          <a:ln w="12700">
            <a:solidFill>
              <a:srgbClr val="0284C7"/>
            </a:solidFill>
            <a:prstDash val="solid"/>
          </a:ln>
        </p:spPr>
      </p:sp>
      <p:sp>
        <p:nvSpPr>
          <p:cNvPr id="12" name="Text 10"/>
          <p:cNvSpPr/>
          <p:nvPr/>
        </p:nvSpPr>
        <p:spPr>
          <a:xfrm>
            <a:off x="914400" y="1911096"/>
            <a:ext cx="822960" cy="9144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13" name="Text 11"/>
          <p:cNvSpPr/>
          <p:nvPr/>
        </p:nvSpPr>
        <p:spPr>
          <a:xfrm>
            <a:off x="1920240" y="1837944"/>
            <a:ext cx="9326880" cy="292608"/>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USER NAMESPACES &amp; SUB-UID MAPPING</a:t>
            </a:r>
            <a:endParaRPr lang="en-US" sz="1300" dirty="0"/>
          </a:p>
        </p:txBody>
      </p:sp>
      <p:sp>
        <p:nvSpPr>
          <p:cNvPr id="14" name="Text 12"/>
          <p:cNvSpPr/>
          <p:nvPr/>
        </p:nvSpPr>
        <p:spPr>
          <a:xfrm>
            <a:off x="1920240" y="2130552"/>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Sử dụng User Namespaces của Linux kernel để ánh xạ tài khoản unprivileged mlops (UID 1003 trên Host) thành UID 0 ảo bên trong container.</a:t>
            </a:r>
            <a:endParaRPr lang="en-US" sz="1100" dirty="0"/>
          </a:p>
        </p:txBody>
      </p:sp>
      <p:sp>
        <p:nvSpPr>
          <p:cNvPr id="15" name="Text 13"/>
          <p:cNvSpPr/>
          <p:nvPr/>
        </p:nvSpPr>
        <p:spPr>
          <a:xfrm>
            <a:off x="1920240" y="2404872"/>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File /etc/subuid cấp phát dải 100000:65536. Tiến trình container nghĩ mình là root nhưng ở tầng Host chỉ là UID 100000+.</a:t>
            </a:r>
            <a:endParaRPr lang="en-US" sz="1100" dirty="0"/>
          </a:p>
        </p:txBody>
      </p:sp>
      <p:sp>
        <p:nvSpPr>
          <p:cNvPr id="16" name="Text 14"/>
          <p:cNvSpPr/>
          <p:nvPr/>
        </p:nvSpPr>
        <p:spPr>
          <a:xfrm>
            <a:off x="1920240" y="2679192"/>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Không đòi hỏi cấp quyền sudo hay gán quyền setuid root cho binary Docker máy chủ.</a:t>
            </a:r>
            <a:endParaRPr lang="en-US" sz="1100" dirty="0"/>
          </a:p>
        </p:txBody>
      </p:sp>
      <p:sp>
        <p:nvSpPr>
          <p:cNvPr id="17" name="Shape 15"/>
          <p:cNvSpPr/>
          <p:nvPr/>
        </p:nvSpPr>
        <p:spPr>
          <a:xfrm>
            <a:off x="731520" y="3172968"/>
            <a:ext cx="10728655" cy="1353312"/>
          </a:xfrm>
          <a:prstGeom prst="roundRect">
            <a:avLst>
              <a:gd name="adj" fmla="val 5405"/>
            </a:avLst>
          </a:prstGeom>
          <a:solidFill>
            <a:srgbClr val="FFFFFF"/>
          </a:solidFill>
          <a:ln w="19050">
            <a:solidFill>
              <a:srgbClr val="0284C7"/>
            </a:solidFill>
            <a:prstDash val="solid"/>
          </a:ln>
        </p:spPr>
      </p:sp>
      <p:sp>
        <p:nvSpPr>
          <p:cNvPr id="18" name="Shape 16"/>
          <p:cNvSpPr/>
          <p:nvPr/>
        </p:nvSpPr>
        <p:spPr>
          <a:xfrm>
            <a:off x="914400" y="3392424"/>
            <a:ext cx="822960" cy="914400"/>
          </a:xfrm>
          <a:prstGeom prst="roundRect">
            <a:avLst>
              <a:gd name="adj" fmla="val 8889"/>
            </a:avLst>
          </a:prstGeom>
          <a:solidFill>
            <a:srgbClr val="0284C7"/>
          </a:solidFill>
          <a:ln w="12700">
            <a:solidFill>
              <a:srgbClr val="0284C7"/>
            </a:solidFill>
            <a:prstDash val="solid"/>
          </a:ln>
        </p:spPr>
      </p:sp>
      <p:sp>
        <p:nvSpPr>
          <p:cNvPr id="19" name="Text 17"/>
          <p:cNvSpPr/>
          <p:nvPr/>
        </p:nvSpPr>
        <p:spPr>
          <a:xfrm>
            <a:off x="914400" y="3392424"/>
            <a:ext cx="822960" cy="9144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20" name="Text 18"/>
          <p:cNvSpPr/>
          <p:nvPr/>
        </p:nvSpPr>
        <p:spPr>
          <a:xfrm>
            <a:off x="1920240" y="3319272"/>
            <a:ext cx="9326880" cy="292608"/>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SLIRP4NETNS USER-MODE NETWORKING</a:t>
            </a:r>
            <a:endParaRPr lang="en-US" sz="1300" dirty="0"/>
          </a:p>
        </p:txBody>
      </p:sp>
      <p:sp>
        <p:nvSpPr>
          <p:cNvPr id="21" name="Text 19"/>
          <p:cNvSpPr/>
          <p:nvPr/>
        </p:nvSpPr>
        <p:spPr>
          <a:xfrm>
            <a:off x="1920240" y="3611880"/>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Thay vì can thiệp trực tiếp vào iptables của kernel host (đòi hỏi quyền root CAP_NET_ADMIN), Docker Rootless sử dụng slirp4netns.</a:t>
            </a:r>
            <a:endParaRPr lang="en-US" sz="1100" dirty="0"/>
          </a:p>
        </p:txBody>
      </p:sp>
      <p:sp>
        <p:nvSpPr>
          <p:cNvPr id="22" name="Text 20"/>
          <p:cNvSpPr/>
          <p:nvPr/>
        </p:nvSpPr>
        <p:spPr>
          <a:xfrm>
            <a:off x="1920240" y="3886200"/>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Toàn bộ ngăn xếp mạng TCP/IP được ảo hóa hoàn toàn ở không gian người dùng (User-space).</a:t>
            </a:r>
            <a:endParaRPr lang="en-US" sz="1100" dirty="0"/>
          </a:p>
        </p:txBody>
      </p:sp>
      <p:sp>
        <p:nvSpPr>
          <p:cNvPr id="23" name="Text 21"/>
          <p:cNvSpPr/>
          <p:nvPr/>
        </p:nvSpPr>
        <p:spPr>
          <a:xfrm>
            <a:off x="1920240" y="4160520"/>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Ngăn chặn triệt để nguy cơ vi dịch vụ chiếm quyền điều khiển cấu hình mạng máy chủ.</a:t>
            </a:r>
            <a:endParaRPr lang="en-US" sz="1100" dirty="0"/>
          </a:p>
        </p:txBody>
      </p:sp>
      <p:sp>
        <p:nvSpPr>
          <p:cNvPr id="24" name="Shape 22"/>
          <p:cNvSpPr/>
          <p:nvPr/>
        </p:nvSpPr>
        <p:spPr>
          <a:xfrm>
            <a:off x="731520" y="4654296"/>
            <a:ext cx="10728655" cy="1353312"/>
          </a:xfrm>
          <a:prstGeom prst="roundRect">
            <a:avLst>
              <a:gd name="adj" fmla="val 5405"/>
            </a:avLst>
          </a:prstGeom>
          <a:solidFill>
            <a:srgbClr val="FFFFFF"/>
          </a:solidFill>
          <a:ln w="19050">
            <a:solidFill>
              <a:srgbClr val="0284C7"/>
            </a:solidFill>
            <a:prstDash val="solid"/>
          </a:ln>
        </p:spPr>
      </p:sp>
      <p:sp>
        <p:nvSpPr>
          <p:cNvPr id="25" name="Shape 23"/>
          <p:cNvSpPr/>
          <p:nvPr/>
        </p:nvSpPr>
        <p:spPr>
          <a:xfrm>
            <a:off x="914400" y="4873752"/>
            <a:ext cx="822960" cy="914400"/>
          </a:xfrm>
          <a:prstGeom prst="roundRect">
            <a:avLst>
              <a:gd name="adj" fmla="val 8889"/>
            </a:avLst>
          </a:prstGeom>
          <a:solidFill>
            <a:srgbClr val="0284C7"/>
          </a:solidFill>
          <a:ln w="12700">
            <a:solidFill>
              <a:srgbClr val="0284C7"/>
            </a:solidFill>
            <a:prstDash val="solid"/>
          </a:ln>
        </p:spPr>
      </p:sp>
      <p:sp>
        <p:nvSpPr>
          <p:cNvPr id="26" name="Text 24"/>
          <p:cNvSpPr/>
          <p:nvPr/>
        </p:nvSpPr>
        <p:spPr>
          <a:xfrm>
            <a:off x="914400" y="4873752"/>
            <a:ext cx="822960" cy="9144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27" name="Text 25"/>
          <p:cNvSpPr/>
          <p:nvPr/>
        </p:nvSpPr>
        <p:spPr>
          <a:xfrm>
            <a:off x="1920240" y="4800600"/>
            <a:ext cx="9326880" cy="292608"/>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TRIỆT TIÊU NGUY CƠ CONTAINER ESCAPE</a:t>
            </a:r>
            <a:endParaRPr lang="en-US" sz="1300" dirty="0"/>
          </a:p>
        </p:txBody>
      </p:sp>
      <p:sp>
        <p:nvSpPr>
          <p:cNvPr id="28" name="Text 26"/>
          <p:cNvSpPr/>
          <p:nvPr/>
        </p:nvSpPr>
        <p:spPr>
          <a:xfrm>
            <a:off x="1920240" y="5093208"/>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Trong kịch bản xấu nhất vi dịch vụ AI bị chiếm quyền qua lỗ hổng RCE, kẻ tấn công thoát khỏi container cũng chỉ rơi vào user thường mlops.</a:t>
            </a:r>
            <a:endParaRPr lang="en-US" sz="1100" dirty="0"/>
          </a:p>
        </p:txBody>
      </p:sp>
      <p:sp>
        <p:nvSpPr>
          <p:cNvPr id="29" name="Text 27"/>
          <p:cNvSpPr/>
          <p:nvPr/>
        </p:nvSpPr>
        <p:spPr>
          <a:xfrm>
            <a:off x="1920240" y="5367528"/>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Không thể ghi đè file hệ thống (/etc, /boot, /root), không thể cài cắm rootkit vào kernel.</a:t>
            </a:r>
            <a:endParaRPr lang="en-US" sz="1100" dirty="0"/>
          </a:p>
        </p:txBody>
      </p:sp>
      <p:sp>
        <p:nvSpPr>
          <p:cNvPr id="30" name="Text 28"/>
          <p:cNvSpPr/>
          <p:nvPr/>
        </p:nvSpPr>
        <p:spPr>
          <a:xfrm>
            <a:off x="1920240" y="5641848"/>
            <a:ext cx="9326880" cy="274320"/>
          </a:xfrm>
          <a:prstGeom prst="rect">
            <a:avLst/>
          </a:prstGeom>
          <a:noFill/>
          <a:ln/>
        </p:spPr>
        <p:txBody>
          <a:bodyPr wrap="square" rtlCol="0" anchor="ctr"/>
          <a:lstStyle/>
          <a:p>
            <a:pPr indent="0" marL="0">
              <a:buNone/>
            </a:pPr>
            <a:r>
              <a:rPr lang="en-US" sz="1100" b="1" dirty="0">
                <a:solidFill>
                  <a:srgbClr val="0284C7"/>
                </a:solidFill>
              </a:rPr>
              <a:t>• </a:t>
            </a:r>
            <a:pPr indent="0" marL="0">
              <a:buNone/>
            </a:pPr>
            <a:r>
              <a:rPr lang="en-US" sz="1050" dirty="0">
                <a:solidFill>
                  <a:srgbClr val="1E293B"/>
                </a:solidFill>
                <a:latin typeface="Calibri" pitchFamily="34" charset="0"/>
                <a:ea typeface="Calibri" pitchFamily="34" charset="-122"/>
                <a:cs typeface="Calibri" pitchFamily="34" charset="-120"/>
              </a:rPr>
              <a:t>Đạt chuẩn an ninh Enterprise cao nhất, an toàn cho mô hình Multi-tenant thực tế.</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 NINH MẠNG</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5. MÔ HÌNH AN NINH MẠNG NỘI BỘ ZERO-TRUST</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Nguyên tắc "Không bao giờ tin tưởng, luôn luôn xác thực" trong hạ tầng vi dịch vụ MLOps</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06 / 12</a:t>
            </a:r>
            <a:endParaRPr lang="en-US" sz="1000" dirty="0"/>
          </a:p>
        </p:txBody>
      </p:sp>
      <p:sp>
        <p:nvSpPr>
          <p:cNvPr id="10" name="Shape 8"/>
          <p:cNvSpPr/>
          <p:nvPr/>
        </p:nvSpPr>
        <p:spPr>
          <a:xfrm>
            <a:off x="731520" y="1691640"/>
            <a:ext cx="5242255" cy="4389120"/>
          </a:xfrm>
          <a:prstGeom prst="roundRect">
            <a:avLst>
              <a:gd name="adj" fmla="val 1667"/>
            </a:avLst>
          </a:prstGeom>
          <a:solidFill>
            <a:srgbClr val="FFFFFF"/>
          </a:solidFill>
          <a:ln w="19050">
            <a:solidFill>
              <a:srgbClr val="BA141A"/>
            </a:solidFill>
            <a:prstDash val="solid"/>
          </a:ln>
        </p:spPr>
      </p:sp>
      <p:sp>
        <p:nvSpPr>
          <p:cNvPr id="11" name="Shape 9"/>
          <p:cNvSpPr/>
          <p:nvPr/>
        </p:nvSpPr>
        <p:spPr>
          <a:xfrm>
            <a:off x="960120" y="1874520"/>
            <a:ext cx="4785055" cy="320040"/>
          </a:xfrm>
          <a:prstGeom prst="roundRect">
            <a:avLst>
              <a:gd name="adj" fmla="val 14286"/>
            </a:avLst>
          </a:prstGeom>
          <a:solidFill>
            <a:srgbClr val="BA141A"/>
          </a:solidFill>
          <a:ln w="12700">
            <a:solidFill>
              <a:srgbClr val="BA141A"/>
            </a:solidFill>
            <a:prstDash val="solid"/>
          </a:ln>
        </p:spPr>
      </p:sp>
      <p:sp>
        <p:nvSpPr>
          <p:cNvPr id="12" name="Text 10"/>
          <p:cNvSpPr/>
          <p:nvPr/>
        </p:nvSpPr>
        <p:spPr>
          <a:xfrm>
            <a:off x="960120" y="1874520"/>
            <a:ext cx="4785055"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HỆ THỐNG TRUYỀN THỐNG (NGUY CƠ AN NINH CAO)</a:t>
            </a:r>
            <a:endParaRPr lang="en-US" sz="1100" dirty="0"/>
          </a:p>
        </p:txBody>
      </p:sp>
      <p:sp>
        <p:nvSpPr>
          <p:cNvPr id="13" name="Text 11"/>
          <p:cNvSpPr/>
          <p:nvPr/>
        </p:nvSpPr>
        <p:spPr>
          <a:xfrm>
            <a:off x="1005840" y="2331720"/>
            <a:ext cx="4693615" cy="868680"/>
          </a:xfrm>
          <a:prstGeom prst="rect">
            <a:avLst/>
          </a:prstGeom>
          <a:noFill/>
          <a:ln/>
        </p:spPr>
        <p:txBody>
          <a:bodyPr wrap="square" rtlCol="0" anchor="t"/>
          <a:lstStyle/>
          <a:p>
            <a:pPr indent="0" marL="0">
              <a:lnSpc>
                <a:spcPts val="1600"/>
              </a:lnSpc>
              <a:buNone/>
            </a:pPr>
            <a:r>
              <a:rPr lang="en-US" sz="1050" b="1" dirty="0">
                <a:solidFill>
                  <a:srgbClr val="BA141A"/>
                </a:solidFill>
              </a:rPr>
              <a:t>[RỦI RO] </a:t>
            </a:r>
            <a:pPr indent="0" marL="0">
              <a:lnSpc>
                <a:spcPts val="1600"/>
              </a:lnSpc>
              <a:buNone/>
            </a:pPr>
            <a:r>
              <a:rPr lang="en-US" sz="1100" b="1" dirty="0">
                <a:solidFill>
                  <a:srgbClr val="0F172A"/>
                </a:solidFill>
              </a:rPr>
              <a:t>Cổng Cơ sở dữ liệu mở 0.0.0.0: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Publish cổng 5432 trực tiếp ra Internet cho botnet quét mạng và brute-force mật khẩu.</a:t>
            </a:r>
            <a:endParaRPr lang="en-US" sz="1050" dirty="0"/>
          </a:p>
        </p:txBody>
      </p:sp>
      <p:sp>
        <p:nvSpPr>
          <p:cNvPr id="14" name="Text 12"/>
          <p:cNvSpPr/>
          <p:nvPr/>
        </p:nvSpPr>
        <p:spPr>
          <a:xfrm>
            <a:off x="1005840" y="3291840"/>
            <a:ext cx="4693615" cy="868680"/>
          </a:xfrm>
          <a:prstGeom prst="rect">
            <a:avLst/>
          </a:prstGeom>
          <a:noFill/>
          <a:ln/>
        </p:spPr>
        <p:txBody>
          <a:bodyPr wrap="square" rtlCol="0" anchor="t"/>
          <a:lstStyle/>
          <a:p>
            <a:pPr indent="0" marL="0">
              <a:lnSpc>
                <a:spcPts val="1600"/>
              </a:lnSpc>
              <a:buNone/>
            </a:pPr>
            <a:r>
              <a:rPr lang="en-US" sz="1050" b="1" dirty="0">
                <a:solidFill>
                  <a:srgbClr val="BA141A"/>
                </a:solidFill>
              </a:rPr>
              <a:t>[RỦI RO] </a:t>
            </a:r>
            <a:pPr indent="0" marL="0">
              <a:lnSpc>
                <a:spcPts val="1600"/>
              </a:lnSpc>
              <a:buNone/>
            </a:pPr>
            <a:r>
              <a:rPr lang="en-US" sz="1100" b="1" dirty="0">
                <a:solidFill>
                  <a:srgbClr val="0F172A"/>
                </a:solidFill>
              </a:rPr>
              <a:t>Mạng phẳng (Flat Network):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Tất cả container dùng chung mạng default bridge, không có phân ranh giới bảo mật.</a:t>
            </a:r>
            <a:endParaRPr lang="en-US" sz="1050" dirty="0"/>
          </a:p>
        </p:txBody>
      </p:sp>
      <p:sp>
        <p:nvSpPr>
          <p:cNvPr id="15" name="Text 13"/>
          <p:cNvSpPr/>
          <p:nvPr/>
        </p:nvSpPr>
        <p:spPr>
          <a:xfrm>
            <a:off x="1005840" y="4251960"/>
            <a:ext cx="4693615" cy="868680"/>
          </a:xfrm>
          <a:prstGeom prst="rect">
            <a:avLst/>
          </a:prstGeom>
          <a:noFill/>
          <a:ln/>
        </p:spPr>
        <p:txBody>
          <a:bodyPr wrap="square" rtlCol="0" anchor="t"/>
          <a:lstStyle/>
          <a:p>
            <a:pPr indent="0" marL="0">
              <a:lnSpc>
                <a:spcPts val="1600"/>
              </a:lnSpc>
              <a:buNone/>
            </a:pPr>
            <a:r>
              <a:rPr lang="en-US" sz="1050" b="1" dirty="0">
                <a:solidFill>
                  <a:srgbClr val="BA141A"/>
                </a:solidFill>
              </a:rPr>
              <a:t>[RỦI RO] </a:t>
            </a:r>
            <a:pPr indent="0" marL="0">
              <a:lnSpc>
                <a:spcPts val="1600"/>
              </a:lnSpc>
              <a:buNone/>
            </a:pPr>
            <a:r>
              <a:rPr lang="en-US" sz="1100" b="1" dirty="0">
                <a:solidFill>
                  <a:srgbClr val="0F172A"/>
                </a:solidFill>
              </a:rPr>
              <a:t>Nguy cơ Lateral Movement: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Hacker chỉ cần thỏa hiệp 1 container là có thể dò quét và tấn công toàn bộ vi dịch vụ lân cận.</a:t>
            </a:r>
            <a:endParaRPr lang="en-US" sz="1050" dirty="0"/>
          </a:p>
        </p:txBody>
      </p:sp>
      <p:sp>
        <p:nvSpPr>
          <p:cNvPr id="16" name="Text 14"/>
          <p:cNvSpPr/>
          <p:nvPr/>
        </p:nvSpPr>
        <p:spPr>
          <a:xfrm>
            <a:off x="1005840" y="5212080"/>
            <a:ext cx="4693615" cy="868680"/>
          </a:xfrm>
          <a:prstGeom prst="rect">
            <a:avLst/>
          </a:prstGeom>
          <a:noFill/>
          <a:ln/>
        </p:spPr>
        <p:txBody>
          <a:bodyPr wrap="square" rtlCol="0" anchor="t"/>
          <a:lstStyle/>
          <a:p>
            <a:pPr indent="0" marL="0">
              <a:lnSpc>
                <a:spcPts val="1600"/>
              </a:lnSpc>
              <a:buNone/>
            </a:pPr>
            <a:r>
              <a:rPr lang="en-US" sz="1050" b="1" dirty="0">
                <a:solidFill>
                  <a:srgbClr val="BA141A"/>
                </a:solidFill>
              </a:rPr>
              <a:t>[RỦI RO] </a:t>
            </a:r>
            <a:pPr indent="0" marL="0">
              <a:lnSpc>
                <a:spcPts val="1600"/>
              </a:lnSpc>
              <a:buNone/>
            </a:pPr>
            <a:r>
              <a:rPr lang="en-US" sz="1100" b="1" dirty="0">
                <a:solidFill>
                  <a:srgbClr val="0F172A"/>
                </a:solidFill>
              </a:rPr>
              <a:t>Đặc quyền tối đa: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Container chạy dưới quyền root, chia sẻ file cấu hình và biến môi trường không được kiểm soát.</a:t>
            </a:r>
            <a:endParaRPr lang="en-US" sz="1050" dirty="0"/>
          </a:p>
        </p:txBody>
      </p:sp>
      <p:sp>
        <p:nvSpPr>
          <p:cNvPr id="17" name="Shape 15"/>
          <p:cNvSpPr/>
          <p:nvPr/>
        </p:nvSpPr>
        <p:spPr>
          <a:xfrm>
            <a:off x="6217920" y="1691640"/>
            <a:ext cx="5242255" cy="4389120"/>
          </a:xfrm>
          <a:prstGeom prst="roundRect">
            <a:avLst>
              <a:gd name="adj" fmla="val 1667"/>
            </a:avLst>
          </a:prstGeom>
          <a:solidFill>
            <a:srgbClr val="FFFFFF"/>
          </a:solidFill>
          <a:ln w="19050">
            <a:solidFill>
              <a:srgbClr val="16A34A"/>
            </a:solidFill>
            <a:prstDash val="solid"/>
          </a:ln>
        </p:spPr>
      </p:sp>
      <p:sp>
        <p:nvSpPr>
          <p:cNvPr id="18" name="Shape 16"/>
          <p:cNvSpPr/>
          <p:nvPr/>
        </p:nvSpPr>
        <p:spPr>
          <a:xfrm>
            <a:off x="6446520" y="1874520"/>
            <a:ext cx="4785055" cy="320040"/>
          </a:xfrm>
          <a:prstGeom prst="roundRect">
            <a:avLst>
              <a:gd name="adj" fmla="val 14286"/>
            </a:avLst>
          </a:prstGeom>
          <a:solidFill>
            <a:srgbClr val="16A34A"/>
          </a:solidFill>
          <a:ln w="12700">
            <a:solidFill>
              <a:srgbClr val="16A34A"/>
            </a:solidFill>
            <a:prstDash val="solid"/>
          </a:ln>
        </p:spPr>
      </p:sp>
      <p:sp>
        <p:nvSpPr>
          <p:cNvPr id="19" name="Text 17"/>
          <p:cNvSpPr/>
          <p:nvPr/>
        </p:nvSpPr>
        <p:spPr>
          <a:xfrm>
            <a:off x="6446520" y="1874520"/>
            <a:ext cx="4785055"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MÔ HÌNH ZERO-TRUST CỦA NHÓM (BẢO MẬT ĐA LỚP)</a:t>
            </a:r>
            <a:endParaRPr lang="en-US" sz="1100" dirty="0"/>
          </a:p>
        </p:txBody>
      </p:sp>
      <p:sp>
        <p:nvSpPr>
          <p:cNvPr id="20" name="Text 18"/>
          <p:cNvSpPr/>
          <p:nvPr/>
        </p:nvSpPr>
        <p:spPr>
          <a:xfrm>
            <a:off x="6492240" y="2331720"/>
            <a:ext cx="4693615" cy="868680"/>
          </a:xfrm>
          <a:prstGeom prst="rect">
            <a:avLst/>
          </a:prstGeom>
          <a:noFill/>
          <a:ln/>
        </p:spPr>
        <p:txBody>
          <a:bodyPr wrap="square" rtlCol="0" anchor="t"/>
          <a:lstStyle/>
          <a:p>
            <a:pPr indent="0" marL="0">
              <a:lnSpc>
                <a:spcPts val="1600"/>
              </a:lnSpc>
              <a:buNone/>
            </a:pPr>
            <a:r>
              <a:rPr lang="en-US" sz="1050" b="1" dirty="0">
                <a:solidFill>
                  <a:srgbClr val="16A34A"/>
                </a:solidFill>
              </a:rPr>
              <a:t>[BẢO VỆ] </a:t>
            </a:r>
            <a:pPr indent="0" marL="0">
              <a:lnSpc>
                <a:spcPts val="1600"/>
              </a:lnSpc>
              <a:buNone/>
            </a:pPr>
            <a:r>
              <a:rPr lang="en-US" sz="1100" b="1" dirty="0">
                <a:solidFill>
                  <a:srgbClr val="0F172A"/>
                </a:solidFill>
              </a:rPr>
              <a:t>Đóng 100% cổng DB trên Host: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PostgreSQL 5432 chỉ lắng nghe trên bridge nội bộ mlops-net; bên ngoài hoàn toàn vô hình.</a:t>
            </a:r>
            <a:endParaRPr lang="en-US" sz="1050" dirty="0"/>
          </a:p>
        </p:txBody>
      </p:sp>
      <p:sp>
        <p:nvSpPr>
          <p:cNvPr id="21" name="Text 19"/>
          <p:cNvSpPr/>
          <p:nvPr/>
        </p:nvSpPr>
        <p:spPr>
          <a:xfrm>
            <a:off x="6492240" y="3291840"/>
            <a:ext cx="4693615" cy="868680"/>
          </a:xfrm>
          <a:prstGeom prst="rect">
            <a:avLst/>
          </a:prstGeom>
          <a:noFill/>
          <a:ln/>
        </p:spPr>
        <p:txBody>
          <a:bodyPr wrap="square" rtlCol="0" anchor="t"/>
          <a:lstStyle/>
          <a:p>
            <a:pPr indent="0" marL="0">
              <a:lnSpc>
                <a:spcPts val="1600"/>
              </a:lnSpc>
              <a:buNone/>
            </a:pPr>
            <a:r>
              <a:rPr lang="en-US" sz="1050" b="1" dirty="0">
                <a:solidFill>
                  <a:srgbClr val="16A34A"/>
                </a:solidFill>
              </a:rPr>
              <a:t>[BẢO VỆ] </a:t>
            </a:r>
            <a:pPr indent="0" marL="0">
              <a:lnSpc>
                <a:spcPts val="1600"/>
              </a:lnSpc>
              <a:buNone/>
            </a:pPr>
            <a:r>
              <a:rPr lang="en-US" sz="1100" b="1" dirty="0">
                <a:solidFill>
                  <a:srgbClr val="0F172A"/>
                </a:solidFill>
              </a:rPr>
              <a:t>Phân đoạn vùng mạng nghiêm ngặt: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Chỉ mở cổng tiếp nhận request (FastAPI 8080 cho inference và Grafana 3000 cho dashboard).</a:t>
            </a:r>
            <a:endParaRPr lang="en-US" sz="1050" dirty="0"/>
          </a:p>
        </p:txBody>
      </p:sp>
      <p:sp>
        <p:nvSpPr>
          <p:cNvPr id="22" name="Text 20"/>
          <p:cNvSpPr/>
          <p:nvPr/>
        </p:nvSpPr>
        <p:spPr>
          <a:xfrm>
            <a:off x="6492240" y="4251960"/>
            <a:ext cx="4693615" cy="868680"/>
          </a:xfrm>
          <a:prstGeom prst="rect">
            <a:avLst/>
          </a:prstGeom>
          <a:noFill/>
          <a:ln/>
        </p:spPr>
        <p:txBody>
          <a:bodyPr wrap="square" rtlCol="0" anchor="t"/>
          <a:lstStyle/>
          <a:p>
            <a:pPr indent="0" marL="0">
              <a:lnSpc>
                <a:spcPts val="1600"/>
              </a:lnSpc>
              <a:buNone/>
            </a:pPr>
            <a:r>
              <a:rPr lang="en-US" sz="1050" b="1" dirty="0">
                <a:solidFill>
                  <a:srgbClr val="16A34A"/>
                </a:solidFill>
              </a:rPr>
              <a:t>[BẢO VỆ] </a:t>
            </a:r>
            <a:pPr indent="0" marL="0">
              <a:lnSpc>
                <a:spcPts val="1600"/>
              </a:lnSpc>
              <a:buNone/>
            </a:pPr>
            <a:r>
              <a:rPr lang="en-US" sz="1100" b="1" dirty="0">
                <a:solidFill>
                  <a:srgbClr val="0F172A"/>
                </a:solidFill>
              </a:rPr>
              <a:t>Nguyên tắc đặc quyền tối thiểu: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Container giao tiếp bằng DNS nội bộ cô lập, cơ sở dữ liệu xác thực mật khẩu phức tạp.</a:t>
            </a:r>
            <a:endParaRPr lang="en-US" sz="1050" dirty="0"/>
          </a:p>
        </p:txBody>
      </p:sp>
      <p:sp>
        <p:nvSpPr>
          <p:cNvPr id="23" name="Text 21"/>
          <p:cNvSpPr/>
          <p:nvPr/>
        </p:nvSpPr>
        <p:spPr>
          <a:xfrm>
            <a:off x="6492240" y="5212080"/>
            <a:ext cx="4693615" cy="868680"/>
          </a:xfrm>
          <a:prstGeom prst="rect">
            <a:avLst/>
          </a:prstGeom>
          <a:noFill/>
          <a:ln/>
        </p:spPr>
        <p:txBody>
          <a:bodyPr wrap="square" rtlCol="0" anchor="t"/>
          <a:lstStyle/>
          <a:p>
            <a:pPr indent="0" marL="0">
              <a:lnSpc>
                <a:spcPts val="1600"/>
              </a:lnSpc>
              <a:buNone/>
            </a:pPr>
            <a:r>
              <a:rPr lang="en-US" sz="1050" b="1" dirty="0">
                <a:solidFill>
                  <a:srgbClr val="16A34A"/>
                </a:solidFill>
              </a:rPr>
              <a:t>[BẢO VỆ] </a:t>
            </a:r>
            <a:pPr indent="0" marL="0">
              <a:lnSpc>
                <a:spcPts val="1600"/>
              </a:lnSpc>
              <a:buNone/>
            </a:pPr>
            <a:r>
              <a:rPr lang="en-US" sz="1100" b="1" dirty="0">
                <a:solidFill>
                  <a:srgbClr val="0F172A"/>
                </a:solidFill>
              </a:rPr>
              <a:t>Kiểm soát luồng dữ liệu (Data Flow):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Prometheus chỉ cào metrics qua endpoint chuyên biệt, không có quyền truy cập dữ liệu bảng.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TỰ ĐỘNG HÓA HẠ TẦNG</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6. TỰ ĐỘNG HÓA GIA CỐ MÁY CHỦ (HARDENING)</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Bộ kịch bản IaC Bash shell với 4 lớp phòng thủ chiều sâu và khả năng rollback tức thì</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07 / 12</a:t>
            </a:r>
            <a:endParaRPr lang="en-US" sz="1000" dirty="0"/>
          </a:p>
        </p:txBody>
      </p:sp>
      <p:sp>
        <p:nvSpPr>
          <p:cNvPr id="10" name="Shape 8"/>
          <p:cNvSpPr/>
          <p:nvPr/>
        </p:nvSpPr>
        <p:spPr>
          <a:xfrm>
            <a:off x="731520" y="1691640"/>
            <a:ext cx="5242255" cy="2057400"/>
          </a:xfrm>
          <a:prstGeom prst="roundRect">
            <a:avLst>
              <a:gd name="adj" fmla="val 3556"/>
            </a:avLst>
          </a:prstGeom>
          <a:solidFill>
            <a:srgbClr val="FFFFFF"/>
          </a:solidFill>
          <a:ln w="19050">
            <a:solidFill>
              <a:srgbClr val="0284C7"/>
            </a:solidFill>
            <a:prstDash val="solid"/>
          </a:ln>
        </p:spPr>
      </p:sp>
      <p:sp>
        <p:nvSpPr>
          <p:cNvPr id="11" name="Text 9"/>
          <p:cNvSpPr/>
          <p:nvPr/>
        </p:nvSpPr>
        <p:spPr>
          <a:xfrm>
            <a:off x="1005840" y="192024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LỚP 1: TƯỜNG LỬA UFW CHỦ ĐỘNG</a:t>
            </a:r>
            <a:endParaRPr lang="en-US" sz="1300" dirty="0"/>
          </a:p>
        </p:txBody>
      </p:sp>
      <p:sp>
        <p:nvSpPr>
          <p:cNvPr id="12" name="Text 10"/>
          <p:cNvSpPr/>
          <p:nvPr/>
        </p:nvSpPr>
        <p:spPr>
          <a:xfrm>
            <a:off x="1005840" y="224028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Chính sách Default Deny</a:t>
            </a:r>
            <a:endParaRPr lang="en-US" sz="1050" dirty="0"/>
          </a:p>
        </p:txBody>
      </p:sp>
      <p:sp>
        <p:nvSpPr>
          <p:cNvPr id="13" name="Text 11"/>
          <p:cNvSpPr/>
          <p:nvPr/>
        </p:nvSpPr>
        <p:spPr>
          <a:xfrm>
            <a:off x="1005840" y="251460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Thiết lập UFW chặn mặc định toàn bộ lưu lượng đi vào. Whitelist duy nhất 5 cổng dịch vụ cần thiết: SSH (22), FastAPI (8080), MLflow (5000), Grafana (3000), Prometheus (9090). Toàn bộ cổng lạ bị drop thầm lặng.</a:t>
            </a:r>
            <a:endParaRPr lang="en-US" sz="1080" dirty="0"/>
          </a:p>
        </p:txBody>
      </p:sp>
      <p:sp>
        <p:nvSpPr>
          <p:cNvPr id="14" name="Shape 12"/>
          <p:cNvSpPr/>
          <p:nvPr/>
        </p:nvSpPr>
        <p:spPr>
          <a:xfrm>
            <a:off x="6217920" y="1691640"/>
            <a:ext cx="5242255" cy="2057400"/>
          </a:xfrm>
          <a:prstGeom prst="roundRect">
            <a:avLst>
              <a:gd name="adj" fmla="val 3556"/>
            </a:avLst>
          </a:prstGeom>
          <a:solidFill>
            <a:srgbClr val="FFFFFF"/>
          </a:solidFill>
          <a:ln w="19050">
            <a:solidFill>
              <a:srgbClr val="0284C7"/>
            </a:solidFill>
            <a:prstDash val="solid"/>
          </a:ln>
        </p:spPr>
      </p:sp>
      <p:sp>
        <p:nvSpPr>
          <p:cNvPr id="15" name="Text 13"/>
          <p:cNvSpPr/>
          <p:nvPr/>
        </p:nvSpPr>
        <p:spPr>
          <a:xfrm>
            <a:off x="6492240" y="192024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LỚP 2: KERNEL HARDENING (SYSCTL)</a:t>
            </a:r>
            <a:endParaRPr lang="en-US" sz="1300" dirty="0"/>
          </a:p>
        </p:txBody>
      </p:sp>
      <p:sp>
        <p:nvSpPr>
          <p:cNvPr id="16" name="Text 14"/>
          <p:cNvSpPr/>
          <p:nvPr/>
        </p:nvSpPr>
        <p:spPr>
          <a:xfrm>
            <a:off x="6492240" y="224028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Gia cố tham số hạt nhân</a:t>
            </a:r>
            <a:endParaRPr lang="en-US" sz="1050" dirty="0"/>
          </a:p>
        </p:txBody>
      </p:sp>
      <p:sp>
        <p:nvSpPr>
          <p:cNvPr id="17" name="Text 15"/>
          <p:cNvSpPr/>
          <p:nvPr/>
        </p:nvSpPr>
        <p:spPr>
          <a:xfrm>
            <a:off x="6492240" y="251460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Cấu hình file /etc/sysctl.d/99-mlops-security.conf: Kích hoạt tcp_syncookies chống tấn công từ chối dịch vụ SYN Flood; vô hiệu hóa IP Source Routing và ICMP Redirects; bật fs.protected_regular ngăn chặn symlink attack.</a:t>
            </a:r>
            <a:endParaRPr lang="en-US" sz="1080" dirty="0"/>
          </a:p>
        </p:txBody>
      </p:sp>
      <p:sp>
        <p:nvSpPr>
          <p:cNvPr id="18" name="Shape 16"/>
          <p:cNvSpPr/>
          <p:nvPr/>
        </p:nvSpPr>
        <p:spPr>
          <a:xfrm>
            <a:off x="731520" y="3931920"/>
            <a:ext cx="5242255" cy="2057400"/>
          </a:xfrm>
          <a:prstGeom prst="roundRect">
            <a:avLst>
              <a:gd name="adj" fmla="val 3556"/>
            </a:avLst>
          </a:prstGeom>
          <a:solidFill>
            <a:srgbClr val="FFFFFF"/>
          </a:solidFill>
          <a:ln w="19050">
            <a:solidFill>
              <a:srgbClr val="0284C7"/>
            </a:solidFill>
            <a:prstDash val="solid"/>
          </a:ln>
        </p:spPr>
      </p:sp>
      <p:sp>
        <p:nvSpPr>
          <p:cNvPr id="19" name="Text 17"/>
          <p:cNvSpPr/>
          <p:nvPr/>
        </p:nvSpPr>
        <p:spPr>
          <a:xfrm>
            <a:off x="1005840" y="416052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LỚP 3: FAIL2BAN &amp; CGROUPS LIMITS</a:t>
            </a:r>
            <a:endParaRPr lang="en-US" sz="1300" dirty="0"/>
          </a:p>
        </p:txBody>
      </p:sp>
      <p:sp>
        <p:nvSpPr>
          <p:cNvPr id="20" name="Text 18"/>
          <p:cNvSpPr/>
          <p:nvPr/>
        </p:nvSpPr>
        <p:spPr>
          <a:xfrm>
            <a:off x="1005840" y="448056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Chống Brute-force &amp; Quá tải</a:t>
            </a:r>
            <a:endParaRPr lang="en-US" sz="1050" dirty="0"/>
          </a:p>
        </p:txBody>
      </p:sp>
      <p:sp>
        <p:nvSpPr>
          <p:cNvPr id="21" name="Text 19"/>
          <p:cNvSpPr/>
          <p:nvPr/>
        </p:nvSpPr>
        <p:spPr>
          <a:xfrm>
            <a:off x="1005840" y="475488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Triển khai Fail2ban SSH jail: Tự động khóa IP tấn công sau 5 lần đăng nhập thất bại. Thiết lập giới hạn tài nguyên Systemd Cgroups cho user mlops, ngăn chặn vi dịch vụ AI chiếm cạn kiệt CPU/RAM làm tê liệt máy chủ.</a:t>
            </a:r>
            <a:endParaRPr lang="en-US" sz="1080" dirty="0"/>
          </a:p>
        </p:txBody>
      </p:sp>
      <p:sp>
        <p:nvSpPr>
          <p:cNvPr id="22" name="Shape 20"/>
          <p:cNvSpPr/>
          <p:nvPr/>
        </p:nvSpPr>
        <p:spPr>
          <a:xfrm>
            <a:off x="6217920" y="3931920"/>
            <a:ext cx="5242255" cy="2057400"/>
          </a:xfrm>
          <a:prstGeom prst="roundRect">
            <a:avLst>
              <a:gd name="adj" fmla="val 3556"/>
            </a:avLst>
          </a:prstGeom>
          <a:solidFill>
            <a:srgbClr val="FFFFFF"/>
          </a:solidFill>
          <a:ln w="19050">
            <a:solidFill>
              <a:srgbClr val="0284C7"/>
            </a:solidFill>
            <a:prstDash val="solid"/>
          </a:ln>
        </p:spPr>
      </p:sp>
      <p:sp>
        <p:nvSpPr>
          <p:cNvPr id="23" name="Text 21"/>
          <p:cNvSpPr/>
          <p:nvPr/>
        </p:nvSpPr>
        <p:spPr>
          <a:xfrm>
            <a:off x="6492240" y="416052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LỚP 4: KHẢ NĂNG ROLLBACK 100%</a:t>
            </a:r>
            <a:endParaRPr lang="en-US" sz="1300" dirty="0"/>
          </a:p>
        </p:txBody>
      </p:sp>
      <p:sp>
        <p:nvSpPr>
          <p:cNvPr id="24" name="Text 22"/>
          <p:cNvSpPr/>
          <p:nvPr/>
        </p:nvSpPr>
        <p:spPr>
          <a:xfrm>
            <a:off x="6492240" y="448056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An toàn &amp; Khả nghịch cao</a:t>
            </a:r>
            <a:endParaRPr lang="en-US" sz="1050" dirty="0"/>
          </a:p>
        </p:txBody>
      </p:sp>
      <p:sp>
        <p:nvSpPr>
          <p:cNvPr id="25" name="Text 23"/>
          <p:cNvSpPr/>
          <p:nvPr/>
        </p:nvSpPr>
        <p:spPr>
          <a:xfrm>
            <a:off x="6492240" y="475488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Cung cấp kịch bản 01_rollback_hardening.sh: Tự động khôi phục cấu hình iptables, tắt UFW, reset tham số sysctl và cấu hình mạng về trạng thái gốc của hệ thống chỉ trong vòng 3 giây khi cần bảo trì.</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 DỊCH VỤ AI</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7. VI DỊCH VỤ AI OCR SERVING TỐI ƯU</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Đóng gói Dockerfile Multi-stage build và thực thi dưới quyền UID 10001</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08 / 12</a:t>
            </a:r>
            <a:endParaRPr lang="en-US" sz="1000" dirty="0"/>
          </a:p>
        </p:txBody>
      </p:sp>
      <p:sp>
        <p:nvSpPr>
          <p:cNvPr id="10" name="Shape 8"/>
          <p:cNvSpPr/>
          <p:nvPr/>
        </p:nvSpPr>
        <p:spPr>
          <a:xfrm>
            <a:off x="731520" y="1691640"/>
            <a:ext cx="5242255" cy="4389120"/>
          </a:xfrm>
          <a:prstGeom prst="roundRect">
            <a:avLst>
              <a:gd name="adj" fmla="val 1667"/>
            </a:avLst>
          </a:prstGeom>
          <a:solidFill>
            <a:srgbClr val="FFFFFF"/>
          </a:solidFill>
          <a:ln w="19050">
            <a:solidFill>
              <a:srgbClr val="0284C7"/>
            </a:solidFill>
            <a:prstDash val="solid"/>
          </a:ln>
        </p:spPr>
      </p:sp>
      <p:sp>
        <p:nvSpPr>
          <p:cNvPr id="11" name="Text 9"/>
          <p:cNvSpPr/>
          <p:nvPr/>
        </p:nvSpPr>
        <p:spPr>
          <a:xfrm>
            <a:off x="1005840" y="1920240"/>
            <a:ext cx="4693615" cy="320040"/>
          </a:xfrm>
          <a:prstGeom prst="rect">
            <a:avLst/>
          </a:prstGeom>
          <a:noFill/>
          <a:ln/>
        </p:spPr>
        <p:txBody>
          <a:bodyPr wrap="square" rtlCol="0" anchor="ctr"/>
          <a:lstStyle/>
          <a:p>
            <a:pPr indent="0" marL="0">
              <a:buNone/>
            </a:pPr>
            <a:r>
              <a:rPr lang="en-US" sz="1350" b="1" dirty="0">
                <a:solidFill>
                  <a:srgbClr val="0284C7"/>
                </a:solidFill>
                <a:latin typeface="Calibri" pitchFamily="34" charset="0"/>
                <a:ea typeface="Calibri" pitchFamily="34" charset="-122"/>
                <a:cs typeface="Calibri" pitchFamily="34" charset="-120"/>
              </a:rPr>
              <a:t>QUY CHUẨN DOCKERFILE MULTI-STAGE</a:t>
            </a:r>
            <a:endParaRPr lang="en-US" sz="1350" dirty="0"/>
          </a:p>
        </p:txBody>
      </p:sp>
      <p:sp>
        <p:nvSpPr>
          <p:cNvPr id="12" name="Text 10"/>
          <p:cNvSpPr/>
          <p:nvPr/>
        </p:nvSpPr>
        <p:spPr>
          <a:xfrm>
            <a:off x="1005840" y="23774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 Stage 1 (Builder):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Cài đặt gcc, python-dev và build các bánh xe (wheels) cho các thư viện C++ nặng.</a:t>
            </a:r>
            <a:endParaRPr lang="en-US" sz="1100" dirty="0"/>
          </a:p>
        </p:txBody>
      </p:sp>
      <p:sp>
        <p:nvSpPr>
          <p:cNvPr id="13" name="Text 11"/>
          <p:cNvSpPr/>
          <p:nvPr/>
        </p:nvSpPr>
        <p:spPr>
          <a:xfrm>
            <a:off x="1005840" y="32918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 Stage 2 (Runtime sạch):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Chỉ sao chép các wheels và binary đã biên dịch; loại bỏ hoàn toàn gcc, g++, build-essential khỏi image sản phẩm cuối.</a:t>
            </a:r>
            <a:endParaRPr lang="en-US" sz="1100" dirty="0"/>
          </a:p>
        </p:txBody>
      </p:sp>
      <p:sp>
        <p:nvSpPr>
          <p:cNvPr id="14" name="Text 12"/>
          <p:cNvSpPr/>
          <p:nvPr/>
        </p:nvSpPr>
        <p:spPr>
          <a:xfrm>
            <a:off x="1005840" y="42062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 Giảm 65% kích thước image: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Dung lượng rút gọn từ ~900MB xuống chỉ còn ~310MB.</a:t>
            </a:r>
            <a:endParaRPr lang="en-US" sz="1100" dirty="0"/>
          </a:p>
        </p:txBody>
      </p:sp>
      <p:sp>
        <p:nvSpPr>
          <p:cNvPr id="15" name="Text 13"/>
          <p:cNvSpPr/>
          <p:nvPr/>
        </p:nvSpPr>
        <p:spPr>
          <a:xfrm>
            <a:off x="1005840" y="51206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 Chỉ thị USER 10001 (mlopsuser):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Ứng dụng không bao giờ thực thi dưới quyền root ngay cả bên trong container.</a:t>
            </a:r>
            <a:endParaRPr lang="en-US" sz="1100" dirty="0"/>
          </a:p>
        </p:txBody>
      </p:sp>
      <p:sp>
        <p:nvSpPr>
          <p:cNvPr id="16" name="Shape 14"/>
          <p:cNvSpPr/>
          <p:nvPr/>
        </p:nvSpPr>
        <p:spPr>
          <a:xfrm>
            <a:off x="6217920" y="1691640"/>
            <a:ext cx="5242255" cy="4389120"/>
          </a:xfrm>
          <a:prstGeom prst="roundRect">
            <a:avLst>
              <a:gd name="adj" fmla="val 1667"/>
            </a:avLst>
          </a:prstGeom>
          <a:solidFill>
            <a:srgbClr val="FFFFFF"/>
          </a:solidFill>
          <a:ln w="19050">
            <a:solidFill>
              <a:srgbClr val="002060"/>
            </a:solidFill>
            <a:prstDash val="solid"/>
          </a:ln>
        </p:spPr>
      </p:sp>
      <p:sp>
        <p:nvSpPr>
          <p:cNvPr id="17" name="Text 15"/>
          <p:cNvSpPr/>
          <p:nvPr/>
        </p:nvSpPr>
        <p:spPr>
          <a:xfrm>
            <a:off x="6492240" y="1920240"/>
            <a:ext cx="4693615" cy="320040"/>
          </a:xfrm>
          <a:prstGeom prst="rect">
            <a:avLst/>
          </a:prstGeom>
          <a:noFill/>
          <a:ln/>
        </p:spPr>
        <p:txBody>
          <a:bodyPr wrap="square" rtlCol="0" anchor="ctr"/>
          <a:lstStyle/>
          <a:p>
            <a:pPr indent="0" marL="0">
              <a:buNone/>
            </a:pPr>
            <a:r>
              <a:rPr lang="en-US" sz="1350" b="1" dirty="0">
                <a:solidFill>
                  <a:srgbClr val="002060"/>
                </a:solidFill>
                <a:latin typeface="Calibri" pitchFamily="34" charset="0"/>
                <a:ea typeface="Calibri" pitchFamily="34" charset="-122"/>
                <a:cs typeface="Calibri" pitchFamily="34" charset="-120"/>
              </a:rPr>
              <a:t>ĐỘNG CƠ NHẬN DẠNG CHỮ &amp; HIỆU NĂNG</a:t>
            </a:r>
            <a:endParaRPr lang="en-US" sz="1350" dirty="0"/>
          </a:p>
        </p:txBody>
      </p:sp>
      <p:sp>
        <p:nvSpPr>
          <p:cNvPr id="18" name="Text 16"/>
          <p:cNvSpPr/>
          <p:nvPr/>
        </p:nvSpPr>
        <p:spPr>
          <a:xfrm>
            <a:off x="6492240" y="2377440"/>
            <a:ext cx="4693615" cy="822960"/>
          </a:xfrm>
          <a:prstGeom prst="rect">
            <a:avLst/>
          </a:prstGeom>
          <a:noFill/>
          <a:ln/>
        </p:spPr>
        <p:txBody>
          <a:bodyPr wrap="square" rtlCol="0" anchor="t"/>
          <a:lstStyle/>
          <a:p>
            <a:pPr indent="0" marL="0">
              <a:lnSpc>
                <a:spcPts val="1600"/>
              </a:lnSpc>
              <a:buNone/>
            </a:pPr>
            <a:r>
              <a:rPr lang="en-US" sz="1100" b="1" dirty="0">
                <a:solidFill>
                  <a:srgbClr val="002060"/>
                </a:solidFill>
              </a:rPr>
              <a:t>• Tesseract-OCR LSTM Engine: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Sử dụng mạng nơ-ron hồi quy LSTM tối ưu CPU, tiêu thụ chỉ ~60MB RAM (thay vì các framework nặng ngốn 1.5GB RAM).</a:t>
            </a:r>
            <a:endParaRPr lang="en-US" sz="1100" dirty="0"/>
          </a:p>
        </p:txBody>
      </p:sp>
      <p:sp>
        <p:nvSpPr>
          <p:cNvPr id="19" name="Text 17"/>
          <p:cNvSpPr/>
          <p:nvPr/>
        </p:nvSpPr>
        <p:spPr>
          <a:xfrm>
            <a:off x="6492240" y="3291840"/>
            <a:ext cx="4693615" cy="822960"/>
          </a:xfrm>
          <a:prstGeom prst="rect">
            <a:avLst/>
          </a:prstGeom>
          <a:noFill/>
          <a:ln/>
        </p:spPr>
        <p:txBody>
          <a:bodyPr wrap="square" rtlCol="0" anchor="t"/>
          <a:lstStyle/>
          <a:p>
            <a:pPr indent="0" marL="0">
              <a:lnSpc>
                <a:spcPts val="1600"/>
              </a:lnSpc>
              <a:buNone/>
            </a:pPr>
            <a:r>
              <a:rPr lang="en-US" sz="1100" b="1" dirty="0">
                <a:solidFill>
                  <a:srgbClr val="002060"/>
                </a:solidFill>
              </a:rPr>
              <a:t>• Tốc độ suy luận thần tốc: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Thời gian bóc tách chữ chỉ mất 200 - 300 ms/ảnh trên môi trường CPU tiêu chuẩn.</a:t>
            </a:r>
            <a:endParaRPr lang="en-US" sz="1100" dirty="0"/>
          </a:p>
        </p:txBody>
      </p:sp>
      <p:sp>
        <p:nvSpPr>
          <p:cNvPr id="20" name="Text 18"/>
          <p:cNvSpPr/>
          <p:nvPr/>
        </p:nvSpPr>
        <p:spPr>
          <a:xfrm>
            <a:off x="6492240" y="4206240"/>
            <a:ext cx="4693615" cy="822960"/>
          </a:xfrm>
          <a:prstGeom prst="rect">
            <a:avLst/>
          </a:prstGeom>
          <a:noFill/>
          <a:ln/>
        </p:spPr>
        <p:txBody>
          <a:bodyPr wrap="square" rtlCol="0" anchor="t"/>
          <a:lstStyle/>
          <a:p>
            <a:pPr indent="0" marL="0">
              <a:lnSpc>
                <a:spcPts val="1600"/>
              </a:lnSpc>
              <a:buNone/>
            </a:pPr>
            <a:r>
              <a:rPr lang="en-US" sz="1100" b="1" dirty="0">
                <a:solidFill>
                  <a:srgbClr val="002060"/>
                </a:solidFill>
              </a:rPr>
              <a:t>• Độ chính xác cao: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Hỗ trợ nhận dạng song ngữ tiếng Việt (vie) và tiếng Anh (eng) mượt mà.</a:t>
            </a:r>
            <a:endParaRPr lang="en-US" sz="1100" dirty="0"/>
          </a:p>
        </p:txBody>
      </p:sp>
      <p:sp>
        <p:nvSpPr>
          <p:cNvPr id="21" name="Text 19"/>
          <p:cNvSpPr/>
          <p:nvPr/>
        </p:nvSpPr>
        <p:spPr>
          <a:xfrm>
            <a:off x="6492240" y="5120640"/>
            <a:ext cx="4693615" cy="822960"/>
          </a:xfrm>
          <a:prstGeom prst="rect">
            <a:avLst/>
          </a:prstGeom>
          <a:noFill/>
          <a:ln/>
        </p:spPr>
        <p:txBody>
          <a:bodyPr wrap="square" rtlCol="0" anchor="t"/>
          <a:lstStyle/>
          <a:p>
            <a:pPr indent="0" marL="0">
              <a:lnSpc>
                <a:spcPts val="1600"/>
              </a:lnSpc>
              <a:buNone/>
            </a:pPr>
            <a:r>
              <a:rPr lang="en-US" sz="1100" b="1" dirty="0">
                <a:solidFill>
                  <a:srgbClr val="002060"/>
                </a:solidFill>
              </a:rPr>
              <a:t>• Tích hợp MLOps tự động: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Tự động ghi nhận log thực nghiệm vào MLflow và xuất metrics phân vị độ trễ ra Prometheus.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GIÁM SÁT HỆ THỐNG</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8. HỆ THỐNG QUAN SÁT &amp; TERMINAL CLI</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Giám sát thời gian thực với Prometheus/Grafana và công cụ dòng lệnh interactive</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09 / 12</a:t>
            </a:r>
            <a:endParaRPr lang="en-US" sz="1000" dirty="0"/>
          </a:p>
        </p:txBody>
      </p:sp>
      <p:sp>
        <p:nvSpPr>
          <p:cNvPr id="10" name="Shape 8"/>
          <p:cNvSpPr/>
          <p:nvPr/>
        </p:nvSpPr>
        <p:spPr>
          <a:xfrm>
            <a:off x="731520" y="1691640"/>
            <a:ext cx="5242255" cy="2057400"/>
          </a:xfrm>
          <a:prstGeom prst="roundRect">
            <a:avLst>
              <a:gd name="adj" fmla="val 3556"/>
            </a:avLst>
          </a:prstGeom>
          <a:solidFill>
            <a:srgbClr val="FFFFFF"/>
          </a:solidFill>
          <a:ln w="19050">
            <a:solidFill>
              <a:srgbClr val="0284C7"/>
            </a:solidFill>
            <a:prstDash val="solid"/>
          </a:ln>
        </p:spPr>
      </p:sp>
      <p:sp>
        <p:nvSpPr>
          <p:cNvPr id="11" name="Text 9"/>
          <p:cNvSpPr/>
          <p:nvPr/>
        </p:nvSpPr>
        <p:spPr>
          <a:xfrm>
            <a:off x="1005840" y="192024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PROMETHEUS SERVER (PORT 9090)</a:t>
            </a:r>
            <a:endParaRPr lang="en-US" sz="1300" dirty="0"/>
          </a:p>
        </p:txBody>
      </p:sp>
      <p:sp>
        <p:nvSpPr>
          <p:cNvPr id="12" name="Text 10"/>
          <p:cNvSpPr/>
          <p:nvPr/>
        </p:nvSpPr>
        <p:spPr>
          <a:xfrm>
            <a:off x="1005840" y="224028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Metric Scraping</a:t>
            </a:r>
            <a:endParaRPr lang="en-US" sz="1050" dirty="0"/>
          </a:p>
        </p:txBody>
      </p:sp>
      <p:sp>
        <p:nvSpPr>
          <p:cNvPr id="13" name="Text 11"/>
          <p:cNvSpPr/>
          <p:nvPr/>
        </p:nvSpPr>
        <p:spPr>
          <a:xfrm>
            <a:off x="1005840" y="251460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Tự động cào chỉ số chuỗi thời gian định kỳ mỗi 5s từ endpoint /metrics của FastAPI OCR và máy chủ host. Lưu vết dữ liệu time-series phục vụ phân tích xu hướng.</a:t>
            </a:r>
            <a:endParaRPr lang="en-US" sz="1080" dirty="0"/>
          </a:p>
        </p:txBody>
      </p:sp>
      <p:sp>
        <p:nvSpPr>
          <p:cNvPr id="14" name="Shape 12"/>
          <p:cNvSpPr/>
          <p:nvPr/>
        </p:nvSpPr>
        <p:spPr>
          <a:xfrm>
            <a:off x="6217920" y="1691640"/>
            <a:ext cx="5242255" cy="2057400"/>
          </a:xfrm>
          <a:prstGeom prst="roundRect">
            <a:avLst>
              <a:gd name="adj" fmla="val 3556"/>
            </a:avLst>
          </a:prstGeom>
          <a:solidFill>
            <a:srgbClr val="FFFFFF"/>
          </a:solidFill>
          <a:ln w="19050">
            <a:solidFill>
              <a:srgbClr val="0284C7"/>
            </a:solidFill>
            <a:prstDash val="solid"/>
          </a:ln>
        </p:spPr>
      </p:sp>
      <p:sp>
        <p:nvSpPr>
          <p:cNvPr id="15" name="Text 13"/>
          <p:cNvSpPr/>
          <p:nvPr/>
        </p:nvSpPr>
        <p:spPr>
          <a:xfrm>
            <a:off x="6492240" y="192024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GRAFANA DASHBOARD (PORT 3000)</a:t>
            </a:r>
            <a:endParaRPr lang="en-US" sz="1300" dirty="0"/>
          </a:p>
        </p:txBody>
      </p:sp>
      <p:sp>
        <p:nvSpPr>
          <p:cNvPr id="16" name="Text 14"/>
          <p:cNvSpPr/>
          <p:nvPr/>
        </p:nvSpPr>
        <p:spPr>
          <a:xfrm>
            <a:off x="6492240" y="224028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Data Visualization</a:t>
            </a:r>
            <a:endParaRPr lang="en-US" sz="1050" dirty="0"/>
          </a:p>
        </p:txBody>
      </p:sp>
      <p:sp>
        <p:nvSpPr>
          <p:cNvPr id="17" name="Text 15"/>
          <p:cNvSpPr/>
          <p:nvPr/>
        </p:nvSpPr>
        <p:spPr>
          <a:xfrm>
            <a:off x="6492240" y="251460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Trực quan hóa tức thời thông lượng yêu cầu (RPS), độ trễ phân vị p50/p95/p99 và % sử dụng CPU/RAM của từng container. Giúp phát hiện tức thì điểm nghẽn hiệu năng.</a:t>
            </a:r>
            <a:endParaRPr lang="en-US" sz="1080" dirty="0"/>
          </a:p>
        </p:txBody>
      </p:sp>
      <p:sp>
        <p:nvSpPr>
          <p:cNvPr id="18" name="Shape 16"/>
          <p:cNvSpPr/>
          <p:nvPr/>
        </p:nvSpPr>
        <p:spPr>
          <a:xfrm>
            <a:off x="731520" y="3931920"/>
            <a:ext cx="5242255" cy="2057400"/>
          </a:xfrm>
          <a:prstGeom prst="roundRect">
            <a:avLst>
              <a:gd name="adj" fmla="val 3556"/>
            </a:avLst>
          </a:prstGeom>
          <a:solidFill>
            <a:srgbClr val="FFFFFF"/>
          </a:solidFill>
          <a:ln w="19050">
            <a:solidFill>
              <a:srgbClr val="0284C7"/>
            </a:solidFill>
            <a:prstDash val="solid"/>
          </a:ln>
        </p:spPr>
      </p:sp>
      <p:sp>
        <p:nvSpPr>
          <p:cNvPr id="19" name="Text 17"/>
          <p:cNvSpPr/>
          <p:nvPr/>
        </p:nvSpPr>
        <p:spPr>
          <a:xfrm>
            <a:off x="1005840" y="416052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MLFLOW TRACKING UI (PORT 5000)</a:t>
            </a:r>
            <a:endParaRPr lang="en-US" sz="1300" dirty="0"/>
          </a:p>
        </p:txBody>
      </p:sp>
      <p:sp>
        <p:nvSpPr>
          <p:cNvPr id="20" name="Text 18"/>
          <p:cNvSpPr/>
          <p:nvPr/>
        </p:nvSpPr>
        <p:spPr>
          <a:xfrm>
            <a:off x="1005840" y="448056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Model Lifecycle</a:t>
            </a:r>
            <a:endParaRPr lang="en-US" sz="1050" dirty="0"/>
          </a:p>
        </p:txBody>
      </p:sp>
      <p:sp>
        <p:nvSpPr>
          <p:cNvPr id="21" name="Text 19"/>
          <p:cNvSpPr/>
          <p:nvPr/>
        </p:nvSpPr>
        <p:spPr>
          <a:xfrm>
            <a:off x="1005840" y="475488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Quản lý vòng đời mô hình học máy, lưu vết siêu tham số, metadata ảnh và các artifact nhận dạng. Kết nối cơ sở dữ liệu PostgreSQL lưu trữ bền vững lâu dài.</a:t>
            </a:r>
            <a:endParaRPr lang="en-US" sz="1080" dirty="0"/>
          </a:p>
        </p:txBody>
      </p:sp>
      <p:sp>
        <p:nvSpPr>
          <p:cNvPr id="22" name="Shape 20"/>
          <p:cNvSpPr/>
          <p:nvPr/>
        </p:nvSpPr>
        <p:spPr>
          <a:xfrm>
            <a:off x="6217920" y="3931920"/>
            <a:ext cx="5242255" cy="2057400"/>
          </a:xfrm>
          <a:prstGeom prst="roundRect">
            <a:avLst>
              <a:gd name="adj" fmla="val 3556"/>
            </a:avLst>
          </a:prstGeom>
          <a:solidFill>
            <a:srgbClr val="FFFFFF"/>
          </a:solidFill>
          <a:ln w="19050">
            <a:solidFill>
              <a:srgbClr val="0284C7"/>
            </a:solidFill>
            <a:prstDash val="solid"/>
          </a:ln>
        </p:spPr>
      </p:sp>
      <p:sp>
        <p:nvSpPr>
          <p:cNvPr id="23" name="Text 21"/>
          <p:cNvSpPr/>
          <p:nvPr/>
        </p:nvSpPr>
        <p:spPr>
          <a:xfrm>
            <a:off x="6492240" y="4160520"/>
            <a:ext cx="4693615"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TERMINAL INTERACTIVE CLI (AI_CLI.SH)</a:t>
            </a:r>
            <a:endParaRPr lang="en-US" sz="1300" dirty="0"/>
          </a:p>
        </p:txBody>
      </p:sp>
      <p:sp>
        <p:nvSpPr>
          <p:cNvPr id="24" name="Text 22"/>
          <p:cNvSpPr/>
          <p:nvPr/>
        </p:nvSpPr>
        <p:spPr>
          <a:xfrm>
            <a:off x="6492240" y="4480560"/>
            <a:ext cx="4693615" cy="228600"/>
          </a:xfrm>
          <a:prstGeom prst="rect">
            <a:avLst/>
          </a:prstGeom>
          <a:noFill/>
          <a:ln/>
        </p:spPr>
        <p:txBody>
          <a:bodyPr wrap="square" rtlCol="0" anchor="ctr"/>
          <a:lstStyle/>
          <a:p>
            <a:pPr indent="0" marL="0">
              <a:buNone/>
            </a:pPr>
            <a:r>
              <a:rPr lang="en-US" sz="1050" b="1" dirty="0">
                <a:solidFill>
                  <a:srgbClr val="0284C7"/>
                </a:solidFill>
                <a:latin typeface="Calibri" pitchFamily="34" charset="0"/>
                <a:ea typeface="Calibri" pitchFamily="34" charset="-122"/>
                <a:cs typeface="Calibri" pitchFamily="34" charset="-120"/>
              </a:rPr>
              <a:t>DevOps Tooling</a:t>
            </a:r>
            <a:endParaRPr lang="en-US" sz="1050" dirty="0"/>
          </a:p>
        </p:txBody>
      </p:sp>
      <p:sp>
        <p:nvSpPr>
          <p:cNvPr id="25" name="Text 23"/>
          <p:cNvSpPr/>
          <p:nvPr/>
        </p:nvSpPr>
        <p:spPr>
          <a:xfrm>
            <a:off x="6492240" y="4754880"/>
            <a:ext cx="4693615" cy="1097280"/>
          </a:xfrm>
          <a:prstGeom prst="rect">
            <a:avLst/>
          </a:prstGeom>
          <a:noFill/>
          <a:ln/>
        </p:spPr>
        <p:txBody>
          <a:bodyPr wrap="square" rtlCol="0" anchor="ctr"/>
          <a:lstStyle/>
          <a:p>
            <a:pPr indent="0" marL="0">
              <a:lnSpc>
                <a:spcPts val="1700"/>
              </a:lnSpc>
              <a:buNone/>
            </a:pPr>
            <a:r>
              <a:rPr lang="en-US" sz="1080" dirty="0">
                <a:solidFill>
                  <a:srgbClr val="1E293B"/>
                </a:solidFill>
                <a:latin typeface="Calibri" pitchFamily="34" charset="0"/>
                <a:ea typeface="Calibri" pitchFamily="34" charset="-122"/>
                <a:cs typeface="Calibri" pitchFamily="34" charset="-120"/>
              </a:rPr>
              <a:t>Giao diện menu dòng lệnh ANSI Color hiện đại cho quản trị viên Linux. Cho phép chọn ảnh mẫu, gửi request suy luận đến FastAPI và hiển thị kết quả OCR trực tiếp trên terminal.</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ĐỐI SÁNH ĐỊNH LƯỢNG</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9. KẾT QUẢ ĐỐI SÁNH THỰC NGHIỆM ĐỊNH LƯỢNG</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Bảng số liệu đo lường trực tiếp giữa Arch Linux (Rootless) và Ubuntu Server (Rootful)</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10 / 12</a:t>
            </a:r>
            <a:endParaRPr lang="en-US" sz="1000" dirty="0"/>
          </a:p>
        </p:txBody>
      </p:sp>
      <p:sp>
        <p:nvSpPr>
          <p:cNvPr id="10" name="Shape 8"/>
          <p:cNvSpPr/>
          <p:nvPr/>
        </p:nvSpPr>
        <p:spPr>
          <a:xfrm>
            <a:off x="731520" y="1691640"/>
            <a:ext cx="2499055" cy="1143000"/>
          </a:xfrm>
          <a:prstGeom prst="roundRect">
            <a:avLst>
              <a:gd name="adj" fmla="val 6400"/>
            </a:avLst>
          </a:prstGeom>
          <a:solidFill>
            <a:srgbClr val="FFFFFF"/>
          </a:solidFill>
          <a:ln w="19050">
            <a:solidFill>
              <a:srgbClr val="0284C7"/>
            </a:solidFill>
            <a:prstDash val="solid"/>
          </a:ln>
        </p:spPr>
      </p:sp>
      <p:sp>
        <p:nvSpPr>
          <p:cNvPr id="11" name="Text 9"/>
          <p:cNvSpPr/>
          <p:nvPr/>
        </p:nvSpPr>
        <p:spPr>
          <a:xfrm>
            <a:off x="822960" y="1783080"/>
            <a:ext cx="2316175" cy="411480"/>
          </a:xfrm>
          <a:prstGeom prst="rect">
            <a:avLst/>
          </a:prstGeom>
          <a:noFill/>
          <a:ln/>
        </p:spPr>
        <p:txBody>
          <a:bodyPr wrap="square" rtlCol="0" anchor="ctr"/>
          <a:lstStyle/>
          <a:p>
            <a:pPr algn="ctr" indent="0" marL="0">
              <a:buNone/>
            </a:pPr>
            <a:r>
              <a:rPr lang="en-US" sz="2200" b="1" dirty="0">
                <a:solidFill>
                  <a:srgbClr val="0284C7"/>
                </a:solidFill>
                <a:latin typeface="Calibri" pitchFamily="34" charset="0"/>
                <a:ea typeface="Calibri" pitchFamily="34" charset="-122"/>
                <a:cs typeface="Calibri" pitchFamily="34" charset="-120"/>
              </a:rPr>
              <a:t>40.9% ↓</a:t>
            </a:r>
            <a:endParaRPr lang="en-US" sz="2200" dirty="0"/>
          </a:p>
        </p:txBody>
      </p:sp>
      <p:sp>
        <p:nvSpPr>
          <p:cNvPr id="12" name="Text 10"/>
          <p:cNvSpPr/>
          <p:nvPr/>
        </p:nvSpPr>
        <p:spPr>
          <a:xfrm>
            <a:off x="822960" y="2194560"/>
            <a:ext cx="2316175" cy="27432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Tiết kiệm RAM tĩnh</a:t>
            </a:r>
            <a:endParaRPr lang="en-US" sz="1100" dirty="0"/>
          </a:p>
        </p:txBody>
      </p:sp>
      <p:sp>
        <p:nvSpPr>
          <p:cNvPr id="13" name="Text 11"/>
          <p:cNvSpPr/>
          <p:nvPr/>
        </p:nvSpPr>
        <p:spPr>
          <a:xfrm>
            <a:off x="822960" y="2468880"/>
            <a:ext cx="2316175" cy="228600"/>
          </a:xfrm>
          <a:prstGeom prst="rect">
            <a:avLst/>
          </a:prstGeom>
          <a:noFill/>
          <a:ln/>
        </p:spPr>
        <p:txBody>
          <a:bodyPr wrap="square"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Arch 438MB vs Ubuntu 742MB</a:t>
            </a:r>
            <a:endParaRPr lang="en-US" sz="950" dirty="0"/>
          </a:p>
        </p:txBody>
      </p:sp>
      <p:sp>
        <p:nvSpPr>
          <p:cNvPr id="14" name="Shape 12"/>
          <p:cNvSpPr/>
          <p:nvPr/>
        </p:nvSpPr>
        <p:spPr>
          <a:xfrm>
            <a:off x="3474720" y="1691640"/>
            <a:ext cx="2499055" cy="1143000"/>
          </a:xfrm>
          <a:prstGeom prst="roundRect">
            <a:avLst>
              <a:gd name="adj" fmla="val 6400"/>
            </a:avLst>
          </a:prstGeom>
          <a:solidFill>
            <a:srgbClr val="FFFFFF"/>
          </a:solidFill>
          <a:ln w="19050">
            <a:solidFill>
              <a:srgbClr val="0284C7"/>
            </a:solidFill>
            <a:prstDash val="solid"/>
          </a:ln>
        </p:spPr>
      </p:sp>
      <p:sp>
        <p:nvSpPr>
          <p:cNvPr id="15" name="Text 13"/>
          <p:cNvSpPr/>
          <p:nvPr/>
        </p:nvSpPr>
        <p:spPr>
          <a:xfrm>
            <a:off x="3566160" y="1783080"/>
            <a:ext cx="2316175" cy="411480"/>
          </a:xfrm>
          <a:prstGeom prst="rect">
            <a:avLst/>
          </a:prstGeom>
          <a:noFill/>
          <a:ln/>
        </p:spPr>
        <p:txBody>
          <a:bodyPr wrap="square" rtlCol="0" anchor="ctr"/>
          <a:lstStyle/>
          <a:p>
            <a:pPr algn="ctr" indent="0" marL="0">
              <a:buNone/>
            </a:pPr>
            <a:r>
              <a:rPr lang="en-US" sz="2200" b="1" dirty="0">
                <a:solidFill>
                  <a:srgbClr val="0284C7"/>
                </a:solidFill>
                <a:latin typeface="Calibri" pitchFamily="34" charset="0"/>
                <a:ea typeface="Calibri" pitchFamily="34" charset="-122"/>
                <a:cs typeface="Calibri" pitchFamily="34" charset="-120"/>
              </a:rPr>
              <a:t>2.6x ↑</a:t>
            </a:r>
            <a:endParaRPr lang="en-US" sz="2200" dirty="0"/>
          </a:p>
        </p:txBody>
      </p:sp>
      <p:sp>
        <p:nvSpPr>
          <p:cNvPr id="16" name="Text 14"/>
          <p:cNvSpPr/>
          <p:nvPr/>
        </p:nvSpPr>
        <p:spPr>
          <a:xfrm>
            <a:off x="3566160" y="2194560"/>
            <a:ext cx="2316175" cy="27432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Khởi động OS nhanh hơn</a:t>
            </a:r>
            <a:endParaRPr lang="en-US" sz="1100" dirty="0"/>
          </a:p>
        </p:txBody>
      </p:sp>
      <p:sp>
        <p:nvSpPr>
          <p:cNvPr id="17" name="Text 15"/>
          <p:cNvSpPr/>
          <p:nvPr/>
        </p:nvSpPr>
        <p:spPr>
          <a:xfrm>
            <a:off x="3566160" y="2468880"/>
            <a:ext cx="2316175" cy="228600"/>
          </a:xfrm>
          <a:prstGeom prst="rect">
            <a:avLst/>
          </a:prstGeom>
          <a:noFill/>
          <a:ln/>
        </p:spPr>
        <p:txBody>
          <a:bodyPr wrap="square"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Arch 4.8s vs Ubuntu 12.6s</a:t>
            </a:r>
            <a:endParaRPr lang="en-US" sz="950" dirty="0"/>
          </a:p>
        </p:txBody>
      </p:sp>
      <p:sp>
        <p:nvSpPr>
          <p:cNvPr id="18" name="Shape 16"/>
          <p:cNvSpPr/>
          <p:nvPr/>
        </p:nvSpPr>
        <p:spPr>
          <a:xfrm>
            <a:off x="6217920" y="1691640"/>
            <a:ext cx="2499055" cy="1143000"/>
          </a:xfrm>
          <a:prstGeom prst="roundRect">
            <a:avLst>
              <a:gd name="adj" fmla="val 6400"/>
            </a:avLst>
          </a:prstGeom>
          <a:solidFill>
            <a:srgbClr val="FFFFFF"/>
          </a:solidFill>
          <a:ln w="19050">
            <a:solidFill>
              <a:srgbClr val="0284C7"/>
            </a:solidFill>
            <a:prstDash val="solid"/>
          </a:ln>
        </p:spPr>
      </p:sp>
      <p:sp>
        <p:nvSpPr>
          <p:cNvPr id="19" name="Text 17"/>
          <p:cNvSpPr/>
          <p:nvPr/>
        </p:nvSpPr>
        <p:spPr>
          <a:xfrm>
            <a:off x="6309360" y="1783080"/>
            <a:ext cx="2316175" cy="411480"/>
          </a:xfrm>
          <a:prstGeom prst="rect">
            <a:avLst/>
          </a:prstGeom>
          <a:noFill/>
          <a:ln/>
        </p:spPr>
        <p:txBody>
          <a:bodyPr wrap="square" rtlCol="0" anchor="ctr"/>
          <a:lstStyle/>
          <a:p>
            <a:pPr algn="ctr" indent="0" marL="0">
              <a:buNone/>
            </a:pPr>
            <a:r>
              <a:rPr lang="en-US" sz="2200" b="1" dirty="0">
                <a:solidFill>
                  <a:srgbClr val="0284C7"/>
                </a:solidFill>
                <a:latin typeface="Calibri" pitchFamily="34" charset="0"/>
                <a:ea typeface="Calibri" pitchFamily="34" charset="-122"/>
                <a:cs typeface="Calibri" pitchFamily="34" charset="-120"/>
              </a:rPr>
              <a:t>342.5</a:t>
            </a:r>
            <a:endParaRPr lang="en-US" sz="2200" dirty="0"/>
          </a:p>
        </p:txBody>
      </p:sp>
      <p:sp>
        <p:nvSpPr>
          <p:cNvPr id="20" name="Text 18"/>
          <p:cNvSpPr/>
          <p:nvPr/>
        </p:nvSpPr>
        <p:spPr>
          <a:xfrm>
            <a:off x="6309360" y="2194560"/>
            <a:ext cx="2316175" cy="27432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RPS thông lượng AI</a:t>
            </a:r>
            <a:endParaRPr lang="en-US" sz="1100" dirty="0"/>
          </a:p>
        </p:txBody>
      </p:sp>
      <p:sp>
        <p:nvSpPr>
          <p:cNvPr id="21" name="Text 19"/>
          <p:cNvSpPr/>
          <p:nvPr/>
        </p:nvSpPr>
        <p:spPr>
          <a:xfrm>
            <a:off x="6309360" y="2468880"/>
            <a:ext cx="2316175" cy="228600"/>
          </a:xfrm>
          <a:prstGeom prst="rect">
            <a:avLst/>
          </a:prstGeom>
          <a:noFill/>
          <a:ln/>
        </p:spPr>
        <p:txBody>
          <a:bodyPr wrap="square"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Arch cao hơn 4.3% so với Ubuntu</a:t>
            </a:r>
            <a:endParaRPr lang="en-US" sz="950" dirty="0"/>
          </a:p>
        </p:txBody>
      </p:sp>
      <p:sp>
        <p:nvSpPr>
          <p:cNvPr id="22" name="Shape 20"/>
          <p:cNvSpPr/>
          <p:nvPr/>
        </p:nvSpPr>
        <p:spPr>
          <a:xfrm>
            <a:off x="8961120" y="1691640"/>
            <a:ext cx="2499055" cy="1143000"/>
          </a:xfrm>
          <a:prstGeom prst="roundRect">
            <a:avLst>
              <a:gd name="adj" fmla="val 6400"/>
            </a:avLst>
          </a:prstGeom>
          <a:solidFill>
            <a:srgbClr val="FFFFFF"/>
          </a:solidFill>
          <a:ln w="19050">
            <a:solidFill>
              <a:srgbClr val="0284C7"/>
            </a:solidFill>
            <a:prstDash val="solid"/>
          </a:ln>
        </p:spPr>
      </p:sp>
      <p:sp>
        <p:nvSpPr>
          <p:cNvPr id="23" name="Text 21"/>
          <p:cNvSpPr/>
          <p:nvPr/>
        </p:nvSpPr>
        <p:spPr>
          <a:xfrm>
            <a:off x="9052560" y="1783080"/>
            <a:ext cx="2316175" cy="411480"/>
          </a:xfrm>
          <a:prstGeom prst="rect">
            <a:avLst/>
          </a:prstGeom>
          <a:noFill/>
          <a:ln/>
        </p:spPr>
        <p:txBody>
          <a:bodyPr wrap="square" rtlCol="0" anchor="ctr"/>
          <a:lstStyle/>
          <a:p>
            <a:pPr algn="ctr" indent="0" marL="0">
              <a:buNone/>
            </a:pPr>
            <a:r>
              <a:rPr lang="en-US" sz="2200" b="1" dirty="0">
                <a:solidFill>
                  <a:srgbClr val="0284C7"/>
                </a:solidFill>
                <a:latin typeface="Calibri" pitchFamily="34" charset="0"/>
                <a:ea typeface="Calibri" pitchFamily="34" charset="-122"/>
                <a:cs typeface="Calibri" pitchFamily="34" charset="-120"/>
              </a:rPr>
              <a:t>5/5 PASS</a:t>
            </a:r>
            <a:endParaRPr lang="en-US" sz="2200" dirty="0"/>
          </a:p>
        </p:txBody>
      </p:sp>
      <p:sp>
        <p:nvSpPr>
          <p:cNvPr id="24" name="Text 22"/>
          <p:cNvSpPr/>
          <p:nvPr/>
        </p:nvSpPr>
        <p:spPr>
          <a:xfrm>
            <a:off x="9052560" y="2194560"/>
            <a:ext cx="2316175" cy="27432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Kiểm định an ninh</a:t>
            </a:r>
            <a:endParaRPr lang="en-US" sz="1100" dirty="0"/>
          </a:p>
        </p:txBody>
      </p:sp>
      <p:sp>
        <p:nvSpPr>
          <p:cNvPr id="25" name="Text 23"/>
          <p:cNvSpPr/>
          <p:nvPr/>
        </p:nvSpPr>
        <p:spPr>
          <a:xfrm>
            <a:off x="9052560" y="2468880"/>
            <a:ext cx="2316175" cy="228600"/>
          </a:xfrm>
          <a:prstGeom prst="rect">
            <a:avLst/>
          </a:prstGeom>
          <a:noFill/>
          <a:ln/>
        </p:spPr>
        <p:txBody>
          <a:bodyPr wrap="square"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Đạt chuẩn Enterprise cao nhất</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2971800"/>
          <a:ext cx="10728655" cy="3063240"/>
        </p:xfrm>
        <a:graphic>
          <a:graphicData uri="http://schemas.openxmlformats.org/drawingml/2006/table">
            <a:tbl>
              <a:tblPr/>
              <a:tblGrid>
                <a:gridCol w="2682164"/>
                <a:gridCol w="2682164"/>
                <a:gridCol w="2682164"/>
                <a:gridCol w="2682164"/>
              </a:tblGrid>
              <a:tr h="43760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Chỉ số đo lường hiệu năng</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0206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Arch Linux (Rootless Docker)</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0206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Ubuntu Server (Rootful Docker)</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0206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Chênh lệch / Đánh giá</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02060"/>
                    </a:solidFill>
                  </a:tcPr>
                </a:tc>
              </a:tr>
              <a:tr h="43760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Chiếm dụng RAM tĩnh (Idle OS)</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284C7"/>
                          </a:solidFill>
                          <a:latin typeface="Calibri" pitchFamily="34" charset="0"/>
                          <a:ea typeface="Calibri" pitchFamily="34" charset="-122"/>
                          <a:cs typeface="Calibri" pitchFamily="34" charset="-120"/>
                        </a:rPr>
                        <a:t>438 MB RAM</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742 MB RAM</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Arch Linux tiết kiệm 40.9% bộ nhớ.</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3760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Chiếm dụng RAM động (Stack Active)</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284C7"/>
                          </a:solidFill>
                          <a:latin typeface="Calibri" pitchFamily="34" charset="0"/>
                          <a:ea typeface="Calibri" pitchFamily="34" charset="-122"/>
                          <a:cs typeface="Calibri" pitchFamily="34" charset="-120"/>
                        </a:rPr>
                        <a:t>1,280 MB RAM</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1,620 MB RAM</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Arch Linux tiết kiệm 20.9% bộ nhớ.</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3760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Thời gian khởi động OS (Boot Time)</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284C7"/>
                          </a:solidFill>
                          <a:latin typeface="Calibri" pitchFamily="34" charset="0"/>
                          <a:ea typeface="Calibri" pitchFamily="34" charset="-122"/>
                          <a:cs typeface="Calibri" pitchFamily="34" charset="-120"/>
                        </a:rPr>
                        <a:t>4.8 giây (systemd-analyze)</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12.6 giây (systemd-analyze)</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Arch Linux khởi động nhanh hơn 2.6 lần.</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3760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Thông lượng xử lý AI (Throughput)</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284C7"/>
                          </a:solidFill>
                          <a:latin typeface="Calibri" pitchFamily="34" charset="0"/>
                          <a:ea typeface="Calibri" pitchFamily="34" charset="-122"/>
                          <a:cs typeface="Calibri" pitchFamily="34" charset="-120"/>
                        </a:rPr>
                        <a:t>342.5 Requests / Giây</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328.1 Requests / Giây</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Arch Linux đạt hiệu năng cao hơn 4.3%.</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3760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Độ trễ phân vị p95 (95% requests)</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284C7"/>
                          </a:solidFill>
                          <a:latin typeface="Calibri" pitchFamily="34" charset="0"/>
                          <a:ea typeface="Calibri" pitchFamily="34" charset="-122"/>
                          <a:cs typeface="Calibri" pitchFamily="34" charset="-120"/>
                        </a:rPr>
                        <a:t>64.8 ms</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72.5 ms</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Arch Linux duy trì độ trễ ổn định hơn.</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37606">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Tỷ lệ lỗi (Error Rate)</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6A34A"/>
                          </a:solidFill>
                          <a:latin typeface="Calibri" pitchFamily="34" charset="0"/>
                          <a:ea typeface="Calibri" pitchFamily="34" charset="-122"/>
                          <a:cs typeface="Calibri" pitchFamily="34" charset="-120"/>
                        </a:rPr>
                        <a:t>0.00% (500/500 thành công)</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6A34A"/>
                          </a:solidFill>
                          <a:latin typeface="Calibri" pitchFamily="34" charset="0"/>
                          <a:ea typeface="Calibri" pitchFamily="34" charset="-122"/>
                          <a:cs typeface="Calibri" pitchFamily="34" charset="-120"/>
                        </a:rPr>
                        <a:t>0.00% (500/500 thành công)</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Độ tin cậy tuyệt đối 100% trên cả 2 môi trường.</a:t>
                      </a:r>
                      <a:endParaRPr lang="en-US" sz="10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TIẾN ĐỘ THỰC HIỆN</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10. ĐÁNH GIÁ TIẾN ĐỘ &amp; SẢN PHẨM BÀN GIAO</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Tổng kết kết quả thực hiện đề tài và các sản phẩm khoa học kỹ thuật đã hoàn thành</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11 / 12</a:t>
            </a:r>
            <a:endParaRPr lang="en-US" sz="1000" dirty="0"/>
          </a:p>
        </p:txBody>
      </p:sp>
      <p:sp>
        <p:nvSpPr>
          <p:cNvPr id="10" name="Shape 8"/>
          <p:cNvSpPr/>
          <p:nvPr/>
        </p:nvSpPr>
        <p:spPr>
          <a:xfrm>
            <a:off x="731520" y="1691640"/>
            <a:ext cx="5242255" cy="4389120"/>
          </a:xfrm>
          <a:prstGeom prst="roundRect">
            <a:avLst>
              <a:gd name="adj" fmla="val 1667"/>
            </a:avLst>
          </a:prstGeom>
          <a:solidFill>
            <a:srgbClr val="FFFFFF"/>
          </a:solidFill>
          <a:ln w="19050">
            <a:solidFill>
              <a:srgbClr val="16A34A"/>
            </a:solidFill>
            <a:prstDash val="solid"/>
          </a:ln>
        </p:spPr>
      </p:sp>
      <p:sp>
        <p:nvSpPr>
          <p:cNvPr id="11" name="Text 9"/>
          <p:cNvSpPr/>
          <p:nvPr/>
        </p:nvSpPr>
        <p:spPr>
          <a:xfrm>
            <a:off x="1005840" y="1920240"/>
            <a:ext cx="4693615" cy="320040"/>
          </a:xfrm>
          <a:prstGeom prst="rect">
            <a:avLst/>
          </a:prstGeom>
          <a:noFill/>
          <a:ln/>
        </p:spPr>
        <p:txBody>
          <a:bodyPr wrap="square" rtlCol="0" anchor="ctr"/>
          <a:lstStyle/>
          <a:p>
            <a:pPr indent="0" marL="0">
              <a:buNone/>
            </a:pPr>
            <a:r>
              <a:rPr lang="en-US" sz="1350" b="1" dirty="0">
                <a:solidFill>
                  <a:srgbClr val="16A34A"/>
                </a:solidFill>
                <a:latin typeface="Calibri" pitchFamily="34" charset="0"/>
                <a:ea typeface="Calibri" pitchFamily="34" charset="-122"/>
                <a:cs typeface="Calibri" pitchFamily="34" charset="-120"/>
              </a:rPr>
              <a:t>CÁC SẢN PHẨM KỸ THUẬT ĐÃ HOÀN THÀNH</a:t>
            </a:r>
            <a:endParaRPr lang="en-US" sz="1350" dirty="0"/>
          </a:p>
        </p:txBody>
      </p:sp>
      <p:sp>
        <p:nvSpPr>
          <p:cNvPr id="12" name="Text 10"/>
          <p:cNvSpPr/>
          <p:nvPr/>
        </p:nvSpPr>
        <p:spPr>
          <a:xfrm>
            <a:off x="1005840" y="2331720"/>
            <a:ext cx="4693615" cy="685800"/>
          </a:xfrm>
          <a:prstGeom prst="rect">
            <a:avLst/>
          </a:prstGeom>
          <a:noFill/>
          <a:ln/>
        </p:spPr>
        <p:txBody>
          <a:bodyPr wrap="square" rtlCol="0" anchor="t"/>
          <a:lstStyle/>
          <a:p>
            <a:pPr indent="0" marL="0">
              <a:lnSpc>
                <a:spcPts val="1600"/>
              </a:lnSpc>
              <a:buNone/>
            </a:pPr>
            <a:r>
              <a:rPr lang="en-US" sz="1100" b="1" dirty="0">
                <a:solidFill>
                  <a:srgbClr val="16A34A"/>
                </a:solidFill>
              </a:rPr>
              <a:t>• Mục tiêu SMART: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Đã cam kết và hoàn thành 100% cả 6 tiêu chí đã đề ra ban đầu.</a:t>
            </a:r>
            <a:endParaRPr lang="en-US" sz="1100" dirty="0"/>
          </a:p>
        </p:txBody>
      </p:sp>
      <p:sp>
        <p:nvSpPr>
          <p:cNvPr id="13" name="Text 11"/>
          <p:cNvSpPr/>
          <p:nvPr/>
        </p:nvSpPr>
        <p:spPr>
          <a:xfrm>
            <a:off x="1005840" y="3081528"/>
            <a:ext cx="4693615" cy="685800"/>
          </a:xfrm>
          <a:prstGeom prst="rect">
            <a:avLst/>
          </a:prstGeom>
          <a:noFill/>
          <a:ln/>
        </p:spPr>
        <p:txBody>
          <a:bodyPr wrap="square" rtlCol="0" anchor="t"/>
          <a:lstStyle/>
          <a:p>
            <a:pPr indent="0" marL="0">
              <a:lnSpc>
                <a:spcPts val="1600"/>
              </a:lnSpc>
              <a:buNone/>
            </a:pPr>
            <a:r>
              <a:rPr lang="en-US" sz="1100" b="1" dirty="0">
                <a:solidFill>
                  <a:srgbClr val="16A34A"/>
                </a:solidFill>
              </a:rPr>
              <a:t>• Bộ kịch bản IaC Bash script đầy đủ: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01_system_hardening.sh, 01_rollback_hardening.sh, 02_setup_rootless_docker.sh, 03_deploy_stack.sh, 04_verify_system.sh, ai_cli.sh, scan_image.sh.</a:t>
            </a:r>
            <a:endParaRPr lang="en-US" sz="1100" dirty="0"/>
          </a:p>
        </p:txBody>
      </p:sp>
      <p:sp>
        <p:nvSpPr>
          <p:cNvPr id="14" name="Text 12"/>
          <p:cNvSpPr/>
          <p:nvPr/>
        </p:nvSpPr>
        <p:spPr>
          <a:xfrm>
            <a:off x="1005840" y="3831336"/>
            <a:ext cx="4693615" cy="685800"/>
          </a:xfrm>
          <a:prstGeom prst="rect">
            <a:avLst/>
          </a:prstGeom>
          <a:noFill/>
          <a:ln/>
        </p:spPr>
        <p:txBody>
          <a:bodyPr wrap="square" rtlCol="0" anchor="t"/>
          <a:lstStyle/>
          <a:p>
            <a:pPr indent="0" marL="0">
              <a:lnSpc>
                <a:spcPts val="1600"/>
              </a:lnSpc>
              <a:buNone/>
            </a:pPr>
            <a:r>
              <a:rPr lang="en-US" sz="1100" b="1" dirty="0">
                <a:solidFill>
                  <a:srgbClr val="16A34A"/>
                </a:solidFill>
              </a:rPr>
              <a:t>• Kho lưu trữ Git chuẩn mực: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Đã đồng bộ mã nguồn lên nhánh arch-mlops trên GitHub của nhóm.</a:t>
            </a:r>
            <a:endParaRPr lang="en-US" sz="1100" dirty="0"/>
          </a:p>
        </p:txBody>
      </p:sp>
      <p:sp>
        <p:nvSpPr>
          <p:cNvPr id="15" name="Text 13"/>
          <p:cNvSpPr/>
          <p:nvPr/>
        </p:nvSpPr>
        <p:spPr>
          <a:xfrm>
            <a:off x="1005840" y="4581144"/>
            <a:ext cx="4693615" cy="685800"/>
          </a:xfrm>
          <a:prstGeom prst="rect">
            <a:avLst/>
          </a:prstGeom>
          <a:noFill/>
          <a:ln/>
        </p:spPr>
        <p:txBody>
          <a:bodyPr wrap="square" rtlCol="0" anchor="t"/>
          <a:lstStyle/>
          <a:p>
            <a:pPr indent="0" marL="0">
              <a:lnSpc>
                <a:spcPts val="1600"/>
              </a:lnSpc>
              <a:buNone/>
            </a:pPr>
            <a:r>
              <a:rPr lang="en-US" sz="1100" b="1" dirty="0">
                <a:solidFill>
                  <a:srgbClr val="16A34A"/>
                </a:solidFill>
              </a:rPr>
              <a:t>• Báo cáo đồ án chính thức: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Đã biên soạn hoàn chỉnh 7 chương, dày 82 trang chuẩn mẫu học thuật VKU (định dạng DOCX và PDF).</a:t>
            </a:r>
            <a:endParaRPr lang="en-US" sz="1100" dirty="0"/>
          </a:p>
        </p:txBody>
      </p:sp>
      <p:sp>
        <p:nvSpPr>
          <p:cNvPr id="16" name="Text 14"/>
          <p:cNvSpPr/>
          <p:nvPr/>
        </p:nvSpPr>
        <p:spPr>
          <a:xfrm>
            <a:off x="1005840" y="5330952"/>
            <a:ext cx="4693615" cy="685800"/>
          </a:xfrm>
          <a:prstGeom prst="rect">
            <a:avLst/>
          </a:prstGeom>
          <a:noFill/>
          <a:ln/>
        </p:spPr>
        <p:txBody>
          <a:bodyPr wrap="square" rtlCol="0" anchor="t"/>
          <a:lstStyle/>
          <a:p>
            <a:pPr indent="0" marL="0">
              <a:lnSpc>
                <a:spcPts val="1600"/>
              </a:lnSpc>
              <a:buNone/>
            </a:pPr>
            <a:r>
              <a:rPr lang="en-US" sz="1100" b="1" dirty="0">
                <a:solidFill>
                  <a:srgbClr val="16A34A"/>
                </a:solidFill>
              </a:rPr>
              <a:t>• Hệ sinh thái thực nghiệm: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Cả 2 máy chủ ảo hoạt động ổn định và sẵn sàng cho buổi bảo vệ chính thức.</a:t>
            </a:r>
            <a:endParaRPr lang="en-US" sz="1100" dirty="0"/>
          </a:p>
        </p:txBody>
      </p:sp>
      <p:sp>
        <p:nvSpPr>
          <p:cNvPr id="17" name="Shape 15"/>
          <p:cNvSpPr/>
          <p:nvPr/>
        </p:nvSpPr>
        <p:spPr>
          <a:xfrm>
            <a:off x="6217920" y="1691640"/>
            <a:ext cx="5242255" cy="4389120"/>
          </a:xfrm>
          <a:prstGeom prst="roundRect">
            <a:avLst>
              <a:gd name="adj" fmla="val 1667"/>
            </a:avLst>
          </a:prstGeom>
          <a:solidFill>
            <a:srgbClr val="FFFFFF"/>
          </a:solidFill>
          <a:ln w="19050">
            <a:solidFill>
              <a:srgbClr val="0284C7"/>
            </a:solidFill>
            <a:prstDash val="solid"/>
          </a:ln>
        </p:spPr>
      </p:sp>
      <p:sp>
        <p:nvSpPr>
          <p:cNvPr id="18" name="Text 16"/>
          <p:cNvSpPr/>
          <p:nvPr/>
        </p:nvSpPr>
        <p:spPr>
          <a:xfrm>
            <a:off x="6492240" y="1920240"/>
            <a:ext cx="4693615" cy="320040"/>
          </a:xfrm>
          <a:prstGeom prst="rect">
            <a:avLst/>
          </a:prstGeom>
          <a:noFill/>
          <a:ln/>
        </p:spPr>
        <p:txBody>
          <a:bodyPr wrap="square" rtlCol="0" anchor="ctr"/>
          <a:lstStyle/>
          <a:p>
            <a:pPr indent="0" marL="0">
              <a:buNone/>
            </a:pPr>
            <a:r>
              <a:rPr lang="en-US" sz="1350" b="1" dirty="0">
                <a:solidFill>
                  <a:srgbClr val="0284C7"/>
                </a:solidFill>
                <a:latin typeface="Calibri" pitchFamily="34" charset="0"/>
                <a:ea typeface="Calibri" pitchFamily="34" charset="-122"/>
                <a:cs typeface="Calibri" pitchFamily="34" charset="-120"/>
              </a:rPr>
              <a:t>PHÂN CÔNG NHIỆM VỤ &amp; ĐÓNG GÓP THÀNH VIÊN</a:t>
            </a:r>
            <a:endParaRPr lang="en-US" sz="1350" dirty="0"/>
          </a:p>
        </p:txBody>
      </p:sp>
      <p:sp>
        <p:nvSpPr>
          <p:cNvPr id="19" name="Shape 17"/>
          <p:cNvSpPr/>
          <p:nvPr/>
        </p:nvSpPr>
        <p:spPr>
          <a:xfrm>
            <a:off x="6492240" y="2423160"/>
            <a:ext cx="4693615" cy="1005840"/>
          </a:xfrm>
          <a:prstGeom prst="roundRect">
            <a:avLst>
              <a:gd name="adj" fmla="val 4545"/>
            </a:avLst>
          </a:prstGeom>
          <a:solidFill>
            <a:srgbClr val="F1F5F9"/>
          </a:solidFill>
          <a:ln w="12700">
            <a:solidFill>
              <a:srgbClr val="CBD5E1"/>
            </a:solidFill>
            <a:prstDash val="solid"/>
          </a:ln>
        </p:spPr>
      </p:sp>
      <p:sp>
        <p:nvSpPr>
          <p:cNvPr id="20" name="Text 18"/>
          <p:cNvSpPr/>
          <p:nvPr/>
        </p:nvSpPr>
        <p:spPr>
          <a:xfrm>
            <a:off x="6629400" y="2514600"/>
            <a:ext cx="3200400" cy="228600"/>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Nguyễn Công Đức (Trưởng nhóm — Lead)</a:t>
            </a:r>
            <a:endParaRPr lang="en-US" sz="1100" dirty="0"/>
          </a:p>
        </p:txBody>
      </p:sp>
      <p:sp>
        <p:nvSpPr>
          <p:cNvPr id="21" name="Text 19"/>
          <p:cNvSpPr/>
          <p:nvPr/>
        </p:nvSpPr>
        <p:spPr>
          <a:xfrm>
            <a:off x="9692640" y="2514600"/>
            <a:ext cx="1371600" cy="228600"/>
          </a:xfrm>
          <a:prstGeom prst="rect">
            <a:avLst/>
          </a:prstGeom>
          <a:noFill/>
          <a:ln/>
        </p:spPr>
        <p:txBody>
          <a:bodyPr wrap="square" rtlCol="0" anchor="ctr"/>
          <a:lstStyle/>
          <a:p>
            <a:pPr algn="r" indent="0" marL="0">
              <a:buNone/>
            </a:pPr>
            <a:r>
              <a:rPr lang="en-US" sz="1050" b="1" dirty="0">
                <a:solidFill>
                  <a:srgbClr val="0284C7"/>
                </a:solidFill>
                <a:latin typeface="Calibri" pitchFamily="34" charset="0"/>
                <a:ea typeface="Calibri" pitchFamily="34" charset="-122"/>
                <a:cs typeface="Calibri" pitchFamily="34" charset="-120"/>
              </a:rPr>
              <a:t>Đóng góp: 100%</a:t>
            </a:r>
            <a:endParaRPr lang="en-US" sz="1050" dirty="0"/>
          </a:p>
        </p:txBody>
      </p:sp>
      <p:sp>
        <p:nvSpPr>
          <p:cNvPr id="22" name="Text 20"/>
          <p:cNvSpPr/>
          <p:nvPr/>
        </p:nvSpPr>
        <p:spPr>
          <a:xfrm>
            <a:off x="6629400" y="2770632"/>
            <a:ext cx="4389120" cy="594360"/>
          </a:xfrm>
          <a:prstGeom prst="rect">
            <a:avLst/>
          </a:prstGeom>
          <a:noFill/>
          <a:ln/>
        </p:spPr>
        <p:txBody>
          <a:bodyPr wrap="square" rtlCol="0" anchor="ctr"/>
          <a:lstStyle/>
          <a:p>
            <a:pPr indent="0" marL="0">
              <a:lnSpc>
                <a:spcPts val="1500"/>
              </a:lnSpc>
              <a:buNone/>
            </a:pPr>
            <a:r>
              <a:rPr lang="en-US" sz="1000" dirty="0">
                <a:solidFill>
                  <a:srgbClr val="64748B"/>
                </a:solidFill>
                <a:latin typeface="Calibri" pitchFamily="34" charset="0"/>
                <a:ea typeface="Calibri" pitchFamily="34" charset="-122"/>
                <a:cs typeface="Calibri" pitchFamily="34" charset="-120"/>
              </a:rPr>
              <a:t>Chịu trách nhiệm kiến trúc tổng thể, hạ tầng Arch Linux, Rootless Docker, mạng Zero-Trust và bộ kịch bản IaC.</a:t>
            </a:r>
            <a:endParaRPr lang="en-US" sz="1000" dirty="0"/>
          </a:p>
        </p:txBody>
      </p:sp>
      <p:sp>
        <p:nvSpPr>
          <p:cNvPr id="23" name="Shape 21"/>
          <p:cNvSpPr/>
          <p:nvPr/>
        </p:nvSpPr>
        <p:spPr>
          <a:xfrm>
            <a:off x="6492240" y="3566160"/>
            <a:ext cx="4693615" cy="1005840"/>
          </a:xfrm>
          <a:prstGeom prst="roundRect">
            <a:avLst>
              <a:gd name="adj" fmla="val 4545"/>
            </a:avLst>
          </a:prstGeom>
          <a:solidFill>
            <a:srgbClr val="F1F5F9"/>
          </a:solidFill>
          <a:ln w="12700">
            <a:solidFill>
              <a:srgbClr val="CBD5E1"/>
            </a:solidFill>
            <a:prstDash val="solid"/>
          </a:ln>
        </p:spPr>
      </p:sp>
      <p:sp>
        <p:nvSpPr>
          <p:cNvPr id="24" name="Text 22"/>
          <p:cNvSpPr/>
          <p:nvPr/>
        </p:nvSpPr>
        <p:spPr>
          <a:xfrm>
            <a:off x="6629400" y="3657600"/>
            <a:ext cx="3200400" cy="228600"/>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Nguyễn Tùng Dương (Thành viên)</a:t>
            </a:r>
            <a:endParaRPr lang="en-US" sz="1100" dirty="0"/>
          </a:p>
        </p:txBody>
      </p:sp>
      <p:sp>
        <p:nvSpPr>
          <p:cNvPr id="25" name="Text 23"/>
          <p:cNvSpPr/>
          <p:nvPr/>
        </p:nvSpPr>
        <p:spPr>
          <a:xfrm>
            <a:off x="9692640" y="3657600"/>
            <a:ext cx="1371600" cy="228600"/>
          </a:xfrm>
          <a:prstGeom prst="rect">
            <a:avLst/>
          </a:prstGeom>
          <a:noFill/>
          <a:ln/>
        </p:spPr>
        <p:txBody>
          <a:bodyPr wrap="square" rtlCol="0" anchor="ctr"/>
          <a:lstStyle/>
          <a:p>
            <a:pPr algn="r" indent="0" marL="0">
              <a:buNone/>
            </a:pPr>
            <a:r>
              <a:rPr lang="en-US" sz="1050" b="1" dirty="0">
                <a:solidFill>
                  <a:srgbClr val="0284C7"/>
                </a:solidFill>
                <a:latin typeface="Calibri" pitchFamily="34" charset="0"/>
                <a:ea typeface="Calibri" pitchFamily="34" charset="-122"/>
                <a:cs typeface="Calibri" pitchFamily="34" charset="-120"/>
              </a:rPr>
              <a:t>Đóng góp: 100%</a:t>
            </a:r>
            <a:endParaRPr lang="en-US" sz="1050" dirty="0"/>
          </a:p>
        </p:txBody>
      </p:sp>
      <p:sp>
        <p:nvSpPr>
          <p:cNvPr id="26" name="Text 24"/>
          <p:cNvSpPr/>
          <p:nvPr/>
        </p:nvSpPr>
        <p:spPr>
          <a:xfrm>
            <a:off x="6629400" y="3913632"/>
            <a:ext cx="4389120" cy="594360"/>
          </a:xfrm>
          <a:prstGeom prst="rect">
            <a:avLst/>
          </a:prstGeom>
          <a:noFill/>
          <a:ln/>
        </p:spPr>
        <p:txBody>
          <a:bodyPr wrap="square" rtlCol="0" anchor="ctr"/>
          <a:lstStyle/>
          <a:p>
            <a:pPr indent="0" marL="0">
              <a:lnSpc>
                <a:spcPts val="1500"/>
              </a:lnSpc>
              <a:buNone/>
            </a:pPr>
            <a:r>
              <a:rPr lang="en-US" sz="1000" dirty="0">
                <a:solidFill>
                  <a:srgbClr val="64748B"/>
                </a:solidFill>
                <a:latin typeface="Calibri" pitchFamily="34" charset="0"/>
                <a:ea typeface="Calibri" pitchFamily="34" charset="-122"/>
                <a:cs typeface="Calibri" pitchFamily="34" charset="-120"/>
              </a:rPr>
              <a:t>Chịu trách nhiệm triển khai nút Ubuntu Server baseline, chuẩn hóa cấu hình đối chứng và kiểm thử an ninh mạng.</a:t>
            </a:r>
            <a:endParaRPr lang="en-US" sz="1000" dirty="0"/>
          </a:p>
        </p:txBody>
      </p:sp>
      <p:sp>
        <p:nvSpPr>
          <p:cNvPr id="27" name="Shape 25"/>
          <p:cNvSpPr/>
          <p:nvPr/>
        </p:nvSpPr>
        <p:spPr>
          <a:xfrm>
            <a:off x="6492240" y="4709160"/>
            <a:ext cx="4693615" cy="1005840"/>
          </a:xfrm>
          <a:prstGeom prst="roundRect">
            <a:avLst>
              <a:gd name="adj" fmla="val 4545"/>
            </a:avLst>
          </a:prstGeom>
          <a:solidFill>
            <a:srgbClr val="F1F5F9"/>
          </a:solidFill>
          <a:ln w="12700">
            <a:solidFill>
              <a:srgbClr val="CBD5E1"/>
            </a:solidFill>
            <a:prstDash val="solid"/>
          </a:ln>
        </p:spPr>
      </p:sp>
      <p:sp>
        <p:nvSpPr>
          <p:cNvPr id="28" name="Text 26"/>
          <p:cNvSpPr/>
          <p:nvPr/>
        </p:nvSpPr>
        <p:spPr>
          <a:xfrm>
            <a:off x="6629400" y="4800600"/>
            <a:ext cx="3200400" cy="228600"/>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Nguyễn Văn C (Thành viên)</a:t>
            </a:r>
            <a:endParaRPr lang="en-US" sz="1100" dirty="0"/>
          </a:p>
        </p:txBody>
      </p:sp>
      <p:sp>
        <p:nvSpPr>
          <p:cNvPr id="29" name="Text 27"/>
          <p:cNvSpPr/>
          <p:nvPr/>
        </p:nvSpPr>
        <p:spPr>
          <a:xfrm>
            <a:off x="9692640" y="4800600"/>
            <a:ext cx="1371600" cy="228600"/>
          </a:xfrm>
          <a:prstGeom prst="rect">
            <a:avLst/>
          </a:prstGeom>
          <a:noFill/>
          <a:ln/>
        </p:spPr>
        <p:txBody>
          <a:bodyPr wrap="square" rtlCol="0" anchor="ctr"/>
          <a:lstStyle/>
          <a:p>
            <a:pPr algn="r" indent="0" marL="0">
              <a:buNone/>
            </a:pPr>
            <a:r>
              <a:rPr lang="en-US" sz="1050" b="1" dirty="0">
                <a:solidFill>
                  <a:srgbClr val="0284C7"/>
                </a:solidFill>
                <a:latin typeface="Calibri" pitchFamily="34" charset="0"/>
                <a:ea typeface="Calibri" pitchFamily="34" charset="-122"/>
                <a:cs typeface="Calibri" pitchFamily="34" charset="-120"/>
              </a:rPr>
              <a:t>Đóng góp: 100%</a:t>
            </a:r>
            <a:endParaRPr lang="en-US" sz="1050" dirty="0"/>
          </a:p>
        </p:txBody>
      </p:sp>
      <p:sp>
        <p:nvSpPr>
          <p:cNvPr id="30" name="Text 28"/>
          <p:cNvSpPr/>
          <p:nvPr/>
        </p:nvSpPr>
        <p:spPr>
          <a:xfrm>
            <a:off x="6629400" y="5056632"/>
            <a:ext cx="4389120" cy="594360"/>
          </a:xfrm>
          <a:prstGeom prst="rect">
            <a:avLst/>
          </a:prstGeom>
          <a:noFill/>
          <a:ln/>
        </p:spPr>
        <p:txBody>
          <a:bodyPr wrap="square" rtlCol="0" anchor="ctr"/>
          <a:lstStyle/>
          <a:p>
            <a:pPr indent="0" marL="0">
              <a:lnSpc>
                <a:spcPts val="1500"/>
              </a:lnSpc>
              <a:buNone/>
            </a:pPr>
            <a:r>
              <a:rPr lang="en-US" sz="1000" dirty="0">
                <a:solidFill>
                  <a:srgbClr val="64748B"/>
                </a:solidFill>
                <a:latin typeface="Calibri" pitchFamily="34" charset="0"/>
                <a:ea typeface="Calibri" pitchFamily="34" charset="-122"/>
                <a:cs typeface="Calibri" pitchFamily="34" charset="-120"/>
              </a:rPr>
              <a:t>Chịu trách nhiệm thiết lập Prometheus, Grafana, thực hiện đo lường tải công việc và thu thập số liệu benchmark.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84048"/>
            <a:ext cx="2286000" cy="292608"/>
          </a:xfrm>
          <a:prstGeom prst="roundRect">
            <a:avLst>
              <a:gd name="adj" fmla="val 25000"/>
            </a:avLst>
          </a:prstGeom>
          <a:solidFill>
            <a:srgbClr val="0284C7"/>
          </a:solidFill>
          <a:ln w="12700">
            <a:solidFill>
              <a:srgbClr val="0284C7"/>
            </a:solidFill>
            <a:prstDash val="solid"/>
          </a:ln>
        </p:spPr>
      </p:sp>
      <p:sp>
        <p:nvSpPr>
          <p:cNvPr id="3" name="Text 1"/>
          <p:cNvSpPr/>
          <p:nvPr/>
        </p:nvSpPr>
        <p:spPr>
          <a:xfrm>
            <a:off x="731520" y="384048"/>
            <a:ext cx="22860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HƯỚNG PHÁT TRIỂN &amp; KẾT LUẬN</a:t>
            </a:r>
            <a:endParaRPr lang="en-US" sz="1000" dirty="0"/>
          </a:p>
        </p:txBody>
      </p:sp>
      <p:sp>
        <p:nvSpPr>
          <p:cNvPr id="4" name="Text 2"/>
          <p:cNvSpPr/>
          <p:nvPr/>
        </p:nvSpPr>
        <p:spPr>
          <a:xfrm>
            <a:off x="731520" y="731520"/>
            <a:ext cx="10728655" cy="438912"/>
          </a:xfrm>
          <a:prstGeom prst="rect">
            <a:avLst/>
          </a:prstGeom>
          <a:noFill/>
          <a:ln/>
        </p:spPr>
        <p:txBody>
          <a:bodyPr wrap="square"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11. HƯỚNG PHÁT TRIỂN &amp; PHIÊN HỎI ĐÁP</a:t>
            </a:r>
            <a:endParaRPr lang="en-US" sz="2100" dirty="0"/>
          </a:p>
        </p:txBody>
      </p:sp>
      <p:sp>
        <p:nvSpPr>
          <p:cNvPr id="5" name="Text 3"/>
          <p:cNvSpPr/>
          <p:nvPr/>
        </p:nvSpPr>
        <p:spPr>
          <a:xfrm>
            <a:off x="731520" y="1170432"/>
            <a:ext cx="10728655" cy="27432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Định hướng mở rộng kiến trúc trong tương lai và lời cảm ơn Hội đồng</a:t>
            </a:r>
            <a:endParaRPr lang="en-US" sz="1250" dirty="0"/>
          </a:p>
        </p:txBody>
      </p:sp>
      <p:sp>
        <p:nvSpPr>
          <p:cNvPr id="6" name="Shape 4"/>
          <p:cNvSpPr/>
          <p:nvPr/>
        </p:nvSpPr>
        <p:spPr>
          <a:xfrm>
            <a:off x="731520" y="1481328"/>
            <a:ext cx="10728655" cy="0"/>
          </a:xfrm>
          <a:prstGeom prst="line">
            <a:avLst/>
          </a:prstGeom>
          <a:noFill/>
          <a:ln w="12700">
            <a:solidFill>
              <a:srgbClr val="CBD5E1"/>
            </a:solidFill>
            <a:prstDash val="solid"/>
          </a:ln>
        </p:spPr>
      </p:sp>
      <p:sp>
        <p:nvSpPr>
          <p:cNvPr id="7" name="Shape 5"/>
          <p:cNvSpPr/>
          <p:nvPr/>
        </p:nvSpPr>
        <p:spPr>
          <a:xfrm>
            <a:off x="731520" y="6291072"/>
            <a:ext cx="10728655" cy="0"/>
          </a:xfrm>
          <a:prstGeom prst="line">
            <a:avLst/>
          </a:prstGeom>
          <a:noFill/>
          <a:ln w="12700">
            <a:solidFill>
              <a:srgbClr val="E2E8F0"/>
            </a:solidFill>
            <a:prstDash val="solid"/>
          </a:ln>
        </p:spPr>
      </p:sp>
      <p:sp>
        <p:nvSpPr>
          <p:cNvPr id="8" name="Text 6"/>
          <p:cNvSpPr/>
          <p:nvPr/>
        </p:nvSpPr>
        <p:spPr>
          <a:xfrm>
            <a:off x="731520" y="6355080"/>
            <a:ext cx="822960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VKU — Đồ án Linux &amp; Open Source: MLOps Pipeline | Nhóm: Nguyễn Công Đức, Nguyễn Tùng Dương, Nguyễn Văn C</a:t>
            </a:r>
            <a:endParaRPr lang="en-US" sz="950" dirty="0"/>
          </a:p>
        </p:txBody>
      </p:sp>
      <p:sp>
        <p:nvSpPr>
          <p:cNvPr id="9" name="Text 7"/>
          <p:cNvSpPr/>
          <p:nvPr/>
        </p:nvSpPr>
        <p:spPr>
          <a:xfrm>
            <a:off x="9601200" y="6355080"/>
            <a:ext cx="1858975" cy="256032"/>
          </a:xfrm>
          <a:prstGeom prst="rect">
            <a:avLst/>
          </a:prstGeom>
          <a:noFill/>
          <a:ln/>
        </p:spPr>
        <p:txBody>
          <a:bodyPr wrap="square" rtlCol="0" anchor="ctr"/>
          <a:lstStyle/>
          <a:p>
            <a:pPr algn="r" indent="0" marL="0">
              <a:buNone/>
            </a:pPr>
            <a:r>
              <a:rPr lang="en-US" sz="1000" b="1" dirty="0">
                <a:solidFill>
                  <a:srgbClr val="0284C7"/>
                </a:solidFill>
                <a:latin typeface="Calibri" pitchFamily="34" charset="0"/>
                <a:ea typeface="Calibri" pitchFamily="34" charset="-122"/>
                <a:cs typeface="Calibri" pitchFamily="34" charset="-120"/>
              </a:rPr>
              <a:t>Slide 12 / 12</a:t>
            </a:r>
            <a:endParaRPr lang="en-US" sz="1000" dirty="0"/>
          </a:p>
        </p:txBody>
      </p:sp>
      <p:sp>
        <p:nvSpPr>
          <p:cNvPr id="10" name="Shape 8"/>
          <p:cNvSpPr/>
          <p:nvPr/>
        </p:nvSpPr>
        <p:spPr>
          <a:xfrm>
            <a:off x="731520" y="1691640"/>
            <a:ext cx="5242255" cy="4389120"/>
          </a:xfrm>
          <a:prstGeom prst="roundRect">
            <a:avLst>
              <a:gd name="adj" fmla="val 1667"/>
            </a:avLst>
          </a:prstGeom>
          <a:solidFill>
            <a:srgbClr val="FFFFFF"/>
          </a:solidFill>
          <a:ln w="19050">
            <a:solidFill>
              <a:srgbClr val="0284C7"/>
            </a:solidFill>
            <a:prstDash val="solid"/>
          </a:ln>
        </p:spPr>
      </p:sp>
      <p:sp>
        <p:nvSpPr>
          <p:cNvPr id="11" name="Text 9"/>
          <p:cNvSpPr/>
          <p:nvPr/>
        </p:nvSpPr>
        <p:spPr>
          <a:xfrm>
            <a:off x="1005840" y="1920240"/>
            <a:ext cx="4693615" cy="320040"/>
          </a:xfrm>
          <a:prstGeom prst="rect">
            <a:avLst/>
          </a:prstGeom>
          <a:noFill/>
          <a:ln/>
        </p:spPr>
        <p:txBody>
          <a:bodyPr wrap="square" rtlCol="0" anchor="ctr"/>
          <a:lstStyle/>
          <a:p>
            <a:pPr indent="0" marL="0">
              <a:buNone/>
            </a:pPr>
            <a:r>
              <a:rPr lang="en-US" sz="1350" b="1" dirty="0">
                <a:solidFill>
                  <a:srgbClr val="0284C7"/>
                </a:solidFill>
                <a:latin typeface="Calibri" pitchFamily="34" charset="0"/>
                <a:ea typeface="Calibri" pitchFamily="34" charset="-122"/>
                <a:cs typeface="Calibri" pitchFamily="34" charset="-120"/>
              </a:rPr>
              <a:t>ĐỊNH HƯỚNG NÂNG CẤP HẠ TẦNG TƯƠNG LAI</a:t>
            </a:r>
            <a:endParaRPr lang="en-US" sz="1350" dirty="0"/>
          </a:p>
        </p:txBody>
      </p:sp>
      <p:sp>
        <p:nvSpPr>
          <p:cNvPr id="12" name="Text 10"/>
          <p:cNvSpPr/>
          <p:nvPr/>
        </p:nvSpPr>
        <p:spPr>
          <a:xfrm>
            <a:off x="1005840" y="23774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1. Rootless k3s Cluster: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Nâng cấp kiến trúc từ máy chủ đơn lẻ lên cụm phân tán đa máy chủ sử dụng bản phân phối Kubernetes unprivileged siêu nhẹ.</a:t>
            </a:r>
            <a:endParaRPr lang="en-US" sz="1100" dirty="0"/>
          </a:p>
        </p:txBody>
      </p:sp>
      <p:sp>
        <p:nvSpPr>
          <p:cNvPr id="13" name="Text 11"/>
          <p:cNvSpPr/>
          <p:nvPr/>
        </p:nvSpPr>
        <p:spPr>
          <a:xfrm>
            <a:off x="1005840" y="32918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2. Mutual TLS (mTLS):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Tích hợp Service Mesh Linkerd mã hóa toàn bộ lưu lượng giữa các vi dịch vụ bằng chứng chỉ số tự động xoay vòng.</a:t>
            </a:r>
            <a:endParaRPr lang="en-US" sz="1100" dirty="0"/>
          </a:p>
        </p:txBody>
      </p:sp>
      <p:sp>
        <p:nvSpPr>
          <p:cNvPr id="14" name="Text 12"/>
          <p:cNvSpPr/>
          <p:nvPr/>
        </p:nvSpPr>
        <p:spPr>
          <a:xfrm>
            <a:off x="1005840" y="42062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3. Runtime Security với Falco eBPF: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Khai thác công nghệ eBPF để giám sát các lời gọi hệ thống (Syscalls) ở tầng kernel, phát hiện xâm nhập tức thì.</a:t>
            </a:r>
            <a:endParaRPr lang="en-US" sz="1100" dirty="0"/>
          </a:p>
        </p:txBody>
      </p:sp>
      <p:sp>
        <p:nvSpPr>
          <p:cNvPr id="15" name="Text 13"/>
          <p:cNvSpPr/>
          <p:nvPr/>
        </p:nvSpPr>
        <p:spPr>
          <a:xfrm>
            <a:off x="1005840" y="5120640"/>
            <a:ext cx="4693615" cy="822960"/>
          </a:xfrm>
          <a:prstGeom prst="rect">
            <a:avLst/>
          </a:prstGeom>
          <a:noFill/>
          <a:ln/>
        </p:spPr>
        <p:txBody>
          <a:bodyPr wrap="square" rtlCol="0" anchor="t"/>
          <a:lstStyle/>
          <a:p>
            <a:pPr indent="0" marL="0">
              <a:lnSpc>
                <a:spcPts val="1600"/>
              </a:lnSpc>
              <a:buNone/>
            </a:pPr>
            <a:r>
              <a:rPr lang="en-US" sz="1100" b="1" dirty="0">
                <a:solidFill>
                  <a:srgbClr val="0284C7"/>
                </a:solidFill>
              </a:rPr>
              <a:t>4. DevSecOps CI/CD Pipeline: </a:t>
            </a:r>
            <a:pPr indent="0" marL="0">
              <a:lnSpc>
                <a:spcPts val="1600"/>
              </a:lnSpc>
              <a:buNone/>
            </a:pPr>
            <a:r>
              <a:rPr lang="en-US" sz="1050" dirty="0">
                <a:solidFill>
                  <a:srgbClr val="1E293B"/>
                </a:solidFill>
                <a:latin typeface="Calibri" pitchFamily="34" charset="0"/>
                <a:ea typeface="Calibri" pitchFamily="34" charset="-122"/>
                <a:cs typeface="Calibri" pitchFamily="34" charset="-120"/>
              </a:rPr>
              <a:t>Tích hợp công cụ quét lỗ hổng Trivy vào GitHub Actions để tự động kiểm định CVE trước khi đóng gói image.</a:t>
            </a:r>
            <a:endParaRPr lang="en-US" sz="1100" dirty="0"/>
          </a:p>
        </p:txBody>
      </p:sp>
      <p:sp>
        <p:nvSpPr>
          <p:cNvPr id="16" name="Shape 14"/>
          <p:cNvSpPr/>
          <p:nvPr/>
        </p:nvSpPr>
        <p:spPr>
          <a:xfrm>
            <a:off x="6217920" y="1691640"/>
            <a:ext cx="5242255" cy="4389120"/>
          </a:xfrm>
          <a:prstGeom prst="roundRect">
            <a:avLst>
              <a:gd name="adj" fmla="val 1667"/>
            </a:avLst>
          </a:prstGeom>
          <a:solidFill>
            <a:srgbClr val="FFFFFF"/>
          </a:solidFill>
          <a:ln w="19050">
            <a:solidFill>
              <a:srgbClr val="BA141A"/>
            </a:solidFill>
            <a:prstDash val="solid"/>
          </a:ln>
        </p:spPr>
      </p:sp>
      <p:sp>
        <p:nvSpPr>
          <p:cNvPr id="17" name="Text 15"/>
          <p:cNvSpPr/>
          <p:nvPr/>
        </p:nvSpPr>
        <p:spPr>
          <a:xfrm>
            <a:off x="6492240" y="1965960"/>
            <a:ext cx="4693615" cy="320040"/>
          </a:xfrm>
          <a:prstGeom prst="rect">
            <a:avLst/>
          </a:prstGeom>
          <a:noFill/>
          <a:ln/>
        </p:spPr>
        <p:txBody>
          <a:bodyPr wrap="square" rtlCol="0" anchor="ctr"/>
          <a:lstStyle/>
          <a:p>
            <a:pPr algn="ctr" indent="0" marL="0">
              <a:buNone/>
            </a:pPr>
            <a:r>
              <a:rPr lang="en-US" sz="1600" b="1" dirty="0">
                <a:solidFill>
                  <a:srgbClr val="BA141A"/>
                </a:solidFill>
                <a:latin typeface="Calibri" pitchFamily="34" charset="0"/>
                <a:ea typeface="Calibri" pitchFamily="34" charset="-122"/>
                <a:cs typeface="Calibri" pitchFamily="34" charset="-120"/>
              </a:rPr>
              <a:t>LỜI CẢM ƠN</a:t>
            </a:r>
            <a:endParaRPr lang="en-US" sz="1600" dirty="0"/>
          </a:p>
        </p:txBody>
      </p:sp>
      <p:sp>
        <p:nvSpPr>
          <p:cNvPr id="18" name="Text 16"/>
          <p:cNvSpPr/>
          <p:nvPr/>
        </p:nvSpPr>
        <p:spPr>
          <a:xfrm>
            <a:off x="6583680" y="2423160"/>
            <a:ext cx="4510735" cy="1143000"/>
          </a:xfrm>
          <a:prstGeom prst="rect">
            <a:avLst/>
          </a:prstGeom>
          <a:noFill/>
          <a:ln/>
        </p:spPr>
        <p:txBody>
          <a:bodyPr wrap="square" rtlCol="0" anchor="ctr"/>
          <a:lstStyle/>
          <a:p>
            <a:pPr algn="ctr" indent="0" marL="0">
              <a:lnSpc>
                <a:spcPts val="2000"/>
              </a:lnSpc>
              <a:buNone/>
            </a:pPr>
            <a:r>
              <a:rPr lang="en-US" sz="1200" i="1" dirty="0">
                <a:solidFill>
                  <a:srgbClr val="1E293B"/>
                </a:solidFill>
                <a:latin typeface="Calibri" pitchFamily="34" charset="0"/>
                <a:ea typeface="Calibri" pitchFamily="34" charset="-122"/>
                <a:cs typeface="Calibri" pitchFamily="34" charset="-120"/>
              </a:rPr>
              <a:t>Nhóm tác giả xin chân thành cảm ơn TS. Hoàng Hữu Đức và Quý Thầy Cô trong Hội đồng Khoa học máy tính VKU đã tận tình hướng dẫn, định hướng và tạo mọi điều kiện thuận lợi nhất để nhóm hoàn thành xuất sắc đề tài này!</a:t>
            </a:r>
            <a:endParaRPr lang="en-US" sz="1200" dirty="0"/>
          </a:p>
        </p:txBody>
      </p:sp>
      <p:sp>
        <p:nvSpPr>
          <p:cNvPr id="19" name="Shape 17"/>
          <p:cNvSpPr/>
          <p:nvPr/>
        </p:nvSpPr>
        <p:spPr>
          <a:xfrm>
            <a:off x="6583680" y="3794760"/>
            <a:ext cx="4510735" cy="2011680"/>
          </a:xfrm>
          <a:prstGeom prst="roundRect">
            <a:avLst>
              <a:gd name="adj" fmla="val 3636"/>
            </a:avLst>
          </a:prstGeom>
          <a:solidFill>
            <a:srgbClr val="0B192C"/>
          </a:solidFill>
          <a:ln w="25400">
            <a:solidFill>
              <a:srgbClr val="F59E0B"/>
            </a:solidFill>
            <a:prstDash val="solid"/>
          </a:ln>
        </p:spPr>
      </p:sp>
      <p:sp>
        <p:nvSpPr>
          <p:cNvPr id="20" name="Text 18"/>
          <p:cNvSpPr/>
          <p:nvPr/>
        </p:nvSpPr>
        <p:spPr>
          <a:xfrm>
            <a:off x="6583680" y="4023360"/>
            <a:ext cx="4510735" cy="457200"/>
          </a:xfrm>
          <a:prstGeom prst="rect">
            <a:avLst/>
          </a:prstGeom>
          <a:noFill/>
          <a:ln/>
        </p:spPr>
        <p:txBody>
          <a:bodyPr wrap="square" rtlCol="0" anchor="ctr"/>
          <a:lstStyle/>
          <a:p>
            <a:pPr algn="ctr" indent="0" marL="0">
              <a:buNone/>
            </a:pPr>
            <a:r>
              <a:rPr lang="en-US" sz="2600" b="1" dirty="0">
                <a:solidFill>
                  <a:srgbClr val="F59E0B"/>
                </a:solidFill>
                <a:latin typeface="Calibri" pitchFamily="34" charset="0"/>
                <a:ea typeface="Calibri" pitchFamily="34" charset="-122"/>
                <a:cs typeface="Calibri" pitchFamily="34" charset="-120"/>
              </a:rPr>
              <a:t>Q &amp; A</a:t>
            </a:r>
            <a:endParaRPr lang="en-US" sz="2600" dirty="0"/>
          </a:p>
        </p:txBody>
      </p:sp>
      <p:sp>
        <p:nvSpPr>
          <p:cNvPr id="21" name="Text 19"/>
          <p:cNvSpPr/>
          <p:nvPr/>
        </p:nvSpPr>
        <p:spPr>
          <a:xfrm>
            <a:off x="6583680" y="4572000"/>
            <a:ext cx="4510735" cy="914400"/>
          </a:xfrm>
          <a:prstGeom prst="rect">
            <a:avLst/>
          </a:prstGeom>
          <a:noFill/>
          <a:ln/>
        </p:spPr>
        <p:txBody>
          <a:bodyPr wrap="square" rtlCol="0" anchor="ctr"/>
          <a:lstStyle/>
          <a:p>
            <a:pPr algn="ctr" indent="0" marL="0">
              <a:lnSpc>
                <a:spcPts val="2200"/>
              </a:lnSpc>
              <a:buNone/>
            </a:pPr>
            <a:r>
              <a:rPr lang="en-US" sz="1400" b="1" dirty="0">
                <a:solidFill>
                  <a:srgbClr val="FFFFFF"/>
                </a:solidFill>
                <a:latin typeface="Calibri" pitchFamily="34" charset="0"/>
                <a:ea typeface="Calibri" pitchFamily="34" charset="-122"/>
                <a:cs typeface="Calibri" pitchFamily="34" charset="-120"/>
              </a:rPr>
              <a:t>KÍNH MỜI QUÝ THẦY CÔ VÀ HỘI ĐỒNG</a:t>
            </a:r>
            <a:endParaRPr lang="en-US" sz="1400" dirty="0"/>
          </a:p>
          <a:p>
            <a:pPr algn="ctr" indent="0" marL="0">
              <a:lnSpc>
                <a:spcPts val="2200"/>
              </a:lnSpc>
              <a:buNone/>
            </a:pPr>
            <a:r>
              <a:rPr lang="en-US" sz="1400" b="1" dirty="0">
                <a:solidFill>
                  <a:srgbClr val="FFFFFF"/>
                </a:solidFill>
                <a:latin typeface="Calibri" pitchFamily="34" charset="0"/>
                <a:ea typeface="Calibri" pitchFamily="34" charset="-122"/>
                <a:cs typeface="Calibri" pitchFamily="34" charset="-120"/>
              </a:rPr>
              <a:t>ĐẶT CÂU HỎI CHẤT VẤN!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2026-10-20T01:27:34Z</dcterms:created>
  <dcterms:modified xsi:type="dcterms:W3CDTF">2026-10-20T01:27:34Z</dcterms:modified>
</cp:coreProperties>
</file>