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6.xml" ContentType="application/vnd.openxmlformats-officedocument.presentationml.slide+xml"/>
  <Override PartName="/ppt/slides/slide12.xml" ContentType="application/vnd.openxmlformats-officedocument.presentationml.slide+xml"/>
  <Override PartName="/ppt/notesSlides/notesSlide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10.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en-US" sz="1800" b="0" u="none" strike="noStrike">
                <a:solidFill>
                  <a:schemeClr val="dk1"/>
                </a:solidFill>
                <a:effectLst/>
                <a:uFillTx/>
                <a:latin typeface="Calibri"/>
              </a:rPr>
              <a:t>Click to move the slide</a:t>
            </a:r>
            <a:endParaRPr lang="en-US" sz="1800" b="0" u="none" strike="noStrike">
              <a:solidFill>
                <a:schemeClr val="dk1"/>
              </a:solidFill>
              <a:effectLst/>
              <a:uFillTx/>
              <a:latin typeface="Calibri"/>
            </a:endParaRPr>
          </a:p>
        </p:txBody>
      </p:sp>
      <p:sp>
        <p:nvSpPr>
          <p:cNvPr id="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Nimbus Sans"/>
              </a:rPr>
              <a:t>Click to edit the notes format</a:t>
            </a:r>
            <a:endParaRPr lang="en-US" sz="2000" b="0" u="none" strike="noStrike">
              <a:solidFill>
                <a:srgbClr val="000000"/>
              </a:solidFill>
              <a:effectLst/>
              <a:uFillTx/>
              <a:latin typeface="Nimbus Sans"/>
            </a:endParaRPr>
          </a:p>
        </p:txBody>
      </p:sp>
      <p:sp>
        <p:nvSpPr>
          <p:cNvPr id="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Nimbus Roman"/>
              </a:rPr>
              <a:t> </a:t>
            </a:r>
            <a:endParaRPr lang="en-US" sz="1400" b="0" u="none" strike="noStrike">
              <a:solidFill>
                <a:srgbClr val="000000"/>
              </a:solidFill>
              <a:effectLst/>
              <a:uFillTx/>
              <a:latin typeface="Nimbus Roman"/>
            </a:endParaRPr>
          </a:p>
        </p:txBody>
      </p:sp>
      <p:sp>
        <p:nvSpPr>
          <p:cNvPr id="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Nimbus Roman"/>
              </a:defRPr>
            </a:lvl1pPr>
          </a:lstStyle>
          <a:p>
            <a:pPr indent="0" algn="r">
              <a:buNone/>
            </a:pPr>
            <a:r>
              <a:rPr lang="en-US" sz="1400" b="0" u="none" strike="noStrike">
                <a:solidFill>
                  <a:srgbClr val="000000"/>
                </a:solidFill>
                <a:effectLst/>
                <a:uFillTx/>
                <a:latin typeface="Nimbus Roman"/>
              </a:rPr>
              <a:t> </a:t>
            </a:r>
            <a:endParaRPr lang="en-US" sz="1400" b="0" u="none" strike="noStrike">
              <a:solidFill>
                <a:srgbClr val="000000"/>
              </a:solidFill>
              <a:effectLst/>
              <a:uFillTx/>
              <a:latin typeface="Nimbus Roman"/>
            </a:endParaRPr>
          </a:p>
        </p:txBody>
      </p:sp>
      <p:sp>
        <p:nvSpPr>
          <p:cNvPr id="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Nimbus Roman"/>
              </a:defRPr>
            </a:lvl1pPr>
          </a:lstStyle>
          <a:p>
            <a:pPr indent="0" algn="l">
              <a:buNone/>
            </a:pPr>
            <a:r>
              <a:rPr lang="en-US" sz="1400" b="0" u="none" strike="noStrike">
                <a:solidFill>
                  <a:srgbClr val="000000"/>
                </a:solidFill>
                <a:effectLst/>
                <a:uFillTx/>
                <a:latin typeface="Nimbus Roman"/>
              </a:rPr>
              <a:t> </a:t>
            </a:r>
            <a:endParaRPr lang="en-US" sz="1400" b="0" u="none" strike="noStrike">
              <a:solidFill>
                <a:srgbClr val="000000"/>
              </a:solidFill>
              <a:effectLst/>
              <a:uFillTx/>
              <a:latin typeface="Nimbus Roman"/>
            </a:endParaRPr>
          </a:p>
        </p:txBody>
      </p:sp>
      <p:sp>
        <p:nvSpPr>
          <p:cNvPr id="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Nimbus Roman"/>
              </a:defRPr>
            </a:lvl1pPr>
          </a:lstStyle>
          <a:p>
            <a:pPr indent="0" algn="r">
              <a:buNone/>
            </a:pPr>
            <a:fld id="{32220C7C-7CA5-4740-BEFA-88CE717506C0}" type="slidenum">
              <a:rPr lang="en-US" sz="1400" b="0" u="none" strike="noStrike">
                <a:solidFill>
                  <a:srgbClr val="000000"/>
                </a:solidFill>
                <a:effectLst/>
                <a:uFillTx/>
                <a:latin typeface="Nimbus Roman"/>
              </a:rPr>
              <a:t>1</a:t>
            </a:fld>
            <a:endParaRPr lang="en-US" sz="1400" b="0" u="none" strike="noStrike">
              <a:solidFill>
                <a:srgbClr val="000000"/>
              </a:solidFill>
              <a:effectLst/>
              <a:uFillTx/>
              <a:latin typeface="Nimbus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PlaceHolder 1"/>
          <p:cNvSpPr>
            <a:spLocks noGrp="1"/>
          </p:cNvSpPr>
          <p:nvPr>
            <p:ph type="sldImg"/>
          </p:nvPr>
        </p:nvSpPr>
        <p:spPr>
          <a:xfrm>
            <a:off x="685800" y="1143000"/>
            <a:ext cx="5486040" cy="3085920"/>
          </a:xfrm>
          <a:prstGeom prst="rect">
            <a:avLst/>
          </a:prstGeom>
          <a:ln w="0">
            <a:noFill/>
          </a:ln>
        </p:spPr>
      </p:sp>
      <p:sp>
        <p:nvSpPr>
          <p:cNvPr id="30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Nimbus Sans"/>
            </a:endParaRPr>
          </a:p>
        </p:txBody>
      </p:sp>
      <p:sp>
        <p:nvSpPr>
          <p:cNvPr id="308"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32F47FA-708B-4A62-82F0-D65D68FAC8E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Nimbus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9" name="PlaceHolder 1"/>
          <p:cNvSpPr>
            <a:spLocks noGrp="1"/>
          </p:cNvSpPr>
          <p:nvPr>
            <p:ph type="sldImg"/>
          </p:nvPr>
        </p:nvSpPr>
        <p:spPr>
          <a:xfrm>
            <a:off x="685800" y="1143000"/>
            <a:ext cx="5486040" cy="3085920"/>
          </a:xfrm>
          <a:prstGeom prst="rect">
            <a:avLst/>
          </a:prstGeom>
          <a:ln w="0">
            <a:noFill/>
          </a:ln>
        </p:spPr>
      </p:sp>
      <p:sp>
        <p:nvSpPr>
          <p:cNvPr id="31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Nimbus Sans"/>
            </a:endParaRPr>
          </a:p>
        </p:txBody>
      </p:sp>
      <p:sp>
        <p:nvSpPr>
          <p:cNvPr id="311"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0431B09-DAF5-45ED-9911-271C529C35C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Nimbus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PlaceHolder 1"/>
          <p:cNvSpPr>
            <a:spLocks noGrp="1"/>
          </p:cNvSpPr>
          <p:nvPr>
            <p:ph type="sldImg"/>
          </p:nvPr>
        </p:nvSpPr>
        <p:spPr>
          <a:xfrm>
            <a:off x="685800" y="1143000"/>
            <a:ext cx="5486040" cy="3085920"/>
          </a:xfrm>
          <a:prstGeom prst="rect">
            <a:avLst/>
          </a:prstGeom>
          <a:ln w="0">
            <a:noFill/>
          </a:ln>
        </p:spPr>
      </p:sp>
      <p:sp>
        <p:nvSpPr>
          <p:cNvPr id="31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Nimbus Sans"/>
            </a:endParaRPr>
          </a:p>
        </p:txBody>
      </p:sp>
      <p:sp>
        <p:nvSpPr>
          <p:cNvPr id="314"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9ECC433-D4F4-4DE5-B1FC-CE67CC95529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Nimbus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PlaceHolder 1"/>
          <p:cNvSpPr>
            <a:spLocks noGrp="1"/>
          </p:cNvSpPr>
          <p:nvPr>
            <p:ph type="sldImg"/>
          </p:nvPr>
        </p:nvSpPr>
        <p:spPr>
          <a:xfrm>
            <a:off x="685800" y="1143000"/>
            <a:ext cx="5486040" cy="3085920"/>
          </a:xfrm>
          <a:prstGeom prst="rect">
            <a:avLst/>
          </a:prstGeom>
          <a:ln w="0">
            <a:noFill/>
          </a:ln>
        </p:spPr>
      </p:sp>
      <p:sp>
        <p:nvSpPr>
          <p:cNvPr id="31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Nimbus Sans"/>
            </a:endParaRPr>
          </a:p>
        </p:txBody>
      </p:sp>
      <p:sp>
        <p:nvSpPr>
          <p:cNvPr id="317"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91CF5B5-22D4-4AE5-8147-0B33CE23661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Nimbus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 name="PlaceHolder 1"/>
          <p:cNvSpPr>
            <a:spLocks noGrp="1"/>
          </p:cNvSpPr>
          <p:nvPr>
            <p:ph type="sldImg"/>
          </p:nvPr>
        </p:nvSpPr>
        <p:spPr>
          <a:xfrm>
            <a:off x="685800" y="1143000"/>
            <a:ext cx="5486040" cy="3085920"/>
          </a:xfrm>
          <a:prstGeom prst="rect">
            <a:avLst/>
          </a:prstGeom>
          <a:ln w="0">
            <a:noFill/>
          </a:ln>
        </p:spPr>
      </p:sp>
      <p:sp>
        <p:nvSpPr>
          <p:cNvPr id="31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Nimbus Sans"/>
            </a:endParaRPr>
          </a:p>
        </p:txBody>
      </p:sp>
      <p:sp>
        <p:nvSpPr>
          <p:cNvPr id="320"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BCC7BA-38ED-49CF-B209-53E2E0C1F2F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Nimbus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 name="PlaceHolder 1"/>
          <p:cNvSpPr>
            <a:spLocks noGrp="1"/>
          </p:cNvSpPr>
          <p:nvPr>
            <p:ph type="sldImg"/>
          </p:nvPr>
        </p:nvSpPr>
        <p:spPr>
          <a:xfrm>
            <a:off x="685800" y="1143000"/>
            <a:ext cx="5486040" cy="3085920"/>
          </a:xfrm>
          <a:prstGeom prst="rect">
            <a:avLst/>
          </a:prstGeom>
          <a:ln w="0">
            <a:noFill/>
          </a:ln>
        </p:spPr>
      </p:sp>
      <p:sp>
        <p:nvSpPr>
          <p:cNvPr id="32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Nimbus Sans"/>
            </a:endParaRPr>
          </a:p>
        </p:txBody>
      </p:sp>
      <p:sp>
        <p:nvSpPr>
          <p:cNvPr id="323"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B09BB90-EF21-4F52-BFA6-CF5109203CF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Nimbus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PlaceHolder 1"/>
          <p:cNvSpPr>
            <a:spLocks noGrp="1"/>
          </p:cNvSpPr>
          <p:nvPr>
            <p:ph type="sldImg"/>
          </p:nvPr>
        </p:nvSpPr>
        <p:spPr>
          <a:xfrm>
            <a:off x="685800" y="1143000"/>
            <a:ext cx="5486040" cy="3085920"/>
          </a:xfrm>
          <a:prstGeom prst="rect">
            <a:avLst/>
          </a:prstGeom>
          <a:ln w="0">
            <a:noFill/>
          </a:ln>
        </p:spPr>
      </p:sp>
      <p:sp>
        <p:nvSpPr>
          <p:cNvPr id="32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Nimbus Sans"/>
            </a:endParaRPr>
          </a:p>
        </p:txBody>
      </p:sp>
      <p:sp>
        <p:nvSpPr>
          <p:cNvPr id="326"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7549CC7-3351-4373-A830-ED3CE95387A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Nimbus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 name="PlaceHolder 1"/>
          <p:cNvSpPr>
            <a:spLocks noGrp="1"/>
          </p:cNvSpPr>
          <p:nvPr>
            <p:ph type="sldImg"/>
          </p:nvPr>
        </p:nvSpPr>
        <p:spPr>
          <a:xfrm>
            <a:off x="685800" y="1143000"/>
            <a:ext cx="5486040" cy="3085920"/>
          </a:xfrm>
          <a:prstGeom prst="rect">
            <a:avLst/>
          </a:prstGeom>
          <a:ln w="0">
            <a:noFill/>
          </a:ln>
        </p:spPr>
      </p:sp>
      <p:sp>
        <p:nvSpPr>
          <p:cNvPr id="32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Nimbus Sans"/>
            </a:endParaRPr>
          </a:p>
        </p:txBody>
      </p:sp>
      <p:sp>
        <p:nvSpPr>
          <p:cNvPr id="329"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2943878-F7E8-4339-A651-D4DD639B633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Nimbus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 name="PlaceHolder 1"/>
          <p:cNvSpPr>
            <a:spLocks noGrp="1"/>
          </p:cNvSpPr>
          <p:nvPr>
            <p:ph type="sldImg"/>
          </p:nvPr>
        </p:nvSpPr>
        <p:spPr>
          <a:xfrm>
            <a:off x="685800" y="1143000"/>
            <a:ext cx="5486040" cy="3085920"/>
          </a:xfrm>
          <a:prstGeom prst="rect">
            <a:avLst/>
          </a:prstGeom>
          <a:ln w="0">
            <a:noFill/>
          </a:ln>
        </p:spPr>
      </p:sp>
      <p:sp>
        <p:nvSpPr>
          <p:cNvPr id="33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Nimbus Sans"/>
            </a:endParaRPr>
          </a:p>
        </p:txBody>
      </p:sp>
      <p:sp>
        <p:nvSpPr>
          <p:cNvPr id="332"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A3C2B7B-BD00-4D04-8DC7-F5091EFBD8B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Nimbus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 name="PlaceHolder 1"/>
          <p:cNvSpPr>
            <a:spLocks noGrp="1"/>
          </p:cNvSpPr>
          <p:nvPr>
            <p:ph type="sldImg"/>
          </p:nvPr>
        </p:nvSpPr>
        <p:spPr>
          <a:xfrm>
            <a:off x="685800" y="1143000"/>
            <a:ext cx="5486040" cy="3085920"/>
          </a:xfrm>
          <a:prstGeom prst="rect">
            <a:avLst/>
          </a:prstGeom>
          <a:ln w="0">
            <a:noFill/>
          </a:ln>
        </p:spPr>
      </p:sp>
      <p:sp>
        <p:nvSpPr>
          <p:cNvPr id="3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Nimbus Sans"/>
            </a:endParaRPr>
          </a:p>
        </p:txBody>
      </p:sp>
      <p:sp>
        <p:nvSpPr>
          <p:cNvPr id="335"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62B0AC7-1BEB-401B-8E6B-19A16137000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Nimbus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 name="PlaceHolder 1"/>
          <p:cNvSpPr>
            <a:spLocks noGrp="1"/>
          </p:cNvSpPr>
          <p:nvPr>
            <p:ph type="sldImg"/>
          </p:nvPr>
        </p:nvSpPr>
        <p:spPr>
          <a:xfrm>
            <a:off x="685800" y="1143000"/>
            <a:ext cx="5486040" cy="3085920"/>
          </a:xfrm>
          <a:prstGeom prst="rect">
            <a:avLst/>
          </a:prstGeom>
          <a:ln w="0">
            <a:noFill/>
          </a:ln>
        </p:spPr>
      </p:sp>
      <p:sp>
        <p:nvSpPr>
          <p:cNvPr id="33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Nimbus Sans"/>
            </a:endParaRPr>
          </a:p>
        </p:txBody>
      </p:sp>
      <p:sp>
        <p:nvSpPr>
          <p:cNvPr id="338"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4126DB7-638F-4873-AA10-21C48056E9E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Nimbus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9" name="PlaceHolder 1"/>
          <p:cNvSpPr>
            <a:spLocks noGrp="1"/>
          </p:cNvSpPr>
          <p:nvPr>
            <p:ph type="sldImg"/>
          </p:nvPr>
        </p:nvSpPr>
        <p:spPr>
          <a:xfrm>
            <a:off x="685800" y="1143000"/>
            <a:ext cx="5486040" cy="3085920"/>
          </a:xfrm>
          <a:prstGeom prst="rect">
            <a:avLst/>
          </a:prstGeom>
          <a:ln w="0">
            <a:noFill/>
          </a:ln>
        </p:spPr>
      </p:sp>
      <p:sp>
        <p:nvSpPr>
          <p:cNvPr id="3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Nimbus Sans"/>
            </a:endParaRPr>
          </a:p>
        </p:txBody>
      </p:sp>
      <p:sp>
        <p:nvSpPr>
          <p:cNvPr id="341"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C8A412-0F54-4E9F-B270-A190E9BF719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Nimbus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Calibri"/>
              </a:defRPr>
            </a:lvl1pPr>
          </a:lstStyle>
          <a:p>
            <a:pPr indent="0" algn="l">
              <a:buNone/>
            </a:pPr>
            <a:r>
              <a:rPr lang="en-US" sz="1800" b="0" u="none" strike="noStrike">
                <a:solidFill>
                  <a:schemeClr val="dk1"/>
                </a:solidFill>
                <a:effectLst/>
                <a:uFillTx/>
                <a:latin typeface="Calibri"/>
              </a:rPr>
              <a:t>Click to edit the title text format</a:t>
            </a:r>
            <a:endParaRPr lang="en-US"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92C"/>
        </a:solidFill>
      </p:bgPr>
    </p:bg>
    <p:spTree>
      <p:nvGrpSpPr>
        <p:cNvPr id="1" name=""/>
        <p:cNvGrpSpPr/>
        <p:nvPr/>
      </p:nvGrpSpPr>
      <p:grpSpPr>
        <a:xfrm>
          <a:off x="0" y="0"/>
          <a:ext cx="0" cy="0"/>
          <a:chOff x="0" y="0"/>
          <a:chExt cx="0" cy="0"/>
        </a:xfrm>
      </p:grpSpPr>
      <p:sp>
        <p:nvSpPr>
          <p:cNvPr id="10" name="Text 0"/>
          <p:cNvSpPr/>
          <p:nvPr/>
        </p:nvSpPr>
        <p:spPr>
          <a:xfrm>
            <a:off x="914400" y="731520"/>
            <a:ext cx="10362600" cy="365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59E0B"/>
                </a:solidFill>
                <a:effectLst/>
                <a:uFillTx/>
                <a:latin typeface="Calibri"/>
                <a:ea typeface="Calibri"/>
              </a:rPr>
              <a:t>TRƯỜNG ĐẠI HỌC CÔNG </a:t>
            </a:r>
            <a:r>
              <a:rPr lang="en-US" sz="1400" b="1" u="none" strike="noStrike">
                <a:solidFill>
                  <a:srgbClr val="F59E0B"/>
                </a:solidFill>
                <a:effectLst/>
                <a:uFillTx/>
                <a:latin typeface="Calibri"/>
                <a:ea typeface="Calibri"/>
              </a:rPr>
              <a:t>NGHỆ THÔNG TIN VÀ </a:t>
            </a:r>
            <a:r>
              <a:rPr lang="en-US" sz="1400" b="1" u="none" strike="noStrike">
                <a:solidFill>
                  <a:srgbClr val="F59E0B"/>
                </a:solidFill>
                <a:effectLst/>
                <a:uFillTx/>
                <a:latin typeface="Calibri"/>
                <a:ea typeface="Calibri"/>
              </a:rPr>
              <a:t>TRUYỀN THÔNG VIỆT - HÀN </a:t>
            </a:r>
            <a:r>
              <a:rPr lang="en-US" sz="1400" b="1" u="none" strike="noStrike">
                <a:solidFill>
                  <a:srgbClr val="F59E0B"/>
                </a:solidFill>
                <a:effectLst/>
                <a:uFillTx/>
                <a:latin typeface="Calibri"/>
                <a:ea typeface="Calibri"/>
              </a:rPr>
              <a:t>(VKU)</a:t>
            </a:r>
            <a:endParaRPr lang="en-US" sz="1400" b="0" u="none" strike="noStrike">
              <a:solidFill>
                <a:srgbClr val="FFFFFF"/>
              </a:solidFill>
              <a:effectLst/>
              <a:uFillTx/>
              <a:latin typeface="Nimbus Sans"/>
            </a:endParaRPr>
          </a:p>
        </p:txBody>
      </p:sp>
      <p:sp>
        <p:nvSpPr>
          <p:cNvPr id="11" name="Text 1"/>
          <p:cNvSpPr/>
          <p:nvPr/>
        </p:nvSpPr>
        <p:spPr>
          <a:xfrm>
            <a:off x="914400" y="1097280"/>
            <a:ext cx="10362600" cy="273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200" b="0" u="none" strike="noStrike">
                <a:solidFill>
                  <a:srgbClr val="94A3B8"/>
                </a:solidFill>
                <a:effectLst/>
                <a:uFillTx/>
                <a:latin typeface="Calibri"/>
                <a:ea typeface="Calibri"/>
              </a:rPr>
              <a:t>KHOA KHOA HỌC MÁY TÍNH — BỘ </a:t>
            </a:r>
            <a:r>
              <a:rPr lang="en-US" sz="1200" b="0" u="none" strike="noStrike">
                <a:solidFill>
                  <a:srgbClr val="94A3B8"/>
                </a:solidFill>
                <a:effectLst/>
                <a:uFillTx/>
                <a:latin typeface="Calibri"/>
                <a:ea typeface="Calibri"/>
              </a:rPr>
              <a:t>MÔN HỆ THỐNG THÔNG TIN &amp; </a:t>
            </a:r>
            <a:r>
              <a:rPr lang="en-US" sz="1200" b="0" u="none" strike="noStrike">
                <a:solidFill>
                  <a:srgbClr val="94A3B8"/>
                </a:solidFill>
                <a:effectLst/>
                <a:uFillTx/>
                <a:latin typeface="Calibri"/>
                <a:ea typeface="Calibri"/>
              </a:rPr>
              <a:t>MẠNG</a:t>
            </a:r>
            <a:endParaRPr lang="en-US" sz="1200" b="0" u="none" strike="noStrike">
              <a:solidFill>
                <a:srgbClr val="FFFFFF"/>
              </a:solidFill>
              <a:effectLst/>
              <a:uFillTx/>
              <a:latin typeface="Nimbus Sans"/>
            </a:endParaRPr>
          </a:p>
        </p:txBody>
      </p:sp>
      <p:sp>
        <p:nvSpPr>
          <p:cNvPr id="12" name="Shape 2"/>
          <p:cNvSpPr/>
          <p:nvPr/>
        </p:nvSpPr>
        <p:spPr>
          <a:xfrm>
            <a:off x="4266720" y="1645920"/>
            <a:ext cx="3657240" cy="411120"/>
          </a:xfrm>
          <a:prstGeom prst="roundRect">
            <a:avLst>
              <a:gd name="adj" fmla="val 22222"/>
            </a:avLst>
          </a:prstGeom>
          <a:solidFill>
            <a:srgbClr val="1E293B"/>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13" name="Text 3"/>
          <p:cNvSpPr/>
          <p:nvPr/>
        </p:nvSpPr>
        <p:spPr>
          <a:xfrm>
            <a:off x="4266720" y="1645920"/>
            <a:ext cx="3657240" cy="4111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38BDF8"/>
                </a:solidFill>
                <a:effectLst/>
                <a:uFillTx/>
                <a:latin typeface="Calibri"/>
                <a:ea typeface="Calibri"/>
              </a:rPr>
              <a:t>BÁO CÁO TIẾN ĐỘ ĐỒ ÁN MÔN </a:t>
            </a:r>
            <a:r>
              <a:rPr lang="en-US" sz="1300" b="1" u="none" strike="noStrike">
                <a:solidFill>
                  <a:srgbClr val="38BDF8"/>
                </a:solidFill>
                <a:effectLst/>
                <a:uFillTx/>
                <a:latin typeface="Calibri"/>
                <a:ea typeface="Calibri"/>
              </a:rPr>
              <a:t>HỌC</a:t>
            </a:r>
            <a:endParaRPr lang="en-US" sz="1300" b="0" u="none" strike="noStrike">
              <a:solidFill>
                <a:srgbClr val="FFFFFF"/>
              </a:solidFill>
              <a:effectLst/>
              <a:uFillTx/>
              <a:latin typeface="Nimbus Sans"/>
            </a:endParaRPr>
          </a:p>
        </p:txBody>
      </p:sp>
      <p:sp>
        <p:nvSpPr>
          <p:cNvPr id="14" name="Text 4"/>
          <p:cNvSpPr/>
          <p:nvPr/>
        </p:nvSpPr>
        <p:spPr>
          <a:xfrm>
            <a:off x="914400" y="2286000"/>
            <a:ext cx="10362600" cy="12798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800" b="1" u="none" strike="noStrike">
                <a:solidFill>
                  <a:srgbClr val="FFFFFF"/>
                </a:solidFill>
                <a:effectLst/>
                <a:uFillTx/>
                <a:latin typeface="Calibri"/>
                <a:ea typeface="Calibri"/>
              </a:rPr>
              <a:t>CONFIGURE </a:t>
            </a:r>
            <a:r>
              <a:rPr lang="en-US" sz="2800" b="1" u="none" strike="noStrike">
                <a:solidFill>
                  <a:srgbClr val="FFFFFF"/>
                </a:solidFill>
                <a:effectLst/>
                <a:uFillTx/>
                <a:latin typeface="Calibri"/>
                <a:ea typeface="Calibri"/>
              </a:rPr>
              <a:t>AND DEPLOY </a:t>
            </a:r>
            <a:r>
              <a:rPr lang="en-US" sz="2800" b="1" u="none" strike="noStrike">
                <a:solidFill>
                  <a:srgbClr val="FFFFFF"/>
                </a:solidFill>
                <a:effectLst/>
                <a:uFillTx/>
                <a:latin typeface="Calibri"/>
                <a:ea typeface="Calibri"/>
              </a:rPr>
              <a:t>MLOPS </a:t>
            </a:r>
            <a:r>
              <a:rPr lang="en-US" sz="2800" b="1" u="none" strike="noStrike">
                <a:solidFill>
                  <a:srgbClr val="FFFFFF"/>
                </a:solidFill>
                <a:effectLst/>
                <a:uFillTx/>
                <a:latin typeface="Calibri"/>
                <a:ea typeface="Calibri"/>
              </a:rPr>
              <a:t>SERVICES</a:t>
            </a:r>
            <a:endParaRPr lang="en-US" sz="2800" b="0" u="none" strike="noStrike">
              <a:solidFill>
                <a:srgbClr val="FFFFFF"/>
              </a:solidFill>
              <a:effectLst/>
              <a:uFillTx/>
              <a:latin typeface="Nimbus Sans"/>
            </a:endParaRPr>
          </a:p>
          <a:p>
            <a:pPr algn="ctr" defTabSz="914400">
              <a:lnSpc>
                <a:spcPct val="100000"/>
              </a:lnSpc>
              <a:tabLst>
                <a:tab pos="0" algn="l"/>
              </a:tabLst>
            </a:pPr>
            <a:r>
              <a:rPr lang="en-US" sz="2800" b="1" u="none" strike="noStrike">
                <a:solidFill>
                  <a:srgbClr val="FFFFFF"/>
                </a:solidFill>
                <a:effectLst/>
                <a:uFillTx/>
                <a:latin typeface="Calibri"/>
                <a:ea typeface="Calibri"/>
              </a:rPr>
              <a:t>ON ARCH </a:t>
            </a:r>
            <a:r>
              <a:rPr lang="en-US" sz="2800" b="1" u="none" strike="noStrike">
                <a:solidFill>
                  <a:srgbClr val="FFFFFF"/>
                </a:solidFill>
                <a:effectLst/>
                <a:uFillTx/>
                <a:latin typeface="Calibri"/>
                <a:ea typeface="Calibri"/>
              </a:rPr>
              <a:t>LINUX &amp; </a:t>
            </a:r>
            <a:r>
              <a:rPr lang="en-US" sz="2800" b="1" u="none" strike="noStrike">
                <a:solidFill>
                  <a:srgbClr val="FFFFFF"/>
                </a:solidFill>
                <a:effectLst/>
                <a:uFillTx/>
                <a:latin typeface="Calibri"/>
                <a:ea typeface="Calibri"/>
              </a:rPr>
              <a:t>UBUNTU</a:t>
            </a:r>
            <a:endParaRPr lang="en-US" sz="2800" b="0" u="none" strike="noStrike">
              <a:solidFill>
                <a:srgbClr val="FFFFFF"/>
              </a:solidFill>
              <a:effectLst/>
              <a:uFillTx/>
              <a:latin typeface="Nimbus Sans"/>
            </a:endParaRPr>
          </a:p>
        </p:txBody>
      </p:sp>
      <p:sp>
        <p:nvSpPr>
          <p:cNvPr id="15" name="Text 5"/>
          <p:cNvSpPr/>
          <p:nvPr/>
        </p:nvSpPr>
        <p:spPr>
          <a:xfrm>
            <a:off x="914400" y="3657600"/>
            <a:ext cx="10362600" cy="365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0" i="1" u="none" strike="noStrike">
                <a:solidFill>
                  <a:srgbClr val="38BDF8"/>
                </a:solidFill>
                <a:effectLst/>
                <a:uFillTx/>
                <a:latin typeface="Calibri"/>
                <a:ea typeface="Calibri"/>
              </a:rPr>
              <a:t>Nghiên cứu đối kháng, xây </a:t>
            </a:r>
            <a:r>
              <a:rPr lang="en-US" sz="1500" b="0" i="1" u="none" strike="noStrike">
                <a:solidFill>
                  <a:srgbClr val="38BDF8"/>
                </a:solidFill>
                <a:effectLst/>
                <a:uFillTx/>
                <a:latin typeface="Calibri"/>
                <a:ea typeface="Calibri"/>
              </a:rPr>
              <a:t>dựng hạ tầng Rootless </a:t>
            </a:r>
            <a:r>
              <a:rPr lang="en-US" sz="1500" b="0" i="1" u="none" strike="noStrike">
                <a:solidFill>
                  <a:srgbClr val="38BDF8"/>
                </a:solidFill>
                <a:effectLst/>
                <a:uFillTx/>
                <a:latin typeface="Calibri"/>
                <a:ea typeface="Calibri"/>
              </a:rPr>
              <a:t>Containerization và Zero-</a:t>
            </a:r>
            <a:r>
              <a:rPr lang="en-US" sz="1500" b="0" i="1" u="none" strike="noStrike">
                <a:solidFill>
                  <a:srgbClr val="38BDF8"/>
                </a:solidFill>
                <a:effectLst/>
                <a:uFillTx/>
                <a:latin typeface="Calibri"/>
                <a:ea typeface="Calibri"/>
              </a:rPr>
              <a:t>Trust Network</a:t>
            </a:r>
            <a:endParaRPr lang="en-US" sz="1500" b="0" u="none" strike="noStrike">
              <a:solidFill>
                <a:srgbClr val="FFFFFF"/>
              </a:solidFill>
              <a:effectLst/>
              <a:uFillTx/>
              <a:latin typeface="Nimbus Sans"/>
            </a:endParaRPr>
          </a:p>
        </p:txBody>
      </p:sp>
      <p:sp>
        <p:nvSpPr>
          <p:cNvPr id="16" name="Shape 6"/>
          <p:cNvSpPr/>
          <p:nvPr/>
        </p:nvSpPr>
        <p:spPr>
          <a:xfrm>
            <a:off x="914400" y="4389120"/>
            <a:ext cx="3230280" cy="1645560"/>
          </a:xfrm>
          <a:prstGeom prst="roundRect">
            <a:avLst>
              <a:gd name="adj" fmla="val 4444"/>
            </a:avLst>
          </a:prstGeom>
          <a:solidFill>
            <a:srgbClr val="1E293B"/>
          </a:solidFill>
          <a:ln w="12700">
            <a:solidFill>
              <a:srgbClr val="33415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17" name="Text 7"/>
          <p:cNvSpPr/>
          <p:nvPr/>
        </p:nvSpPr>
        <p:spPr>
          <a:xfrm>
            <a:off x="1097280" y="4526280"/>
            <a:ext cx="28645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F59E0B"/>
                </a:solidFill>
                <a:effectLst/>
                <a:uFillTx/>
                <a:latin typeface="Calibri"/>
                <a:ea typeface="Calibri"/>
              </a:rPr>
              <a:t>GIẢNG VIÊN HƯỚNG DẪN</a:t>
            </a:r>
            <a:endParaRPr lang="en-US" sz="1100" b="0" u="none" strike="noStrike">
              <a:solidFill>
                <a:srgbClr val="FFFFFF"/>
              </a:solidFill>
              <a:effectLst/>
              <a:uFillTx/>
              <a:latin typeface="Nimbus Sans"/>
            </a:endParaRPr>
          </a:p>
        </p:txBody>
      </p:sp>
      <p:sp>
        <p:nvSpPr>
          <p:cNvPr id="18" name="Text 8"/>
          <p:cNvSpPr/>
          <p:nvPr/>
        </p:nvSpPr>
        <p:spPr>
          <a:xfrm>
            <a:off x="1097280" y="4892040"/>
            <a:ext cx="2864520" cy="100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100" b="0" u="none" strike="noStrike">
                <a:solidFill>
                  <a:srgbClr val="CBD5E1"/>
                </a:solidFill>
                <a:effectLst/>
                <a:uFillTx/>
                <a:latin typeface="Calibri"/>
                <a:ea typeface="Calibri"/>
              </a:rPr>
              <a:t>TS. Hoàng Hữu Đức</a:t>
            </a:r>
            <a:endParaRPr lang="en-US" sz="1100" b="0" u="none" strike="noStrike">
              <a:solidFill>
                <a:srgbClr val="FFFFFF"/>
              </a:solidFill>
              <a:effectLst/>
              <a:uFillTx/>
              <a:latin typeface="Nimbus Sans"/>
            </a:endParaRPr>
          </a:p>
          <a:p>
            <a:pPr defTabSz="914400">
              <a:lnSpc>
                <a:spcPts val="1800"/>
              </a:lnSpc>
              <a:tabLst>
                <a:tab pos="0" algn="l"/>
              </a:tabLst>
            </a:pPr>
            <a:r>
              <a:rPr lang="en-US" sz="1100" b="0" u="none" strike="noStrike">
                <a:solidFill>
                  <a:srgbClr val="CBD5E1"/>
                </a:solidFill>
                <a:effectLst/>
                <a:uFillTx/>
                <a:latin typeface="Calibri"/>
                <a:ea typeface="Calibri"/>
              </a:rPr>
              <a:t>Khoa Khoa học máy tính VKU</a:t>
            </a:r>
            <a:endParaRPr lang="en-US" sz="1100" b="0" u="none" strike="noStrike">
              <a:solidFill>
                <a:srgbClr val="FFFFFF"/>
              </a:solidFill>
              <a:effectLst/>
              <a:uFillTx/>
              <a:latin typeface="Nimbus Sans"/>
            </a:endParaRPr>
          </a:p>
        </p:txBody>
      </p:sp>
      <p:sp>
        <p:nvSpPr>
          <p:cNvPr id="19" name="Shape 9"/>
          <p:cNvSpPr/>
          <p:nvPr/>
        </p:nvSpPr>
        <p:spPr>
          <a:xfrm>
            <a:off x="4480560" y="4389120"/>
            <a:ext cx="3230280" cy="1645560"/>
          </a:xfrm>
          <a:prstGeom prst="roundRect">
            <a:avLst>
              <a:gd name="adj" fmla="val 4444"/>
            </a:avLst>
          </a:prstGeom>
          <a:solidFill>
            <a:srgbClr val="1E293B"/>
          </a:solidFill>
          <a:ln w="12700">
            <a:solidFill>
              <a:srgbClr val="33415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20" name="Text 10"/>
          <p:cNvSpPr/>
          <p:nvPr/>
        </p:nvSpPr>
        <p:spPr>
          <a:xfrm>
            <a:off x="4663440" y="4526280"/>
            <a:ext cx="28645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F59E0B"/>
                </a:solidFill>
                <a:effectLst/>
                <a:uFillTx/>
                <a:latin typeface="Calibri"/>
                <a:ea typeface="Calibri"/>
              </a:rPr>
              <a:t>NHÓM SINH VIÊN THỰC HIỆN</a:t>
            </a:r>
            <a:endParaRPr lang="en-US" sz="1100" b="0" u="none" strike="noStrike">
              <a:solidFill>
                <a:srgbClr val="FFFFFF"/>
              </a:solidFill>
              <a:effectLst/>
              <a:uFillTx/>
              <a:latin typeface="Nimbus Sans"/>
            </a:endParaRPr>
          </a:p>
        </p:txBody>
      </p:sp>
      <p:sp>
        <p:nvSpPr>
          <p:cNvPr id="21" name="Text 11"/>
          <p:cNvSpPr/>
          <p:nvPr/>
        </p:nvSpPr>
        <p:spPr>
          <a:xfrm>
            <a:off x="4663440" y="4892040"/>
            <a:ext cx="2864520" cy="100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100" b="0" u="none" strike="noStrike">
                <a:solidFill>
                  <a:srgbClr val="CBD5E1"/>
                </a:solidFill>
                <a:effectLst/>
                <a:uFillTx/>
                <a:latin typeface="Calibri"/>
                <a:ea typeface="Calibri"/>
              </a:rPr>
              <a:t>Nguyễn Công Đức (Lead - Arch </a:t>
            </a:r>
            <a:r>
              <a:rPr lang="en-US" sz="1100" b="0" u="none" strike="noStrike">
                <a:solidFill>
                  <a:srgbClr val="CBD5E1"/>
                </a:solidFill>
                <a:effectLst/>
                <a:uFillTx/>
                <a:latin typeface="Calibri"/>
                <a:ea typeface="Calibri"/>
              </a:rPr>
              <a:t>Linux)</a:t>
            </a:r>
            <a:endParaRPr lang="en-US" sz="1100" b="0" u="none" strike="noStrike">
              <a:solidFill>
                <a:srgbClr val="FFFFFF"/>
              </a:solidFill>
              <a:effectLst/>
              <a:uFillTx/>
              <a:latin typeface="Nimbus Sans"/>
            </a:endParaRPr>
          </a:p>
          <a:p>
            <a:pPr defTabSz="914400">
              <a:lnSpc>
                <a:spcPts val="1800"/>
              </a:lnSpc>
              <a:tabLst>
                <a:tab pos="0" algn="l"/>
              </a:tabLst>
            </a:pPr>
            <a:r>
              <a:rPr lang="en-US" sz="1100" b="0" u="none" strike="noStrike">
                <a:solidFill>
                  <a:srgbClr val="CBD5E1"/>
                </a:solidFill>
                <a:effectLst/>
                <a:uFillTx/>
                <a:latin typeface="Calibri"/>
                <a:ea typeface="Calibri"/>
              </a:rPr>
              <a:t>Nguyễn Tùng Dương (Ubuntu </a:t>
            </a:r>
            <a:r>
              <a:rPr lang="en-US" sz="1100" b="0" u="none" strike="noStrike">
                <a:solidFill>
                  <a:srgbClr val="CBD5E1"/>
                </a:solidFill>
                <a:effectLst/>
                <a:uFillTx/>
                <a:latin typeface="Calibri"/>
                <a:ea typeface="Calibri"/>
              </a:rPr>
              <a:t>Node)</a:t>
            </a:r>
            <a:endParaRPr lang="en-US" sz="1100" b="0" u="none" strike="noStrike">
              <a:solidFill>
                <a:srgbClr val="FFFFFF"/>
              </a:solidFill>
              <a:effectLst/>
              <a:uFillTx/>
              <a:latin typeface="Nimbus Sans"/>
            </a:endParaRPr>
          </a:p>
          <a:p>
            <a:pPr defTabSz="914400">
              <a:lnSpc>
                <a:spcPts val="1800"/>
              </a:lnSpc>
              <a:tabLst>
                <a:tab pos="0" algn="l"/>
              </a:tabLst>
            </a:pPr>
            <a:r>
              <a:rPr lang="en-US" sz="1100" b="0" u="none" strike="noStrike">
                <a:solidFill>
                  <a:srgbClr val="CBD5E1"/>
                </a:solidFill>
                <a:effectLst/>
                <a:uFillTx/>
                <a:latin typeface="Calibri"/>
                <a:ea typeface="Calibri"/>
              </a:rPr>
              <a:t>Nguyễn Duy Hòa (Observability &amp; </a:t>
            </a:r>
            <a:r>
              <a:rPr lang="en-US" sz="1100" b="0" u="none" strike="noStrike">
                <a:solidFill>
                  <a:srgbClr val="CBD5E1"/>
                </a:solidFill>
                <a:effectLst/>
                <a:uFillTx/>
                <a:latin typeface="Calibri"/>
                <a:ea typeface="Calibri"/>
              </a:rPr>
              <a:t>Benchmark)</a:t>
            </a:r>
            <a:endParaRPr lang="en-US" sz="1100" b="0" u="none" strike="noStrike">
              <a:solidFill>
                <a:srgbClr val="FFFFFF"/>
              </a:solidFill>
              <a:effectLst/>
              <a:uFillTx/>
              <a:latin typeface="Nimbus Sans"/>
            </a:endParaRPr>
          </a:p>
        </p:txBody>
      </p:sp>
      <p:sp>
        <p:nvSpPr>
          <p:cNvPr id="22" name="Shape 12"/>
          <p:cNvSpPr/>
          <p:nvPr/>
        </p:nvSpPr>
        <p:spPr>
          <a:xfrm>
            <a:off x="8046720" y="4389120"/>
            <a:ext cx="3230280" cy="1645560"/>
          </a:xfrm>
          <a:prstGeom prst="roundRect">
            <a:avLst>
              <a:gd name="adj" fmla="val 4444"/>
            </a:avLst>
          </a:prstGeom>
          <a:solidFill>
            <a:srgbClr val="1E293B"/>
          </a:solidFill>
          <a:ln w="12700">
            <a:solidFill>
              <a:srgbClr val="33415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23" name="Text 13"/>
          <p:cNvSpPr/>
          <p:nvPr/>
        </p:nvSpPr>
        <p:spPr>
          <a:xfrm>
            <a:off x="8229600" y="4526280"/>
            <a:ext cx="28645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F59E0B"/>
                </a:solidFill>
                <a:effectLst/>
                <a:uFillTx/>
                <a:latin typeface="Calibri"/>
                <a:ea typeface="Calibri"/>
              </a:rPr>
              <a:t>THÔNG TIN BÁO CÁO</a:t>
            </a:r>
            <a:endParaRPr lang="en-US" sz="1100" b="0" u="none" strike="noStrike">
              <a:solidFill>
                <a:srgbClr val="FFFFFF"/>
              </a:solidFill>
              <a:effectLst/>
              <a:uFillTx/>
              <a:latin typeface="Nimbus Sans"/>
            </a:endParaRPr>
          </a:p>
        </p:txBody>
      </p:sp>
      <p:sp>
        <p:nvSpPr>
          <p:cNvPr id="24" name="Text 14"/>
          <p:cNvSpPr/>
          <p:nvPr/>
        </p:nvSpPr>
        <p:spPr>
          <a:xfrm>
            <a:off x="8229600" y="4892040"/>
            <a:ext cx="2864520" cy="100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100" b="0" u="none" strike="noStrike">
                <a:solidFill>
                  <a:srgbClr val="CBD5E1"/>
                </a:solidFill>
                <a:effectLst/>
                <a:uFillTx/>
                <a:latin typeface="Calibri"/>
                <a:ea typeface="Calibri"/>
              </a:rPr>
              <a:t>Đồ án Linux &amp; Phần mềm nguồn </a:t>
            </a:r>
            <a:r>
              <a:rPr lang="en-US" sz="1100" b="0" u="none" strike="noStrike">
                <a:solidFill>
                  <a:srgbClr val="CBD5E1"/>
                </a:solidFill>
                <a:effectLst/>
                <a:uFillTx/>
                <a:latin typeface="Calibri"/>
                <a:ea typeface="Calibri"/>
              </a:rPr>
              <a:t>mở</a:t>
            </a:r>
            <a:endParaRPr lang="en-US" sz="1100" b="0" u="none" strike="noStrike">
              <a:solidFill>
                <a:srgbClr val="FFFFFF"/>
              </a:solidFill>
              <a:effectLst/>
              <a:uFillTx/>
              <a:latin typeface="Nimbus Sans"/>
            </a:endParaRPr>
          </a:p>
          <a:p>
            <a:pPr defTabSz="914400">
              <a:lnSpc>
                <a:spcPts val="1800"/>
              </a:lnSpc>
              <a:tabLst>
                <a:tab pos="0" algn="l"/>
              </a:tabLst>
            </a:pPr>
            <a:r>
              <a:rPr lang="en-US" sz="1100" b="0" u="none" strike="noStrike">
                <a:solidFill>
                  <a:srgbClr val="CBD5E1"/>
                </a:solidFill>
                <a:effectLst/>
                <a:uFillTx/>
                <a:latin typeface="Calibri"/>
                <a:ea typeface="Calibri"/>
              </a:rPr>
              <a:t>Học kỳ 1 — Năm học 2026-2027</a:t>
            </a:r>
            <a:endParaRPr lang="en-US" sz="1100" b="0" u="none" strike="noStrike">
              <a:solidFill>
                <a:srgbClr val="FFFFFF"/>
              </a:solidFill>
              <a:effectLst/>
              <a:uFillTx/>
              <a:latin typeface="Nimbus Sans"/>
            </a:endParaRPr>
          </a:p>
          <a:p>
            <a:pPr defTabSz="914400">
              <a:lnSpc>
                <a:spcPts val="1800"/>
              </a:lnSpc>
              <a:tabLst>
                <a:tab pos="0" algn="l"/>
              </a:tabLst>
            </a:pPr>
            <a:r>
              <a:rPr lang="en-US" sz="1100" b="0" u="none" strike="noStrike">
                <a:solidFill>
                  <a:srgbClr val="CBD5E1"/>
                </a:solidFill>
                <a:effectLst/>
                <a:uFillTx/>
                <a:latin typeface="Calibri"/>
                <a:ea typeface="Calibri"/>
              </a:rPr>
              <a:t>Đà Nẵng, Tháng 10/2026</a:t>
            </a:r>
            <a:endParaRPr lang="en-US" sz="1100" b="0" u="none" strike="noStrike">
              <a:solidFill>
                <a:srgbClr val="FFFFFF"/>
              </a:solidFill>
              <a:effectLst/>
              <a:uFillTx/>
              <a:latin typeface="Nimbus Sans"/>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25" name="Shape 0"/>
          <p:cNvSpPr/>
          <p:nvPr/>
        </p:nvSpPr>
        <p:spPr>
          <a:xfrm>
            <a:off x="731520" y="384120"/>
            <a:ext cx="2285640" cy="292320"/>
          </a:xfrm>
          <a:prstGeom prst="roundRect">
            <a:avLst>
              <a:gd name="adj" fmla="val 25000"/>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26" name="Text 1"/>
          <p:cNvSpPr/>
          <p:nvPr/>
        </p:nvSpPr>
        <p:spPr>
          <a:xfrm>
            <a:off x="731520" y="384120"/>
            <a:ext cx="2285640" cy="292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Calibri"/>
                <a:ea typeface="Calibri"/>
              </a:rPr>
              <a:t>BỐI CẢNH &amp; VẤN ĐỀ</a:t>
            </a:r>
            <a:endParaRPr lang="en-US" sz="1000" b="0" u="none" strike="noStrike">
              <a:solidFill>
                <a:srgbClr val="000000"/>
              </a:solidFill>
              <a:effectLst/>
              <a:uFillTx/>
              <a:latin typeface="Nimbus Sans"/>
            </a:endParaRPr>
          </a:p>
        </p:txBody>
      </p:sp>
      <p:sp>
        <p:nvSpPr>
          <p:cNvPr id="27" name="Text 2"/>
          <p:cNvSpPr/>
          <p:nvPr/>
        </p:nvSpPr>
        <p:spPr>
          <a:xfrm>
            <a:off x="731520" y="731520"/>
            <a:ext cx="107283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100" b="1" u="none" strike="noStrike">
                <a:solidFill>
                  <a:srgbClr val="0F172A"/>
                </a:solidFill>
                <a:effectLst/>
                <a:uFillTx/>
                <a:latin typeface="Calibri"/>
                <a:ea typeface="Calibri"/>
              </a:rPr>
              <a:t>1. TỔNG QUAN </a:t>
            </a:r>
            <a:r>
              <a:rPr lang="en-US" sz="2100" b="1" u="none" strike="noStrike">
                <a:solidFill>
                  <a:srgbClr val="0F172A"/>
                </a:solidFill>
                <a:effectLst/>
                <a:uFillTx/>
                <a:latin typeface="Calibri"/>
                <a:ea typeface="Calibri"/>
              </a:rPr>
              <a:t>&amp; TÍNH CẤP </a:t>
            </a:r>
            <a:r>
              <a:rPr lang="en-US" sz="2100" b="1" u="none" strike="noStrike">
                <a:solidFill>
                  <a:srgbClr val="0F172A"/>
                </a:solidFill>
                <a:effectLst/>
                <a:uFillTx/>
                <a:latin typeface="Calibri"/>
                <a:ea typeface="Calibri"/>
              </a:rPr>
              <a:t>THIẾT CỦA ĐỀ </a:t>
            </a:r>
            <a:r>
              <a:rPr lang="en-US" sz="2100" b="1" u="none" strike="noStrike">
                <a:solidFill>
                  <a:srgbClr val="0F172A"/>
                </a:solidFill>
                <a:effectLst/>
                <a:uFillTx/>
                <a:latin typeface="Calibri"/>
                <a:ea typeface="Calibri"/>
              </a:rPr>
              <a:t>TÀI</a:t>
            </a:r>
            <a:endParaRPr lang="en-US" sz="2100" b="0" u="none" strike="noStrike">
              <a:solidFill>
                <a:srgbClr val="000000"/>
              </a:solidFill>
              <a:effectLst/>
              <a:uFillTx/>
              <a:latin typeface="Nimbus Sans"/>
            </a:endParaRPr>
          </a:p>
        </p:txBody>
      </p:sp>
      <p:sp>
        <p:nvSpPr>
          <p:cNvPr id="28" name="Text 3"/>
          <p:cNvSpPr/>
          <p:nvPr/>
        </p:nvSpPr>
        <p:spPr>
          <a:xfrm>
            <a:off x="731520" y="1170360"/>
            <a:ext cx="107283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Thách thức phân phối Linux, </a:t>
            </a:r>
            <a:r>
              <a:rPr lang="en-US" sz="1250" b="0" i="1" u="none" strike="noStrike">
                <a:solidFill>
                  <a:srgbClr val="64748B"/>
                </a:solidFill>
                <a:effectLst/>
                <a:uFillTx/>
                <a:latin typeface="Calibri"/>
                <a:ea typeface="Calibri"/>
              </a:rPr>
              <a:t>rủi ro an ninh Container và </a:t>
            </a:r>
            <a:r>
              <a:rPr lang="en-US" sz="1250" b="0" i="1" u="none" strike="noStrike">
                <a:solidFill>
                  <a:srgbClr val="64748B"/>
                </a:solidFill>
                <a:effectLst/>
                <a:uFillTx/>
                <a:latin typeface="Calibri"/>
                <a:ea typeface="Calibri"/>
              </a:rPr>
              <a:t>giải pháp đột phá của nhóm</a:t>
            </a:r>
            <a:endParaRPr lang="en-US" sz="1250" b="0" u="none" strike="noStrike">
              <a:solidFill>
                <a:srgbClr val="000000"/>
              </a:solidFill>
              <a:effectLst/>
              <a:uFillTx/>
              <a:latin typeface="Nimbus Sans"/>
            </a:endParaRPr>
          </a:p>
        </p:txBody>
      </p:sp>
      <p:sp>
        <p:nvSpPr>
          <p:cNvPr id="29" name="Shape 4"/>
          <p:cNvSpPr/>
          <p:nvPr/>
        </p:nvSpPr>
        <p:spPr>
          <a:xfrm>
            <a:off x="731520" y="1481040"/>
            <a:ext cx="10728360" cy="360"/>
          </a:xfrm>
          <a:prstGeom prst="line">
            <a:avLst/>
          </a:prstGeom>
          <a:ln w="12700">
            <a:solidFill>
              <a:srgbClr val="CBD5E1"/>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30" name="Shape 5"/>
          <p:cNvSpPr/>
          <p:nvPr/>
        </p:nvSpPr>
        <p:spPr>
          <a:xfrm>
            <a:off x="731520" y="6291000"/>
            <a:ext cx="10728360" cy="360"/>
          </a:xfrm>
          <a:prstGeom prst="line">
            <a:avLst/>
          </a:prstGeom>
          <a:ln w="12700">
            <a:solidFill>
              <a:srgbClr val="E2E8F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31" name="Text 6"/>
          <p:cNvSpPr/>
          <p:nvPr/>
        </p:nvSpPr>
        <p:spPr>
          <a:xfrm>
            <a:off x="731520" y="6355080"/>
            <a:ext cx="82292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0" u="none" strike="noStrike">
                <a:solidFill>
                  <a:srgbClr val="94A3B8"/>
                </a:solidFill>
                <a:effectLst/>
                <a:uFillTx/>
                <a:latin typeface="Calibri"/>
                <a:ea typeface="Calibri"/>
              </a:rPr>
              <a:t>VKU — Đồ án Linux &amp; Open Source: </a:t>
            </a:r>
            <a:r>
              <a:rPr lang="en-US" sz="950" b="0" u="none" strike="noStrike">
                <a:solidFill>
                  <a:srgbClr val="94A3B8"/>
                </a:solidFill>
                <a:effectLst/>
                <a:uFillTx/>
                <a:latin typeface="Calibri"/>
                <a:ea typeface="Calibri"/>
              </a:rPr>
              <a:t>MLOps Pipeline | Nhóm: Nguyễn Công </a:t>
            </a:r>
            <a:r>
              <a:rPr lang="en-US" sz="950" b="0" u="none" strike="noStrike">
                <a:solidFill>
                  <a:srgbClr val="94A3B8"/>
                </a:solidFill>
                <a:effectLst/>
                <a:uFillTx/>
                <a:latin typeface="Calibri"/>
                <a:ea typeface="Calibri"/>
              </a:rPr>
              <a:t>Đức, Nguyễn Tùng Dương, Nguyễn </a:t>
            </a:r>
            <a:r>
              <a:rPr lang="en-US" sz="950" b="0" u="none" strike="noStrike">
                <a:solidFill>
                  <a:srgbClr val="94A3B8"/>
                </a:solidFill>
                <a:effectLst/>
                <a:uFillTx/>
                <a:latin typeface="Calibri"/>
                <a:ea typeface="Calibri"/>
              </a:rPr>
              <a:t>Văn C</a:t>
            </a:r>
            <a:endParaRPr lang="en-US" sz="950" b="0" u="none" strike="noStrike">
              <a:solidFill>
                <a:srgbClr val="000000"/>
              </a:solidFill>
              <a:effectLst/>
              <a:uFillTx/>
              <a:latin typeface="Nimbus Sans"/>
            </a:endParaRPr>
          </a:p>
        </p:txBody>
      </p:sp>
      <p:sp>
        <p:nvSpPr>
          <p:cNvPr id="32" name="Text 7"/>
          <p:cNvSpPr/>
          <p:nvPr/>
        </p:nvSpPr>
        <p:spPr>
          <a:xfrm>
            <a:off x="9601200" y="6355080"/>
            <a:ext cx="1858680" cy="255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1000" b="1" u="none" strike="noStrike">
                <a:solidFill>
                  <a:srgbClr val="0284C7"/>
                </a:solidFill>
                <a:effectLst/>
                <a:uFillTx/>
                <a:latin typeface="Calibri"/>
                <a:ea typeface="Calibri"/>
              </a:rPr>
              <a:t>Slide 02 / 12</a:t>
            </a:r>
            <a:endParaRPr lang="en-US" sz="1000" b="0" u="none" strike="noStrike">
              <a:solidFill>
                <a:srgbClr val="000000"/>
              </a:solidFill>
              <a:effectLst/>
              <a:uFillTx/>
              <a:latin typeface="Nimbus Sans"/>
            </a:endParaRPr>
          </a:p>
        </p:txBody>
      </p:sp>
      <p:sp>
        <p:nvSpPr>
          <p:cNvPr id="33" name="Shape 8"/>
          <p:cNvSpPr/>
          <p:nvPr/>
        </p:nvSpPr>
        <p:spPr>
          <a:xfrm>
            <a:off x="731520" y="1691640"/>
            <a:ext cx="3413160" cy="4388760"/>
          </a:xfrm>
          <a:prstGeom prst="roundRect">
            <a:avLst>
              <a:gd name="adj" fmla="val 2143"/>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34" name="Shape 9"/>
          <p:cNvSpPr/>
          <p:nvPr/>
        </p:nvSpPr>
        <p:spPr>
          <a:xfrm>
            <a:off x="914400" y="1874520"/>
            <a:ext cx="3047400" cy="292320"/>
          </a:xfrm>
          <a:prstGeom prst="roundRect">
            <a:avLst>
              <a:gd name="adj" fmla="val 15625"/>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35" name="Text 10"/>
          <p:cNvSpPr/>
          <p:nvPr/>
        </p:nvSpPr>
        <p:spPr>
          <a:xfrm>
            <a:off x="914400" y="1874520"/>
            <a:ext cx="3047400" cy="292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Calibri"/>
                <a:ea typeface="Calibri"/>
              </a:rPr>
              <a:t>ARCH LINUX VS UBUNTU</a:t>
            </a:r>
            <a:endParaRPr lang="en-US" sz="1000" b="0" u="none" strike="noStrike">
              <a:solidFill>
                <a:srgbClr val="000000"/>
              </a:solidFill>
              <a:effectLst/>
              <a:uFillTx/>
              <a:latin typeface="Nimbus Sans"/>
            </a:endParaRPr>
          </a:p>
        </p:txBody>
      </p:sp>
      <p:sp>
        <p:nvSpPr>
          <p:cNvPr id="36" name="Text 11"/>
          <p:cNvSpPr/>
          <p:nvPr/>
        </p:nvSpPr>
        <p:spPr>
          <a:xfrm>
            <a:off x="914400" y="2240280"/>
            <a:ext cx="3047400" cy="4111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F172A"/>
                </a:solidFill>
                <a:effectLst/>
                <a:uFillTx/>
                <a:latin typeface="Calibri"/>
                <a:ea typeface="Calibri"/>
              </a:rPr>
              <a:t>HAI THÁI CỰC HỆ ĐIỀU </a:t>
            </a:r>
            <a:r>
              <a:rPr lang="en-US" sz="1300" b="1" u="none" strike="noStrike">
                <a:solidFill>
                  <a:srgbClr val="0F172A"/>
                </a:solidFill>
                <a:effectLst/>
                <a:uFillTx/>
                <a:latin typeface="Calibri"/>
                <a:ea typeface="Calibri"/>
              </a:rPr>
              <a:t>HÀNH</a:t>
            </a:r>
            <a:endParaRPr lang="en-US" sz="1300" b="0" u="none" strike="noStrike">
              <a:solidFill>
                <a:srgbClr val="000000"/>
              </a:solidFill>
              <a:effectLst/>
              <a:uFillTx/>
              <a:latin typeface="Nimbus Sans"/>
            </a:endParaRPr>
          </a:p>
        </p:txBody>
      </p:sp>
      <p:sp>
        <p:nvSpPr>
          <p:cNvPr id="37" name="Text 12"/>
          <p:cNvSpPr/>
          <p:nvPr/>
        </p:nvSpPr>
        <p:spPr>
          <a:xfrm>
            <a:off x="960120" y="2743200"/>
            <a:ext cx="2955960" cy="1051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300" b="1" u="none" strike="noStrike">
                <a:solidFill>
                  <a:srgbClr val="0284C7"/>
                </a:solidFill>
                <a:effectLst/>
                <a:uFillTx/>
                <a:latin typeface="Calibri"/>
              </a:rPr>
              <a:t>• </a:t>
            </a:r>
            <a:r>
              <a:rPr lang="en-US" sz="1080" b="0" u="none" strike="noStrike">
                <a:solidFill>
                  <a:srgbClr val="1E293B"/>
                </a:solidFill>
                <a:effectLst/>
                <a:uFillTx/>
                <a:latin typeface="Calibri"/>
                <a:ea typeface="Calibri"/>
              </a:rPr>
              <a:t>Arch Linux: Mô hình Rolling-Release, nhân Linux 6.x mới nhất, siêu tối </a:t>
            </a:r>
            <a:r>
              <a:rPr lang="en-US" sz="1080" b="0" u="none" strike="noStrike">
                <a:solidFill>
                  <a:srgbClr val="1E293B"/>
                </a:solidFill>
                <a:effectLst/>
                <a:uFillTx/>
                <a:latin typeface="Calibri"/>
                <a:ea typeface="Calibri"/>
              </a:rPr>
              <a:t>giản (~400MB RAM), không cài đặt dịch vụ thừa.</a:t>
            </a:r>
            <a:endParaRPr lang="en-US" sz="1080" b="0" u="none" strike="noStrike">
              <a:solidFill>
                <a:srgbClr val="000000"/>
              </a:solidFill>
              <a:effectLst/>
              <a:uFillTx/>
              <a:latin typeface="Nimbus Sans"/>
            </a:endParaRPr>
          </a:p>
        </p:txBody>
      </p:sp>
      <p:sp>
        <p:nvSpPr>
          <p:cNvPr id="38" name="Text 13"/>
          <p:cNvSpPr/>
          <p:nvPr/>
        </p:nvSpPr>
        <p:spPr>
          <a:xfrm>
            <a:off x="960120" y="3886200"/>
            <a:ext cx="2955960" cy="1051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300" b="1" u="none" strike="noStrike">
                <a:solidFill>
                  <a:srgbClr val="0284C7"/>
                </a:solidFill>
                <a:effectLst/>
                <a:uFillTx/>
                <a:latin typeface="Calibri"/>
              </a:rPr>
              <a:t>• </a:t>
            </a:r>
            <a:r>
              <a:rPr lang="en-US" sz="1080" b="0" u="none" strike="noStrike">
                <a:solidFill>
                  <a:srgbClr val="1E293B"/>
                </a:solidFill>
                <a:effectLst/>
                <a:uFillTx/>
                <a:latin typeface="Calibri"/>
                <a:ea typeface="Calibri"/>
              </a:rPr>
              <a:t>Ubuntu Server: Chu kỳ LTS 5 năm ổn định, phổ biến nhưng cồng kềnh </a:t>
            </a:r>
            <a:r>
              <a:rPr lang="en-US" sz="1080" b="0" u="none" strike="noStrike">
                <a:solidFill>
                  <a:srgbClr val="1E293B"/>
                </a:solidFill>
                <a:effectLst/>
                <a:uFillTx/>
                <a:latin typeface="Calibri"/>
                <a:ea typeface="Calibri"/>
              </a:rPr>
              <a:t>(~750MB RAM), nhiều daemon nền mặc định.</a:t>
            </a:r>
            <a:endParaRPr lang="en-US" sz="1080" b="0" u="none" strike="noStrike">
              <a:solidFill>
                <a:srgbClr val="000000"/>
              </a:solidFill>
              <a:effectLst/>
              <a:uFillTx/>
              <a:latin typeface="Nimbus Sans"/>
            </a:endParaRPr>
          </a:p>
        </p:txBody>
      </p:sp>
      <p:sp>
        <p:nvSpPr>
          <p:cNvPr id="39" name="Text 14"/>
          <p:cNvSpPr/>
          <p:nvPr/>
        </p:nvSpPr>
        <p:spPr>
          <a:xfrm>
            <a:off x="960120" y="5029200"/>
            <a:ext cx="2955960" cy="1051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300" b="1" u="none" strike="noStrike">
                <a:solidFill>
                  <a:srgbClr val="0284C7"/>
                </a:solidFill>
                <a:effectLst/>
                <a:uFillTx/>
                <a:latin typeface="Calibri"/>
              </a:rPr>
              <a:t>• </a:t>
            </a:r>
            <a:r>
              <a:rPr lang="en-US" sz="1080" b="0" u="none" strike="noStrike">
                <a:solidFill>
                  <a:srgbClr val="1E293B"/>
                </a:solidFill>
                <a:effectLst/>
                <a:uFillTx/>
                <a:latin typeface="Calibri"/>
                <a:ea typeface="Calibri"/>
              </a:rPr>
              <a:t>Nhu cầu cấp thiết: Cần một công trình đo lường đối sánh định lượng </a:t>
            </a:r>
            <a:r>
              <a:rPr lang="en-US" sz="1080" b="0" u="none" strike="noStrike">
                <a:solidFill>
                  <a:srgbClr val="1E293B"/>
                </a:solidFill>
                <a:effectLst/>
                <a:uFillTx/>
                <a:latin typeface="Calibri"/>
                <a:ea typeface="Calibri"/>
              </a:rPr>
              <a:t>khoa học khi chạy tải công việc MLOps thực tế.</a:t>
            </a:r>
            <a:endParaRPr lang="en-US" sz="1080" b="0" u="none" strike="noStrike">
              <a:solidFill>
                <a:srgbClr val="000000"/>
              </a:solidFill>
              <a:effectLst/>
              <a:uFillTx/>
              <a:latin typeface="Nimbus Sans"/>
            </a:endParaRPr>
          </a:p>
        </p:txBody>
      </p:sp>
      <p:sp>
        <p:nvSpPr>
          <p:cNvPr id="40" name="Shape 15"/>
          <p:cNvSpPr/>
          <p:nvPr/>
        </p:nvSpPr>
        <p:spPr>
          <a:xfrm>
            <a:off x="4389120" y="1691640"/>
            <a:ext cx="3413160" cy="4388760"/>
          </a:xfrm>
          <a:prstGeom prst="roundRect">
            <a:avLst>
              <a:gd name="adj" fmla="val 2143"/>
            </a:avLst>
          </a:prstGeom>
          <a:solidFill>
            <a:srgbClr val="FFFFFF"/>
          </a:solidFill>
          <a:ln w="19050">
            <a:solidFill>
              <a:srgbClr val="BA141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41" name="Shape 16"/>
          <p:cNvSpPr/>
          <p:nvPr/>
        </p:nvSpPr>
        <p:spPr>
          <a:xfrm>
            <a:off x="4572000" y="1874520"/>
            <a:ext cx="3047400" cy="292320"/>
          </a:xfrm>
          <a:prstGeom prst="roundRect">
            <a:avLst>
              <a:gd name="adj" fmla="val 15625"/>
            </a:avLst>
          </a:prstGeom>
          <a:solidFill>
            <a:srgbClr val="BA141A"/>
          </a:solidFill>
          <a:ln w="12700">
            <a:solidFill>
              <a:srgbClr val="BA141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42" name="Text 17"/>
          <p:cNvSpPr/>
          <p:nvPr/>
        </p:nvSpPr>
        <p:spPr>
          <a:xfrm>
            <a:off x="4572000" y="1874520"/>
            <a:ext cx="3047400" cy="292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Calibri"/>
                <a:ea typeface="Calibri"/>
              </a:rPr>
              <a:t>LỖ HỔNG CONTAINER ESCAPE</a:t>
            </a:r>
            <a:endParaRPr lang="en-US" sz="1000" b="0" u="none" strike="noStrike">
              <a:solidFill>
                <a:srgbClr val="000000"/>
              </a:solidFill>
              <a:effectLst/>
              <a:uFillTx/>
              <a:latin typeface="Nimbus Sans"/>
            </a:endParaRPr>
          </a:p>
        </p:txBody>
      </p:sp>
      <p:sp>
        <p:nvSpPr>
          <p:cNvPr id="43" name="Text 18"/>
          <p:cNvSpPr/>
          <p:nvPr/>
        </p:nvSpPr>
        <p:spPr>
          <a:xfrm>
            <a:off x="4572000" y="2240280"/>
            <a:ext cx="3047400" cy="4111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F172A"/>
                </a:solidFill>
                <a:effectLst/>
                <a:uFillTx/>
                <a:latin typeface="Calibri"/>
                <a:ea typeface="Calibri"/>
              </a:rPr>
              <a:t>HIỂM HỌA ROOTFUL DOCKER</a:t>
            </a:r>
            <a:endParaRPr lang="en-US" sz="1300" b="0" u="none" strike="noStrike">
              <a:solidFill>
                <a:srgbClr val="000000"/>
              </a:solidFill>
              <a:effectLst/>
              <a:uFillTx/>
              <a:latin typeface="Nimbus Sans"/>
            </a:endParaRPr>
          </a:p>
        </p:txBody>
      </p:sp>
      <p:sp>
        <p:nvSpPr>
          <p:cNvPr id="44" name="Text 19"/>
          <p:cNvSpPr/>
          <p:nvPr/>
        </p:nvSpPr>
        <p:spPr>
          <a:xfrm>
            <a:off x="4617720" y="2743200"/>
            <a:ext cx="2955960" cy="1051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300" b="1" u="none" strike="noStrike">
                <a:solidFill>
                  <a:srgbClr val="BA141A"/>
                </a:solidFill>
                <a:effectLst/>
                <a:uFillTx/>
                <a:latin typeface="Calibri"/>
              </a:rPr>
              <a:t>• </a:t>
            </a:r>
            <a:r>
              <a:rPr lang="en-US" sz="1080" b="0" u="none" strike="noStrike">
                <a:solidFill>
                  <a:srgbClr val="1E293B"/>
                </a:solidFill>
                <a:effectLst/>
                <a:uFillTx/>
                <a:latin typeface="Calibri"/>
                <a:ea typeface="Calibri"/>
              </a:rPr>
              <a:t>Docker truyền thống chạy daemon dưới quyền root (UID 0) tối cao của </a:t>
            </a:r>
            <a:r>
              <a:rPr lang="en-US" sz="1080" b="0" u="none" strike="noStrike">
                <a:solidFill>
                  <a:srgbClr val="1E293B"/>
                </a:solidFill>
                <a:effectLst/>
                <a:uFillTx/>
                <a:latin typeface="Calibri"/>
                <a:ea typeface="Calibri"/>
              </a:rPr>
              <a:t>máy chủ.</a:t>
            </a:r>
            <a:endParaRPr lang="en-US" sz="1080" b="0" u="none" strike="noStrike">
              <a:solidFill>
                <a:srgbClr val="000000"/>
              </a:solidFill>
              <a:effectLst/>
              <a:uFillTx/>
              <a:latin typeface="Nimbus Sans"/>
            </a:endParaRPr>
          </a:p>
        </p:txBody>
      </p:sp>
      <p:sp>
        <p:nvSpPr>
          <p:cNvPr id="45" name="Text 20"/>
          <p:cNvSpPr/>
          <p:nvPr/>
        </p:nvSpPr>
        <p:spPr>
          <a:xfrm>
            <a:off x="4617720" y="3886200"/>
            <a:ext cx="2955960" cy="1051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300" b="1" u="none" strike="noStrike">
                <a:solidFill>
                  <a:srgbClr val="BA141A"/>
                </a:solidFill>
                <a:effectLst/>
                <a:uFillTx/>
                <a:latin typeface="Calibri"/>
              </a:rPr>
              <a:t>• </a:t>
            </a:r>
            <a:r>
              <a:rPr lang="en-US" sz="1080" b="0" u="none" strike="noStrike">
                <a:solidFill>
                  <a:srgbClr val="1E293B"/>
                </a:solidFill>
                <a:effectLst/>
                <a:uFillTx/>
                <a:latin typeface="Calibri"/>
                <a:ea typeface="Calibri"/>
              </a:rPr>
              <a:t>Khi vi dịch vụ AI bị Remote Code Execution (RCE), hacker có thể khai thác </a:t>
            </a:r>
            <a:r>
              <a:rPr lang="en-US" sz="1080" b="0" u="none" strike="noStrike">
                <a:solidFill>
                  <a:srgbClr val="1E293B"/>
                </a:solidFill>
                <a:effectLst/>
                <a:uFillTx/>
                <a:latin typeface="Calibri"/>
                <a:ea typeface="Calibri"/>
              </a:rPr>
              <a:t>CVE-2019-5736 leo thang kiểm soát máy chủ vật lý.</a:t>
            </a:r>
            <a:endParaRPr lang="en-US" sz="1080" b="0" u="none" strike="noStrike">
              <a:solidFill>
                <a:srgbClr val="000000"/>
              </a:solidFill>
              <a:effectLst/>
              <a:uFillTx/>
              <a:latin typeface="Nimbus Sans"/>
            </a:endParaRPr>
          </a:p>
        </p:txBody>
      </p:sp>
      <p:sp>
        <p:nvSpPr>
          <p:cNvPr id="46" name="Text 21"/>
          <p:cNvSpPr/>
          <p:nvPr/>
        </p:nvSpPr>
        <p:spPr>
          <a:xfrm>
            <a:off x="4617720" y="5029200"/>
            <a:ext cx="2955960" cy="1051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300" b="1" u="none" strike="noStrike">
                <a:solidFill>
                  <a:srgbClr val="BA141A"/>
                </a:solidFill>
                <a:effectLst/>
                <a:uFillTx/>
                <a:latin typeface="Calibri"/>
              </a:rPr>
              <a:t>• </a:t>
            </a:r>
            <a:r>
              <a:rPr lang="en-US" sz="1080" b="0" u="none" strike="noStrike">
                <a:solidFill>
                  <a:srgbClr val="1E293B"/>
                </a:solidFill>
                <a:effectLst/>
                <a:uFillTx/>
                <a:latin typeface="Calibri"/>
                <a:ea typeface="Calibri"/>
              </a:rPr>
              <a:t>Mở cổng cơ sở dữ liệu </a:t>
            </a:r>
            <a:r>
              <a:rPr lang="en-US" sz="1080" b="0" u="none" strike="noStrike">
                <a:solidFill>
                  <a:srgbClr val="1E293B"/>
                </a:solidFill>
                <a:effectLst/>
                <a:uFillTx/>
                <a:latin typeface="Calibri"/>
                <a:ea typeface="Calibri"/>
              </a:rPr>
              <a:t>(5432) ra ngoài Internet tạo </a:t>
            </a:r>
            <a:r>
              <a:rPr lang="en-US" sz="1080" b="0" u="none" strike="noStrike">
                <a:solidFill>
                  <a:srgbClr val="1E293B"/>
                </a:solidFill>
                <a:effectLst/>
                <a:uFillTx/>
                <a:latin typeface="Calibri"/>
                <a:ea typeface="Calibri"/>
              </a:rPr>
              <a:t>điều kiện cho botnet quét </a:t>
            </a:r>
            <a:r>
              <a:rPr lang="en-US" sz="1080" b="0" u="none" strike="noStrike">
                <a:solidFill>
                  <a:srgbClr val="1E293B"/>
                </a:solidFill>
                <a:effectLst/>
                <a:uFillTx/>
                <a:latin typeface="Calibri"/>
                <a:ea typeface="Calibri"/>
              </a:rPr>
              <a:t>mạng và đánh cắp dữ liệu </a:t>
            </a:r>
            <a:r>
              <a:rPr lang="en-US" sz="1080" b="0" u="none" strike="noStrike">
                <a:solidFill>
                  <a:srgbClr val="1E293B"/>
                </a:solidFill>
                <a:effectLst/>
                <a:uFillTx/>
                <a:latin typeface="Calibri"/>
                <a:ea typeface="Calibri"/>
              </a:rPr>
              <a:t>mô hình.</a:t>
            </a:r>
            <a:endParaRPr lang="en-US" sz="1080" b="0" u="none" strike="noStrike">
              <a:solidFill>
                <a:srgbClr val="000000"/>
              </a:solidFill>
              <a:effectLst/>
              <a:uFillTx/>
              <a:latin typeface="Nimbus Sans"/>
            </a:endParaRPr>
          </a:p>
        </p:txBody>
      </p:sp>
      <p:sp>
        <p:nvSpPr>
          <p:cNvPr id="47" name="Shape 22"/>
          <p:cNvSpPr/>
          <p:nvPr/>
        </p:nvSpPr>
        <p:spPr>
          <a:xfrm>
            <a:off x="8046720" y="1691640"/>
            <a:ext cx="3413160" cy="4388760"/>
          </a:xfrm>
          <a:prstGeom prst="roundRect">
            <a:avLst>
              <a:gd name="adj" fmla="val 2143"/>
            </a:avLst>
          </a:prstGeom>
          <a:solidFill>
            <a:srgbClr val="FFFFFF"/>
          </a:solidFill>
          <a:ln w="1905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48" name="Shape 23"/>
          <p:cNvSpPr/>
          <p:nvPr/>
        </p:nvSpPr>
        <p:spPr>
          <a:xfrm>
            <a:off x="8229600" y="1874520"/>
            <a:ext cx="3047400" cy="292320"/>
          </a:xfrm>
          <a:prstGeom prst="roundRect">
            <a:avLst>
              <a:gd name="adj" fmla="val 15625"/>
            </a:avLst>
          </a:prstGeom>
          <a:solidFill>
            <a:srgbClr val="16A34A"/>
          </a:solidFill>
          <a:ln w="1270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49" name="Text 24"/>
          <p:cNvSpPr/>
          <p:nvPr/>
        </p:nvSpPr>
        <p:spPr>
          <a:xfrm>
            <a:off x="8229600" y="1874520"/>
            <a:ext cx="3047400" cy="292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Calibri"/>
                <a:ea typeface="Calibri"/>
              </a:rPr>
              <a:t>ROOTLESS &amp; ZERO-TRUST</a:t>
            </a:r>
            <a:endParaRPr lang="en-US" sz="1000" b="0" u="none" strike="noStrike">
              <a:solidFill>
                <a:srgbClr val="000000"/>
              </a:solidFill>
              <a:effectLst/>
              <a:uFillTx/>
              <a:latin typeface="Nimbus Sans"/>
            </a:endParaRPr>
          </a:p>
        </p:txBody>
      </p:sp>
      <p:sp>
        <p:nvSpPr>
          <p:cNvPr id="50" name="Text 25"/>
          <p:cNvSpPr/>
          <p:nvPr/>
        </p:nvSpPr>
        <p:spPr>
          <a:xfrm>
            <a:off x="8229600" y="2240280"/>
            <a:ext cx="3047400" cy="4111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0F172A"/>
                </a:solidFill>
                <a:effectLst/>
                <a:uFillTx/>
                <a:latin typeface="Calibri"/>
                <a:ea typeface="Calibri"/>
              </a:rPr>
              <a:t>GIẢI PHÁP ĐỘT PHÁ CỦA </a:t>
            </a:r>
            <a:r>
              <a:rPr lang="en-US" sz="1300" b="1" u="none" strike="noStrike">
                <a:solidFill>
                  <a:srgbClr val="0F172A"/>
                </a:solidFill>
                <a:effectLst/>
                <a:uFillTx/>
                <a:latin typeface="Calibri"/>
                <a:ea typeface="Calibri"/>
              </a:rPr>
              <a:t>NHÓM</a:t>
            </a:r>
            <a:endParaRPr lang="en-US" sz="1300" b="0" u="none" strike="noStrike">
              <a:solidFill>
                <a:srgbClr val="000000"/>
              </a:solidFill>
              <a:effectLst/>
              <a:uFillTx/>
              <a:latin typeface="Nimbus Sans"/>
            </a:endParaRPr>
          </a:p>
        </p:txBody>
      </p:sp>
      <p:sp>
        <p:nvSpPr>
          <p:cNvPr id="51" name="Text 26"/>
          <p:cNvSpPr/>
          <p:nvPr/>
        </p:nvSpPr>
        <p:spPr>
          <a:xfrm>
            <a:off x="8275320" y="2743200"/>
            <a:ext cx="2955960" cy="1051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300" b="1" u="none" strike="noStrike">
                <a:solidFill>
                  <a:srgbClr val="16A34A"/>
                </a:solidFill>
                <a:effectLst/>
                <a:uFillTx/>
                <a:latin typeface="Calibri"/>
              </a:rPr>
              <a:t>• </a:t>
            </a:r>
            <a:r>
              <a:rPr lang="en-US" sz="1080" b="0" u="none" strike="noStrike">
                <a:solidFill>
                  <a:srgbClr val="1E293B"/>
                </a:solidFill>
                <a:effectLst/>
                <a:uFillTx/>
                <a:latin typeface="Calibri"/>
                <a:ea typeface="Calibri"/>
              </a:rPr>
              <a:t>Thiết kế động cơ Rootless Docker: </a:t>
            </a:r>
            <a:r>
              <a:rPr lang="en-US" sz="1080" b="0" u="none" strike="noStrike">
                <a:solidFill>
                  <a:srgbClr val="1E293B"/>
                </a:solidFill>
                <a:effectLst/>
                <a:uFillTx/>
                <a:latin typeface="Calibri"/>
                <a:ea typeface="Calibri"/>
              </a:rPr>
              <a:t>Daemon chạy hoàn toàn dưới user </a:t>
            </a:r>
            <a:r>
              <a:rPr lang="en-US" sz="1080" b="0" u="none" strike="noStrike">
                <a:solidFill>
                  <a:srgbClr val="1E293B"/>
                </a:solidFill>
                <a:effectLst/>
                <a:uFillTx/>
                <a:latin typeface="Calibri"/>
                <a:ea typeface="Calibri"/>
              </a:rPr>
              <a:t>thường mlops (UID 1003).</a:t>
            </a:r>
            <a:endParaRPr lang="en-US" sz="1080" b="0" u="none" strike="noStrike">
              <a:solidFill>
                <a:srgbClr val="000000"/>
              </a:solidFill>
              <a:effectLst/>
              <a:uFillTx/>
              <a:latin typeface="Nimbus Sans"/>
            </a:endParaRPr>
          </a:p>
        </p:txBody>
      </p:sp>
      <p:sp>
        <p:nvSpPr>
          <p:cNvPr id="52" name="Text 27"/>
          <p:cNvSpPr/>
          <p:nvPr/>
        </p:nvSpPr>
        <p:spPr>
          <a:xfrm>
            <a:off x="8275320" y="3886200"/>
            <a:ext cx="2955960" cy="1051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300" b="1" u="none" strike="noStrike">
                <a:solidFill>
                  <a:srgbClr val="16A34A"/>
                </a:solidFill>
                <a:effectLst/>
                <a:uFillTx/>
                <a:latin typeface="Calibri"/>
              </a:rPr>
              <a:t>• </a:t>
            </a:r>
            <a:r>
              <a:rPr lang="en-US" sz="1080" b="0" u="none" strike="noStrike">
                <a:solidFill>
                  <a:srgbClr val="1E293B"/>
                </a:solidFill>
                <a:effectLst/>
                <a:uFillTx/>
                <a:latin typeface="Calibri"/>
                <a:ea typeface="Calibri"/>
              </a:rPr>
              <a:t>Cách ly mạng nội bộ Zero-Trust: </a:t>
            </a:r>
            <a:r>
              <a:rPr lang="en-US" sz="1080" b="0" u="none" strike="noStrike">
                <a:solidFill>
                  <a:srgbClr val="1E293B"/>
                </a:solidFill>
                <a:effectLst/>
                <a:uFillTx/>
                <a:latin typeface="Calibri"/>
                <a:ea typeface="Calibri"/>
              </a:rPr>
              <a:t>Đóng cổng 5432 trên Host, chỉ giao </a:t>
            </a:r>
            <a:r>
              <a:rPr lang="en-US" sz="1080" b="0" u="none" strike="noStrike">
                <a:solidFill>
                  <a:srgbClr val="1E293B"/>
                </a:solidFill>
                <a:effectLst/>
                <a:uFillTx/>
                <a:latin typeface="Calibri"/>
                <a:ea typeface="Calibri"/>
              </a:rPr>
              <a:t>tiếp nội bộ container qua bridge </a:t>
            </a:r>
            <a:r>
              <a:rPr lang="en-US" sz="1080" b="0" u="none" strike="noStrike">
                <a:solidFill>
                  <a:srgbClr val="1E293B"/>
                </a:solidFill>
                <a:effectLst/>
                <a:uFillTx/>
                <a:latin typeface="Calibri"/>
                <a:ea typeface="Calibri"/>
              </a:rPr>
              <a:t>riêng.</a:t>
            </a:r>
            <a:endParaRPr lang="en-US" sz="1080" b="0" u="none" strike="noStrike">
              <a:solidFill>
                <a:srgbClr val="000000"/>
              </a:solidFill>
              <a:effectLst/>
              <a:uFillTx/>
              <a:latin typeface="Nimbus Sans"/>
            </a:endParaRPr>
          </a:p>
        </p:txBody>
      </p:sp>
      <p:sp>
        <p:nvSpPr>
          <p:cNvPr id="53" name="Text 28"/>
          <p:cNvSpPr/>
          <p:nvPr/>
        </p:nvSpPr>
        <p:spPr>
          <a:xfrm>
            <a:off x="8275320" y="5029200"/>
            <a:ext cx="2955960" cy="1051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300" b="1" u="none" strike="noStrike">
                <a:solidFill>
                  <a:srgbClr val="16A34A"/>
                </a:solidFill>
                <a:effectLst/>
                <a:uFillTx/>
                <a:latin typeface="Calibri"/>
              </a:rPr>
              <a:t>• </a:t>
            </a:r>
            <a:r>
              <a:rPr lang="en-US" sz="1080" b="0" u="none" strike="noStrike">
                <a:solidFill>
                  <a:srgbClr val="1E293B"/>
                </a:solidFill>
                <a:effectLst/>
                <a:uFillTx/>
                <a:latin typeface="Calibri"/>
                <a:ea typeface="Calibri"/>
              </a:rPr>
              <a:t>Tự động hóa 100% bằng bộ kịch bản IaC Bash script có thể tái lập tức thì và hỗ trợ rollback an toàn.</a:t>
            </a:r>
            <a:endParaRPr lang="en-US" sz="1080" b="0" u="none" strike="noStrike">
              <a:solidFill>
                <a:srgbClr val="000000"/>
              </a:solidFill>
              <a:effectLst/>
              <a:uFillTx/>
              <a:latin typeface="Nimbus Sans"/>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54" name="Shape 0"/>
          <p:cNvSpPr/>
          <p:nvPr/>
        </p:nvSpPr>
        <p:spPr>
          <a:xfrm>
            <a:off x="731520" y="384120"/>
            <a:ext cx="2285640" cy="292320"/>
          </a:xfrm>
          <a:prstGeom prst="roundRect">
            <a:avLst>
              <a:gd name="adj" fmla="val 25000"/>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55" name="Text 1"/>
          <p:cNvSpPr/>
          <p:nvPr/>
        </p:nvSpPr>
        <p:spPr>
          <a:xfrm>
            <a:off x="731520" y="384120"/>
            <a:ext cx="2285640" cy="292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Calibri"/>
                <a:ea typeface="Calibri"/>
              </a:rPr>
              <a:t>MỤC TIÊU NGHIÊN CỨU</a:t>
            </a:r>
            <a:endParaRPr lang="en-US" sz="1000" b="0" u="none" strike="noStrike">
              <a:solidFill>
                <a:srgbClr val="000000"/>
              </a:solidFill>
              <a:effectLst/>
              <a:uFillTx/>
              <a:latin typeface="Nimbus Sans"/>
            </a:endParaRPr>
          </a:p>
        </p:txBody>
      </p:sp>
      <p:sp>
        <p:nvSpPr>
          <p:cNvPr id="56" name="Text 2"/>
          <p:cNvSpPr/>
          <p:nvPr/>
        </p:nvSpPr>
        <p:spPr>
          <a:xfrm>
            <a:off x="731520" y="731520"/>
            <a:ext cx="107283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100" b="1" u="none" strike="noStrike">
                <a:solidFill>
                  <a:srgbClr val="0F172A"/>
                </a:solidFill>
                <a:effectLst/>
                <a:uFillTx/>
                <a:latin typeface="Calibri"/>
                <a:ea typeface="Calibri"/>
              </a:rPr>
              <a:t>2. MỤC TIÊU </a:t>
            </a:r>
            <a:r>
              <a:rPr lang="en-US" sz="2100" b="1" u="none" strike="noStrike">
                <a:solidFill>
                  <a:srgbClr val="0F172A"/>
                </a:solidFill>
                <a:effectLst/>
                <a:uFillTx/>
                <a:latin typeface="Calibri"/>
                <a:ea typeface="Calibri"/>
              </a:rPr>
              <a:t>NGHIÊN CỨU </a:t>
            </a:r>
            <a:r>
              <a:rPr lang="en-US" sz="2100" b="1" u="none" strike="noStrike">
                <a:solidFill>
                  <a:srgbClr val="0F172A"/>
                </a:solidFill>
                <a:effectLst/>
                <a:uFillTx/>
                <a:latin typeface="Calibri"/>
                <a:ea typeface="Calibri"/>
              </a:rPr>
              <a:t>THEO CHUẨN </a:t>
            </a:r>
            <a:r>
              <a:rPr lang="en-US" sz="2100" b="1" u="none" strike="noStrike">
                <a:solidFill>
                  <a:srgbClr val="0F172A"/>
                </a:solidFill>
                <a:effectLst/>
                <a:uFillTx/>
                <a:latin typeface="Calibri"/>
                <a:ea typeface="Calibri"/>
              </a:rPr>
              <a:t>SMART</a:t>
            </a:r>
            <a:endParaRPr lang="en-US" sz="2100" b="0" u="none" strike="noStrike">
              <a:solidFill>
                <a:srgbClr val="000000"/>
              </a:solidFill>
              <a:effectLst/>
              <a:uFillTx/>
              <a:latin typeface="Nimbus Sans"/>
            </a:endParaRPr>
          </a:p>
        </p:txBody>
      </p:sp>
      <p:sp>
        <p:nvSpPr>
          <p:cNvPr id="57" name="Text 3"/>
          <p:cNvSpPr/>
          <p:nvPr/>
        </p:nvSpPr>
        <p:spPr>
          <a:xfrm>
            <a:off x="731520" y="1170360"/>
            <a:ext cx="107283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Cam kết và đo lường tiến độ </a:t>
            </a:r>
            <a:r>
              <a:rPr lang="en-US" sz="1250" b="0" i="1" u="none" strike="noStrike">
                <a:solidFill>
                  <a:srgbClr val="64748B"/>
                </a:solidFill>
                <a:effectLst/>
                <a:uFillTx/>
                <a:latin typeface="Calibri"/>
                <a:ea typeface="Calibri"/>
              </a:rPr>
              <a:t>thực hiện đề tài theo 5 tiêu </a:t>
            </a:r>
            <a:r>
              <a:rPr lang="en-US" sz="1250" b="0" i="1" u="none" strike="noStrike">
                <a:solidFill>
                  <a:srgbClr val="64748B"/>
                </a:solidFill>
                <a:effectLst/>
                <a:uFillTx/>
                <a:latin typeface="Calibri"/>
                <a:ea typeface="Calibri"/>
              </a:rPr>
              <a:t>chuẩn khoa học chính xác</a:t>
            </a:r>
            <a:endParaRPr lang="en-US" sz="1250" b="0" u="none" strike="noStrike">
              <a:solidFill>
                <a:srgbClr val="000000"/>
              </a:solidFill>
              <a:effectLst/>
              <a:uFillTx/>
              <a:latin typeface="Nimbus Sans"/>
            </a:endParaRPr>
          </a:p>
        </p:txBody>
      </p:sp>
      <p:sp>
        <p:nvSpPr>
          <p:cNvPr id="58" name="Shape 4"/>
          <p:cNvSpPr/>
          <p:nvPr/>
        </p:nvSpPr>
        <p:spPr>
          <a:xfrm>
            <a:off x="731520" y="1481040"/>
            <a:ext cx="10728360" cy="360"/>
          </a:xfrm>
          <a:prstGeom prst="line">
            <a:avLst/>
          </a:prstGeom>
          <a:ln w="12700">
            <a:solidFill>
              <a:srgbClr val="CBD5E1"/>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59" name="Shape 5"/>
          <p:cNvSpPr/>
          <p:nvPr/>
        </p:nvSpPr>
        <p:spPr>
          <a:xfrm>
            <a:off x="731520" y="6291000"/>
            <a:ext cx="10728360" cy="360"/>
          </a:xfrm>
          <a:prstGeom prst="line">
            <a:avLst/>
          </a:prstGeom>
          <a:ln w="12700">
            <a:solidFill>
              <a:srgbClr val="E2E8F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60" name="Text 6"/>
          <p:cNvSpPr/>
          <p:nvPr/>
        </p:nvSpPr>
        <p:spPr>
          <a:xfrm>
            <a:off x="731520" y="6355080"/>
            <a:ext cx="82292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0" u="none" strike="noStrike">
                <a:solidFill>
                  <a:srgbClr val="94A3B8"/>
                </a:solidFill>
                <a:effectLst/>
                <a:uFillTx/>
                <a:latin typeface="Calibri"/>
                <a:ea typeface="Calibri"/>
              </a:rPr>
              <a:t>VKU — Đồ án Linux &amp; Open Source: </a:t>
            </a:r>
            <a:r>
              <a:rPr lang="en-US" sz="950" b="0" u="none" strike="noStrike">
                <a:solidFill>
                  <a:srgbClr val="94A3B8"/>
                </a:solidFill>
                <a:effectLst/>
                <a:uFillTx/>
                <a:latin typeface="Calibri"/>
                <a:ea typeface="Calibri"/>
              </a:rPr>
              <a:t>MLOps Pipeline | Nhóm: Nguyễn Công </a:t>
            </a:r>
            <a:r>
              <a:rPr lang="en-US" sz="950" b="0" u="none" strike="noStrike">
                <a:solidFill>
                  <a:srgbClr val="94A3B8"/>
                </a:solidFill>
                <a:effectLst/>
                <a:uFillTx/>
                <a:latin typeface="Calibri"/>
                <a:ea typeface="Calibri"/>
              </a:rPr>
              <a:t>Đức, Nguyễn Tùng Dương, Nguyễn </a:t>
            </a:r>
            <a:r>
              <a:rPr lang="en-US" sz="950" b="0" u="none" strike="noStrike">
                <a:solidFill>
                  <a:srgbClr val="94A3B8"/>
                </a:solidFill>
                <a:effectLst/>
                <a:uFillTx/>
                <a:latin typeface="Calibri"/>
                <a:ea typeface="Calibri"/>
              </a:rPr>
              <a:t>Văn C</a:t>
            </a:r>
            <a:endParaRPr lang="en-US" sz="950" b="0" u="none" strike="noStrike">
              <a:solidFill>
                <a:srgbClr val="000000"/>
              </a:solidFill>
              <a:effectLst/>
              <a:uFillTx/>
              <a:latin typeface="Nimbus Sans"/>
            </a:endParaRPr>
          </a:p>
        </p:txBody>
      </p:sp>
      <p:sp>
        <p:nvSpPr>
          <p:cNvPr id="61" name="Text 7"/>
          <p:cNvSpPr/>
          <p:nvPr/>
        </p:nvSpPr>
        <p:spPr>
          <a:xfrm>
            <a:off x="9601200" y="6355080"/>
            <a:ext cx="1858680" cy="255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1000" b="1" u="none" strike="noStrike">
                <a:solidFill>
                  <a:srgbClr val="0284C7"/>
                </a:solidFill>
                <a:effectLst/>
                <a:uFillTx/>
                <a:latin typeface="Calibri"/>
                <a:ea typeface="Calibri"/>
              </a:rPr>
              <a:t>Slide 03 / 12</a:t>
            </a:r>
            <a:endParaRPr lang="en-US" sz="1000" b="0" u="none" strike="noStrike">
              <a:solidFill>
                <a:srgbClr val="000000"/>
              </a:solidFill>
              <a:effectLst/>
              <a:uFillTx/>
              <a:latin typeface="Nimbus Sans"/>
            </a:endParaRPr>
          </a:p>
        </p:txBody>
      </p:sp>
      <p:sp>
        <p:nvSpPr>
          <p:cNvPr id="62" name="Shape 8"/>
          <p:cNvSpPr/>
          <p:nvPr/>
        </p:nvSpPr>
        <p:spPr>
          <a:xfrm>
            <a:off x="731520" y="1691640"/>
            <a:ext cx="5241960" cy="2057040"/>
          </a:xfrm>
          <a:prstGeom prst="roundRect">
            <a:avLst>
              <a:gd name="adj" fmla="val 3556"/>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63" name="Shape 9"/>
          <p:cNvSpPr/>
          <p:nvPr/>
        </p:nvSpPr>
        <p:spPr>
          <a:xfrm>
            <a:off x="1005840" y="1965960"/>
            <a:ext cx="822600" cy="822600"/>
          </a:xfrm>
          <a:prstGeom prst="roundRect">
            <a:avLst>
              <a:gd name="adj" fmla="val 8889"/>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64" name="Text 10"/>
          <p:cNvSpPr/>
          <p:nvPr/>
        </p:nvSpPr>
        <p:spPr>
          <a:xfrm>
            <a:off x="1005840" y="1965960"/>
            <a:ext cx="822600" cy="8226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1" u="none" strike="noStrike">
                <a:solidFill>
                  <a:srgbClr val="FFFFFF"/>
                </a:solidFill>
                <a:effectLst/>
                <a:uFillTx/>
                <a:latin typeface="Calibri"/>
                <a:ea typeface="Calibri"/>
              </a:rPr>
              <a:t>S</a:t>
            </a:r>
            <a:endParaRPr lang="en-US" sz="2000" b="0" u="none" strike="noStrike">
              <a:solidFill>
                <a:srgbClr val="000000"/>
              </a:solidFill>
              <a:effectLst/>
              <a:uFillTx/>
              <a:latin typeface="Nimbus Sans"/>
            </a:endParaRPr>
          </a:p>
        </p:txBody>
      </p:sp>
      <p:sp>
        <p:nvSpPr>
          <p:cNvPr id="65" name="Text 11"/>
          <p:cNvSpPr/>
          <p:nvPr/>
        </p:nvSpPr>
        <p:spPr>
          <a:xfrm>
            <a:off x="2011680" y="1965960"/>
            <a:ext cx="374868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0F172A"/>
                </a:solidFill>
                <a:effectLst/>
                <a:uFillTx/>
                <a:latin typeface="Calibri"/>
                <a:ea typeface="Calibri"/>
              </a:rPr>
              <a:t>SPECIFIC (MỤC TIÊU CỤ </a:t>
            </a:r>
            <a:r>
              <a:rPr lang="en-US" sz="1300" b="1" u="none" strike="noStrike">
                <a:solidFill>
                  <a:srgbClr val="0F172A"/>
                </a:solidFill>
                <a:effectLst/>
                <a:uFillTx/>
                <a:latin typeface="Calibri"/>
                <a:ea typeface="Calibri"/>
              </a:rPr>
              <a:t>THỂ)</a:t>
            </a:r>
            <a:endParaRPr lang="en-US" sz="1300" b="0" u="none" strike="noStrike">
              <a:solidFill>
                <a:srgbClr val="000000"/>
              </a:solidFill>
              <a:effectLst/>
              <a:uFillTx/>
              <a:latin typeface="Nimbus Sans"/>
            </a:endParaRPr>
          </a:p>
        </p:txBody>
      </p:sp>
      <p:sp>
        <p:nvSpPr>
          <p:cNvPr id="66" name="Text 12"/>
          <p:cNvSpPr/>
          <p:nvPr/>
        </p:nvSpPr>
        <p:spPr>
          <a:xfrm>
            <a:off x="2011680" y="2331720"/>
            <a:ext cx="3748680" cy="12340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100" b="0" u="none" strike="noStrike">
                <a:solidFill>
                  <a:srgbClr val="1E293B"/>
                </a:solidFill>
                <a:effectLst/>
                <a:uFillTx/>
                <a:latin typeface="Calibri"/>
                <a:ea typeface="Calibri"/>
              </a:rPr>
              <a:t>Triển khai thành công 100% cụm dịch vụ MLOps chuẩn doanh nghiệp gồm 5 thành phần: FastAPI OCR, MLflow Tracking, PostgreSQL DB, Prometheus và Grafana </a:t>
            </a:r>
            <a:r>
              <a:rPr lang="en-US" sz="1100" b="0" u="none" strike="noStrike">
                <a:solidFill>
                  <a:srgbClr val="1E293B"/>
                </a:solidFill>
                <a:effectLst/>
                <a:uFillTx/>
                <a:latin typeface="Calibri"/>
                <a:ea typeface="Calibri"/>
              </a:rPr>
              <a:t>hoạt động hoàn toàn không cần quyền root trên Arch Linux.</a:t>
            </a:r>
            <a:endParaRPr lang="en-US" sz="1100" b="0" u="none" strike="noStrike">
              <a:solidFill>
                <a:srgbClr val="000000"/>
              </a:solidFill>
              <a:effectLst/>
              <a:uFillTx/>
              <a:latin typeface="Nimbus Sans"/>
            </a:endParaRPr>
          </a:p>
        </p:txBody>
      </p:sp>
      <p:sp>
        <p:nvSpPr>
          <p:cNvPr id="67" name="Shape 13"/>
          <p:cNvSpPr/>
          <p:nvPr/>
        </p:nvSpPr>
        <p:spPr>
          <a:xfrm>
            <a:off x="6217920" y="1691640"/>
            <a:ext cx="5241960" cy="2057040"/>
          </a:xfrm>
          <a:prstGeom prst="roundRect">
            <a:avLst>
              <a:gd name="adj" fmla="val 3556"/>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68" name="Shape 14"/>
          <p:cNvSpPr/>
          <p:nvPr/>
        </p:nvSpPr>
        <p:spPr>
          <a:xfrm>
            <a:off x="6492240" y="1965960"/>
            <a:ext cx="822600" cy="822600"/>
          </a:xfrm>
          <a:prstGeom prst="roundRect">
            <a:avLst>
              <a:gd name="adj" fmla="val 8889"/>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69" name="Text 15"/>
          <p:cNvSpPr/>
          <p:nvPr/>
        </p:nvSpPr>
        <p:spPr>
          <a:xfrm>
            <a:off x="6492240" y="1965960"/>
            <a:ext cx="822600" cy="8226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1" u="none" strike="noStrike">
                <a:solidFill>
                  <a:srgbClr val="FFFFFF"/>
                </a:solidFill>
                <a:effectLst/>
                <a:uFillTx/>
                <a:latin typeface="Calibri"/>
                <a:ea typeface="Calibri"/>
              </a:rPr>
              <a:t>M</a:t>
            </a:r>
            <a:endParaRPr lang="en-US" sz="2000" b="0" u="none" strike="noStrike">
              <a:solidFill>
                <a:srgbClr val="000000"/>
              </a:solidFill>
              <a:effectLst/>
              <a:uFillTx/>
              <a:latin typeface="Nimbus Sans"/>
            </a:endParaRPr>
          </a:p>
        </p:txBody>
      </p:sp>
      <p:sp>
        <p:nvSpPr>
          <p:cNvPr id="70" name="Text 16"/>
          <p:cNvSpPr/>
          <p:nvPr/>
        </p:nvSpPr>
        <p:spPr>
          <a:xfrm>
            <a:off x="7498080" y="1965960"/>
            <a:ext cx="374868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0F172A"/>
                </a:solidFill>
                <a:effectLst/>
                <a:uFillTx/>
                <a:latin typeface="Calibri"/>
                <a:ea typeface="Calibri"/>
              </a:rPr>
              <a:t>MEASURABLE (ĐO LƯỜNG ĐỊNH LƯỢNG)</a:t>
            </a:r>
            <a:endParaRPr lang="en-US" sz="1300" b="0" u="none" strike="noStrike">
              <a:solidFill>
                <a:srgbClr val="000000"/>
              </a:solidFill>
              <a:effectLst/>
              <a:uFillTx/>
              <a:latin typeface="Nimbus Sans"/>
            </a:endParaRPr>
          </a:p>
        </p:txBody>
      </p:sp>
      <p:sp>
        <p:nvSpPr>
          <p:cNvPr id="71" name="Text 17"/>
          <p:cNvSpPr/>
          <p:nvPr/>
        </p:nvSpPr>
        <p:spPr>
          <a:xfrm>
            <a:off x="7498080" y="2331720"/>
            <a:ext cx="3748680" cy="12340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100" b="0" u="none" strike="noStrike">
                <a:solidFill>
                  <a:srgbClr val="1E293B"/>
                </a:solidFill>
                <a:effectLst/>
                <a:uFillTx/>
                <a:latin typeface="Calibri"/>
                <a:ea typeface="Calibri"/>
              </a:rPr>
              <a:t>Thu thập số liệu đo lường thực nghiệm khách quan: Mức chiếm dụng RAM tĩnh (Idle), RAM khi có tải, thời gian khởi động OS (Boot Time), thông lượng xử lý AI (Requests/sec), độ trễ p50/p95/p99 và tỷ lệ lỗi (Error Rate).</a:t>
            </a:r>
            <a:endParaRPr lang="en-US" sz="1100" b="0" u="none" strike="noStrike">
              <a:solidFill>
                <a:srgbClr val="000000"/>
              </a:solidFill>
              <a:effectLst/>
              <a:uFillTx/>
              <a:latin typeface="Nimbus Sans"/>
            </a:endParaRPr>
          </a:p>
        </p:txBody>
      </p:sp>
      <p:sp>
        <p:nvSpPr>
          <p:cNvPr id="72" name="Shape 18"/>
          <p:cNvSpPr/>
          <p:nvPr/>
        </p:nvSpPr>
        <p:spPr>
          <a:xfrm>
            <a:off x="731520" y="3931920"/>
            <a:ext cx="5241960" cy="2057040"/>
          </a:xfrm>
          <a:prstGeom prst="roundRect">
            <a:avLst>
              <a:gd name="adj" fmla="val 3556"/>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73" name="Shape 19"/>
          <p:cNvSpPr/>
          <p:nvPr/>
        </p:nvSpPr>
        <p:spPr>
          <a:xfrm>
            <a:off x="1005840" y="4206240"/>
            <a:ext cx="822600" cy="822600"/>
          </a:xfrm>
          <a:prstGeom prst="roundRect">
            <a:avLst>
              <a:gd name="adj" fmla="val 8889"/>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74" name="Text 20"/>
          <p:cNvSpPr/>
          <p:nvPr/>
        </p:nvSpPr>
        <p:spPr>
          <a:xfrm>
            <a:off x="1005840" y="4206240"/>
            <a:ext cx="822600" cy="8226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1" u="none" strike="noStrike">
                <a:solidFill>
                  <a:srgbClr val="FFFFFF"/>
                </a:solidFill>
                <a:effectLst/>
                <a:uFillTx/>
                <a:latin typeface="Calibri"/>
                <a:ea typeface="Calibri"/>
              </a:rPr>
              <a:t>A</a:t>
            </a:r>
            <a:endParaRPr lang="en-US" sz="2000" b="0" u="none" strike="noStrike">
              <a:solidFill>
                <a:srgbClr val="000000"/>
              </a:solidFill>
              <a:effectLst/>
              <a:uFillTx/>
              <a:latin typeface="Nimbus Sans"/>
            </a:endParaRPr>
          </a:p>
        </p:txBody>
      </p:sp>
      <p:sp>
        <p:nvSpPr>
          <p:cNvPr id="75" name="Text 21"/>
          <p:cNvSpPr/>
          <p:nvPr/>
        </p:nvSpPr>
        <p:spPr>
          <a:xfrm>
            <a:off x="2011680" y="4206240"/>
            <a:ext cx="374868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0F172A"/>
                </a:solidFill>
                <a:effectLst/>
                <a:uFillTx/>
                <a:latin typeface="Calibri"/>
                <a:ea typeface="Calibri"/>
              </a:rPr>
              <a:t>ACHIEVABLE (TÍNH KHẢ </a:t>
            </a:r>
            <a:r>
              <a:rPr lang="en-US" sz="1300" b="1" u="none" strike="noStrike">
                <a:solidFill>
                  <a:srgbClr val="0F172A"/>
                </a:solidFill>
                <a:effectLst/>
                <a:uFillTx/>
                <a:latin typeface="Calibri"/>
                <a:ea typeface="Calibri"/>
              </a:rPr>
              <a:t>THI CAO)</a:t>
            </a:r>
            <a:endParaRPr lang="en-US" sz="1300" b="0" u="none" strike="noStrike">
              <a:solidFill>
                <a:srgbClr val="000000"/>
              </a:solidFill>
              <a:effectLst/>
              <a:uFillTx/>
              <a:latin typeface="Nimbus Sans"/>
            </a:endParaRPr>
          </a:p>
        </p:txBody>
      </p:sp>
      <p:sp>
        <p:nvSpPr>
          <p:cNvPr id="76" name="Text 22"/>
          <p:cNvSpPr/>
          <p:nvPr/>
        </p:nvSpPr>
        <p:spPr>
          <a:xfrm>
            <a:off x="2011680" y="4572000"/>
            <a:ext cx="3748680" cy="12340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100" b="0" u="none" strike="noStrike">
                <a:solidFill>
                  <a:srgbClr val="1E293B"/>
                </a:solidFill>
                <a:effectLst/>
                <a:uFillTx/>
                <a:latin typeface="Calibri"/>
                <a:ea typeface="Calibri"/>
              </a:rPr>
              <a:t>Tự động hóa toàn diện 100% hạ tầng thông qua bộ kịch bản IaC Bash shell chuẩn mực (01_hardening, 02_rootless_docker, 03_deploy_stack, 04_verify_system). Khả năng tái lập và rollback chỉ trong vài giây.</a:t>
            </a:r>
            <a:endParaRPr lang="en-US" sz="1100" b="0" u="none" strike="noStrike">
              <a:solidFill>
                <a:srgbClr val="000000"/>
              </a:solidFill>
              <a:effectLst/>
              <a:uFillTx/>
              <a:latin typeface="Nimbus Sans"/>
            </a:endParaRPr>
          </a:p>
        </p:txBody>
      </p:sp>
      <p:sp>
        <p:nvSpPr>
          <p:cNvPr id="77" name="Shape 23"/>
          <p:cNvSpPr/>
          <p:nvPr/>
        </p:nvSpPr>
        <p:spPr>
          <a:xfrm>
            <a:off x="6217920" y="3931920"/>
            <a:ext cx="5241960" cy="2057040"/>
          </a:xfrm>
          <a:prstGeom prst="roundRect">
            <a:avLst>
              <a:gd name="adj" fmla="val 3556"/>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78" name="Shape 24"/>
          <p:cNvSpPr/>
          <p:nvPr/>
        </p:nvSpPr>
        <p:spPr>
          <a:xfrm>
            <a:off x="6492240" y="4206240"/>
            <a:ext cx="822600" cy="822600"/>
          </a:xfrm>
          <a:prstGeom prst="roundRect">
            <a:avLst>
              <a:gd name="adj" fmla="val 8889"/>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79" name="Text 25"/>
          <p:cNvSpPr/>
          <p:nvPr/>
        </p:nvSpPr>
        <p:spPr>
          <a:xfrm>
            <a:off x="6492240" y="4206240"/>
            <a:ext cx="822600" cy="8226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Calibri"/>
                <a:ea typeface="Calibri"/>
              </a:rPr>
              <a:t>R &amp; T</a:t>
            </a:r>
            <a:endParaRPr lang="en-US" sz="1400" b="0" u="none" strike="noStrike">
              <a:solidFill>
                <a:srgbClr val="000000"/>
              </a:solidFill>
              <a:effectLst/>
              <a:uFillTx/>
              <a:latin typeface="Nimbus Sans"/>
            </a:endParaRPr>
          </a:p>
        </p:txBody>
      </p:sp>
      <p:sp>
        <p:nvSpPr>
          <p:cNvPr id="80" name="Text 26"/>
          <p:cNvSpPr/>
          <p:nvPr/>
        </p:nvSpPr>
        <p:spPr>
          <a:xfrm>
            <a:off x="7498080" y="4206240"/>
            <a:ext cx="374868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0F172A"/>
                </a:solidFill>
                <a:effectLst/>
                <a:uFillTx/>
                <a:latin typeface="Calibri"/>
                <a:ea typeface="Calibri"/>
              </a:rPr>
              <a:t>REALISTIC &amp; TIMELY (THỰC TIỄN &amp; ĐÚNG HẠN)</a:t>
            </a:r>
            <a:endParaRPr lang="en-US" sz="1300" b="0" u="none" strike="noStrike">
              <a:solidFill>
                <a:srgbClr val="000000"/>
              </a:solidFill>
              <a:effectLst/>
              <a:uFillTx/>
              <a:latin typeface="Nimbus Sans"/>
            </a:endParaRPr>
          </a:p>
        </p:txBody>
      </p:sp>
      <p:sp>
        <p:nvSpPr>
          <p:cNvPr id="81" name="Text 27"/>
          <p:cNvSpPr/>
          <p:nvPr/>
        </p:nvSpPr>
        <p:spPr>
          <a:xfrm>
            <a:off x="7498080" y="4572000"/>
            <a:ext cx="3748680" cy="12340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100" b="0" u="none" strike="noStrike">
                <a:solidFill>
                  <a:srgbClr val="1E293B"/>
                </a:solidFill>
                <a:effectLst/>
                <a:uFillTx/>
                <a:latin typeface="Calibri"/>
                <a:ea typeface="Calibri"/>
              </a:rPr>
              <a:t>Khắc phục triệt để lỗ hổng an ninh Container Escape trong môi trường doanh nghiệp thực tế. Hoàn thành 100% mục tiêu trước hạn bảo vệ: Báo cáo học thuật 82 trang và cụm thực nghiệm sẵn sàng bảo vệ.</a:t>
            </a:r>
            <a:endParaRPr lang="en-US" sz="1100" b="0" u="none" strike="noStrike">
              <a:solidFill>
                <a:srgbClr val="000000"/>
              </a:solidFill>
              <a:effectLst/>
              <a:uFillTx/>
              <a:latin typeface="Nimbus Sans"/>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82" name="Shape 0"/>
          <p:cNvSpPr/>
          <p:nvPr/>
        </p:nvSpPr>
        <p:spPr>
          <a:xfrm>
            <a:off x="731520" y="384120"/>
            <a:ext cx="2285640" cy="292320"/>
          </a:xfrm>
          <a:prstGeom prst="roundRect">
            <a:avLst>
              <a:gd name="adj" fmla="val 25000"/>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83" name="Text 1"/>
          <p:cNvSpPr/>
          <p:nvPr/>
        </p:nvSpPr>
        <p:spPr>
          <a:xfrm>
            <a:off x="731520" y="384120"/>
            <a:ext cx="2285640" cy="292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Calibri"/>
                <a:ea typeface="Calibri"/>
              </a:rPr>
              <a:t>KIẾN TRÚC HẠ TẦNG</a:t>
            </a:r>
            <a:endParaRPr lang="en-US" sz="1000" b="0" u="none" strike="noStrike">
              <a:solidFill>
                <a:srgbClr val="000000"/>
              </a:solidFill>
              <a:effectLst/>
              <a:uFillTx/>
              <a:latin typeface="Nimbus Sans"/>
            </a:endParaRPr>
          </a:p>
        </p:txBody>
      </p:sp>
      <p:sp>
        <p:nvSpPr>
          <p:cNvPr id="84" name="Text 2"/>
          <p:cNvSpPr/>
          <p:nvPr/>
        </p:nvSpPr>
        <p:spPr>
          <a:xfrm>
            <a:off x="731520" y="731520"/>
            <a:ext cx="107283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100" b="1" u="none" strike="noStrike">
                <a:solidFill>
                  <a:srgbClr val="0F172A"/>
                </a:solidFill>
                <a:effectLst/>
                <a:uFillTx/>
                <a:latin typeface="Calibri"/>
                <a:ea typeface="Calibri"/>
              </a:rPr>
              <a:t>3. KIẾN TRÚC HỆ THỐNG TỔNG THỂ DUAL-NODE</a:t>
            </a:r>
            <a:endParaRPr lang="en-US" sz="2100" b="0" u="none" strike="noStrike">
              <a:solidFill>
                <a:srgbClr val="000000"/>
              </a:solidFill>
              <a:effectLst/>
              <a:uFillTx/>
              <a:latin typeface="Nimbus Sans"/>
            </a:endParaRPr>
          </a:p>
        </p:txBody>
      </p:sp>
      <p:sp>
        <p:nvSpPr>
          <p:cNvPr id="85" name="Text 3"/>
          <p:cNvSpPr/>
          <p:nvPr/>
        </p:nvSpPr>
        <p:spPr>
          <a:xfrm>
            <a:off x="731520" y="1170360"/>
            <a:ext cx="107283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Mô hình thực nghiệm đối kháng song song giữa nút Arch Linux và nút Ubuntu Server</a:t>
            </a:r>
            <a:endParaRPr lang="en-US" sz="1250" b="0" u="none" strike="noStrike">
              <a:solidFill>
                <a:srgbClr val="000000"/>
              </a:solidFill>
              <a:effectLst/>
              <a:uFillTx/>
              <a:latin typeface="Nimbus Sans"/>
            </a:endParaRPr>
          </a:p>
        </p:txBody>
      </p:sp>
      <p:sp>
        <p:nvSpPr>
          <p:cNvPr id="86" name="Shape 4"/>
          <p:cNvSpPr/>
          <p:nvPr/>
        </p:nvSpPr>
        <p:spPr>
          <a:xfrm>
            <a:off x="731520" y="1481040"/>
            <a:ext cx="10728360" cy="360"/>
          </a:xfrm>
          <a:prstGeom prst="line">
            <a:avLst/>
          </a:prstGeom>
          <a:ln w="12700">
            <a:solidFill>
              <a:srgbClr val="CBD5E1"/>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87" name="Shape 5"/>
          <p:cNvSpPr/>
          <p:nvPr/>
        </p:nvSpPr>
        <p:spPr>
          <a:xfrm>
            <a:off x="731520" y="6291000"/>
            <a:ext cx="10728360" cy="360"/>
          </a:xfrm>
          <a:prstGeom prst="line">
            <a:avLst/>
          </a:prstGeom>
          <a:ln w="12700">
            <a:solidFill>
              <a:srgbClr val="E2E8F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88" name="Text 6"/>
          <p:cNvSpPr/>
          <p:nvPr/>
        </p:nvSpPr>
        <p:spPr>
          <a:xfrm>
            <a:off x="731520" y="6355080"/>
            <a:ext cx="82292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0" u="none" strike="noStrike">
                <a:solidFill>
                  <a:srgbClr val="94A3B8"/>
                </a:solidFill>
                <a:effectLst/>
                <a:uFillTx/>
                <a:latin typeface="Calibri"/>
                <a:ea typeface="Calibri"/>
              </a:rPr>
              <a:t>VKU — Đồ án Linux &amp; Open Source: MLOps Pipeline | Nhóm: Nguyễn Công Đức, Nguyễn Tùng Dương, Nguyễn Văn C</a:t>
            </a:r>
            <a:endParaRPr lang="en-US" sz="950" b="0" u="none" strike="noStrike">
              <a:solidFill>
                <a:srgbClr val="000000"/>
              </a:solidFill>
              <a:effectLst/>
              <a:uFillTx/>
              <a:latin typeface="Nimbus Sans"/>
            </a:endParaRPr>
          </a:p>
        </p:txBody>
      </p:sp>
      <p:sp>
        <p:nvSpPr>
          <p:cNvPr id="89" name="Text 7"/>
          <p:cNvSpPr/>
          <p:nvPr/>
        </p:nvSpPr>
        <p:spPr>
          <a:xfrm>
            <a:off x="9601200" y="6355080"/>
            <a:ext cx="1858680" cy="255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1000" b="1" u="none" strike="noStrike">
                <a:solidFill>
                  <a:srgbClr val="0284C7"/>
                </a:solidFill>
                <a:effectLst/>
                <a:uFillTx/>
                <a:latin typeface="Calibri"/>
                <a:ea typeface="Calibri"/>
              </a:rPr>
              <a:t>Slide 04 / 12</a:t>
            </a:r>
            <a:endParaRPr lang="en-US" sz="1000" b="0" u="none" strike="noStrike">
              <a:solidFill>
                <a:srgbClr val="000000"/>
              </a:solidFill>
              <a:effectLst/>
              <a:uFillTx/>
              <a:latin typeface="Nimbus Sans"/>
            </a:endParaRPr>
          </a:p>
        </p:txBody>
      </p:sp>
      <p:sp>
        <p:nvSpPr>
          <p:cNvPr id="90" name="Shape 8"/>
          <p:cNvSpPr/>
          <p:nvPr/>
        </p:nvSpPr>
        <p:spPr>
          <a:xfrm>
            <a:off x="731520" y="1691640"/>
            <a:ext cx="5241960" cy="4388760"/>
          </a:xfrm>
          <a:prstGeom prst="roundRect">
            <a:avLst>
              <a:gd name="adj" fmla="val 1667"/>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91" name="Shape 9"/>
          <p:cNvSpPr/>
          <p:nvPr/>
        </p:nvSpPr>
        <p:spPr>
          <a:xfrm>
            <a:off x="960120" y="1874520"/>
            <a:ext cx="4784760" cy="319680"/>
          </a:xfrm>
          <a:prstGeom prst="roundRect">
            <a:avLst>
              <a:gd name="adj" fmla="val 14286"/>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92" name="Text 10"/>
          <p:cNvSpPr/>
          <p:nvPr/>
        </p:nvSpPr>
        <p:spPr>
          <a:xfrm>
            <a:off x="960120" y="1874520"/>
            <a:ext cx="4784760" cy="319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FFFFFF"/>
                </a:solidFill>
                <a:effectLst/>
                <a:uFillTx/>
                <a:latin typeface="Calibri"/>
                <a:ea typeface="Calibri"/>
              </a:rPr>
              <a:t>MÁY CHỦ ARCH LINUX (PRIMARY / ROOTLESS DOCKER)</a:t>
            </a:r>
            <a:endParaRPr lang="en-US" sz="1100" b="0" u="none" strike="noStrike">
              <a:solidFill>
                <a:srgbClr val="000000"/>
              </a:solidFill>
              <a:effectLst/>
              <a:uFillTx/>
              <a:latin typeface="Nimbus Sans"/>
            </a:endParaRPr>
          </a:p>
        </p:txBody>
      </p:sp>
      <p:sp>
        <p:nvSpPr>
          <p:cNvPr id="93" name="Text 11"/>
          <p:cNvSpPr/>
          <p:nvPr/>
        </p:nvSpPr>
        <p:spPr>
          <a:xfrm>
            <a:off x="1051560" y="2331720"/>
            <a:ext cx="460188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Hệ điều hành: Arch Linux Rolling Release (Linux Kernel 6.x hiện đại).</a:t>
            </a:r>
            <a:endParaRPr lang="en-US" sz="1050" b="0" u="none" strike="noStrike">
              <a:solidFill>
                <a:srgbClr val="000000"/>
              </a:solidFill>
              <a:effectLst/>
              <a:uFillTx/>
              <a:latin typeface="Nimbus Sans"/>
            </a:endParaRPr>
          </a:p>
        </p:txBody>
      </p:sp>
      <p:sp>
        <p:nvSpPr>
          <p:cNvPr id="94" name="Text 12"/>
          <p:cNvSpPr/>
          <p:nvPr/>
        </p:nvSpPr>
        <p:spPr>
          <a:xfrm>
            <a:off x="1051560" y="2697480"/>
            <a:ext cx="460188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Tài nguyên tĩnh: Chiếm dụng chỉ 438 MB RAM (siêu nhẹ, tối ưu hóa tối đa).</a:t>
            </a:r>
            <a:endParaRPr lang="en-US" sz="1050" b="0" u="none" strike="noStrike">
              <a:solidFill>
                <a:srgbClr val="000000"/>
              </a:solidFill>
              <a:effectLst/>
              <a:uFillTx/>
              <a:latin typeface="Nimbus Sans"/>
            </a:endParaRPr>
          </a:p>
        </p:txBody>
      </p:sp>
      <p:sp>
        <p:nvSpPr>
          <p:cNvPr id="95" name="Text 13"/>
          <p:cNvSpPr/>
          <p:nvPr/>
        </p:nvSpPr>
        <p:spPr>
          <a:xfrm>
            <a:off x="1051560" y="3063240"/>
            <a:ext cx="460188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Động cơ Container: Docker Rootless Daemon (User mlops, UID 1003).</a:t>
            </a:r>
            <a:endParaRPr lang="en-US" sz="1050" b="0" u="none" strike="noStrike">
              <a:solidFill>
                <a:srgbClr val="000000"/>
              </a:solidFill>
              <a:effectLst/>
              <a:uFillTx/>
              <a:latin typeface="Nimbus Sans"/>
            </a:endParaRPr>
          </a:p>
        </p:txBody>
      </p:sp>
      <p:sp>
        <p:nvSpPr>
          <p:cNvPr id="96" name="Text 14"/>
          <p:cNvSpPr/>
          <p:nvPr/>
        </p:nvSpPr>
        <p:spPr>
          <a:xfrm>
            <a:off x="1051560" y="3429000"/>
            <a:ext cx="460188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Phân đoạn mạng: Toàn bộ container nằm trong bridge riêng mlops-net.</a:t>
            </a:r>
            <a:endParaRPr lang="en-US" sz="1050" b="0" u="none" strike="noStrike">
              <a:solidFill>
                <a:srgbClr val="000000"/>
              </a:solidFill>
              <a:effectLst/>
              <a:uFillTx/>
              <a:latin typeface="Nimbus Sans"/>
            </a:endParaRPr>
          </a:p>
        </p:txBody>
      </p:sp>
      <p:sp>
        <p:nvSpPr>
          <p:cNvPr id="97" name="Text 15"/>
          <p:cNvSpPr/>
          <p:nvPr/>
        </p:nvSpPr>
        <p:spPr>
          <a:xfrm>
            <a:off x="1051560" y="3794760"/>
            <a:ext cx="460188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5 Vi dịch vụ vi mô độc lập:</a:t>
            </a:r>
            <a:endParaRPr lang="en-US" sz="1050" b="0" u="none" strike="noStrike">
              <a:solidFill>
                <a:srgbClr val="000000"/>
              </a:solidFill>
              <a:effectLst/>
              <a:uFillTx/>
              <a:latin typeface="Nimbus Sans"/>
            </a:endParaRPr>
          </a:p>
        </p:txBody>
      </p:sp>
      <p:sp>
        <p:nvSpPr>
          <p:cNvPr id="98" name="Text 16"/>
          <p:cNvSpPr/>
          <p:nvPr/>
        </p:nvSpPr>
        <p:spPr>
          <a:xfrm>
            <a:off x="1051560" y="4160520"/>
            <a:ext cx="460188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  • FastAPI OCR Serving (Port 8080) — Non-root User UID 10001</a:t>
            </a:r>
            <a:endParaRPr lang="en-US" sz="1050" b="0" u="none" strike="noStrike">
              <a:solidFill>
                <a:srgbClr val="000000"/>
              </a:solidFill>
              <a:effectLst/>
              <a:uFillTx/>
              <a:latin typeface="Nimbus Sans"/>
            </a:endParaRPr>
          </a:p>
        </p:txBody>
      </p:sp>
      <p:sp>
        <p:nvSpPr>
          <p:cNvPr id="99" name="Text 17"/>
          <p:cNvSpPr/>
          <p:nvPr/>
        </p:nvSpPr>
        <p:spPr>
          <a:xfrm>
            <a:off x="1051560" y="4526280"/>
            <a:ext cx="460188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  • MLflow Tracking UI (Port 5000) — Quản lý vòng đời mô hình</a:t>
            </a:r>
            <a:endParaRPr lang="en-US" sz="1050" b="0" u="none" strike="noStrike">
              <a:solidFill>
                <a:srgbClr val="000000"/>
              </a:solidFill>
              <a:effectLst/>
              <a:uFillTx/>
              <a:latin typeface="Nimbus Sans"/>
            </a:endParaRPr>
          </a:p>
        </p:txBody>
      </p:sp>
      <p:sp>
        <p:nvSpPr>
          <p:cNvPr id="100" name="Text 18"/>
          <p:cNvSpPr/>
          <p:nvPr/>
        </p:nvSpPr>
        <p:spPr>
          <a:xfrm>
            <a:off x="1051560" y="4892040"/>
            <a:ext cx="460188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  • PostgreSQL 15 (Port 5432) — Zero-Trust, ĐÓNG TRÊN HOST IP</a:t>
            </a:r>
            <a:endParaRPr lang="en-US" sz="1050" b="0" u="none" strike="noStrike">
              <a:solidFill>
                <a:srgbClr val="000000"/>
              </a:solidFill>
              <a:effectLst/>
              <a:uFillTx/>
              <a:latin typeface="Nimbus Sans"/>
            </a:endParaRPr>
          </a:p>
        </p:txBody>
      </p:sp>
      <p:sp>
        <p:nvSpPr>
          <p:cNvPr id="101" name="Text 19"/>
          <p:cNvSpPr/>
          <p:nvPr/>
        </p:nvSpPr>
        <p:spPr>
          <a:xfrm>
            <a:off x="1051560" y="5257800"/>
            <a:ext cx="460188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  • Prometheus Server (Port 9090) — Cào chỉ số chuỗi thời gian</a:t>
            </a:r>
            <a:endParaRPr lang="en-US" sz="1050" b="0" u="none" strike="noStrike">
              <a:solidFill>
                <a:srgbClr val="000000"/>
              </a:solidFill>
              <a:effectLst/>
              <a:uFillTx/>
              <a:latin typeface="Nimbus Sans"/>
            </a:endParaRPr>
          </a:p>
        </p:txBody>
      </p:sp>
      <p:sp>
        <p:nvSpPr>
          <p:cNvPr id="102" name="Text 20"/>
          <p:cNvSpPr/>
          <p:nvPr/>
        </p:nvSpPr>
        <p:spPr>
          <a:xfrm>
            <a:off x="1051560" y="5623560"/>
            <a:ext cx="460188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  • Grafana Dashboard (Port 3000) — Trực quan hóa thời gian thực</a:t>
            </a:r>
            <a:endParaRPr lang="en-US" sz="1050" b="0" u="none" strike="noStrike">
              <a:solidFill>
                <a:srgbClr val="000000"/>
              </a:solidFill>
              <a:effectLst/>
              <a:uFillTx/>
              <a:latin typeface="Nimbus Sans"/>
            </a:endParaRPr>
          </a:p>
        </p:txBody>
      </p:sp>
      <p:sp>
        <p:nvSpPr>
          <p:cNvPr id="103" name="Shape 21"/>
          <p:cNvSpPr/>
          <p:nvPr/>
        </p:nvSpPr>
        <p:spPr>
          <a:xfrm>
            <a:off x="6217920" y="1691640"/>
            <a:ext cx="5241960" cy="4388760"/>
          </a:xfrm>
          <a:prstGeom prst="roundRect">
            <a:avLst>
              <a:gd name="adj" fmla="val 1667"/>
            </a:avLst>
          </a:prstGeom>
          <a:solidFill>
            <a:srgbClr val="FFFFFF"/>
          </a:solidFill>
          <a:ln w="19050">
            <a:solidFill>
              <a:srgbClr val="00206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104" name="Shape 22"/>
          <p:cNvSpPr/>
          <p:nvPr/>
        </p:nvSpPr>
        <p:spPr>
          <a:xfrm>
            <a:off x="6446520" y="1874520"/>
            <a:ext cx="4784760" cy="319680"/>
          </a:xfrm>
          <a:prstGeom prst="roundRect">
            <a:avLst>
              <a:gd name="adj" fmla="val 14286"/>
            </a:avLst>
          </a:prstGeom>
          <a:solidFill>
            <a:srgbClr val="002060"/>
          </a:solidFill>
          <a:ln w="12700">
            <a:solidFill>
              <a:srgbClr val="00206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105" name="Text 23"/>
          <p:cNvSpPr/>
          <p:nvPr/>
        </p:nvSpPr>
        <p:spPr>
          <a:xfrm>
            <a:off x="6446520" y="1874520"/>
            <a:ext cx="4784760" cy="319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FFFFFF"/>
                </a:solidFill>
                <a:effectLst/>
                <a:uFillTx/>
                <a:latin typeface="Calibri"/>
                <a:ea typeface="Calibri"/>
              </a:rPr>
              <a:t>MÁY CHỦ UBUNTU  (BASELINE / ROOTFUL DOCKER)</a:t>
            </a:r>
            <a:endParaRPr lang="en-US" sz="1100" b="0" u="none" strike="noStrike">
              <a:solidFill>
                <a:srgbClr val="000000"/>
              </a:solidFill>
              <a:effectLst/>
              <a:uFillTx/>
              <a:latin typeface="Nimbus Sans"/>
            </a:endParaRPr>
          </a:p>
        </p:txBody>
      </p:sp>
      <p:sp>
        <p:nvSpPr>
          <p:cNvPr id="106" name="Text 24"/>
          <p:cNvSpPr/>
          <p:nvPr/>
        </p:nvSpPr>
        <p:spPr>
          <a:xfrm>
            <a:off x="6537960" y="2331720"/>
            <a:ext cx="4601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Hệ điều hành: Ubuntu Server 22.04 / 24.04 LTS (Nhân Linux 6.8 Enterprise).</a:t>
            </a:r>
            <a:endParaRPr lang="en-US" sz="1050" b="0" u="none" strike="noStrike">
              <a:solidFill>
                <a:srgbClr val="000000"/>
              </a:solidFill>
              <a:effectLst/>
              <a:uFillTx/>
              <a:latin typeface="Nimbus Sans"/>
            </a:endParaRPr>
          </a:p>
        </p:txBody>
      </p:sp>
      <p:sp>
        <p:nvSpPr>
          <p:cNvPr id="107" name="Text 25"/>
          <p:cNvSpPr/>
          <p:nvPr/>
        </p:nvSpPr>
        <p:spPr>
          <a:xfrm>
            <a:off x="6537960" y="2715840"/>
            <a:ext cx="4601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Tài nguyên tĩnh: Chiếm dụng 742 MB RAM (gấp 1.7 lần so với Arch Linux).</a:t>
            </a:r>
            <a:endParaRPr lang="en-US" sz="1050" b="0" u="none" strike="noStrike">
              <a:solidFill>
                <a:srgbClr val="000000"/>
              </a:solidFill>
              <a:effectLst/>
              <a:uFillTx/>
              <a:latin typeface="Nimbus Sans"/>
            </a:endParaRPr>
          </a:p>
        </p:txBody>
      </p:sp>
      <p:sp>
        <p:nvSpPr>
          <p:cNvPr id="108" name="Text 26"/>
          <p:cNvSpPr/>
          <p:nvPr/>
        </p:nvSpPr>
        <p:spPr>
          <a:xfrm>
            <a:off x="6537960" y="3099960"/>
            <a:ext cx="4601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Động cơ Container: Docker Rootful Daemon (Chạy trực tiếp dưới quyền root UID 0).</a:t>
            </a:r>
            <a:endParaRPr lang="en-US" sz="1050" b="0" u="none" strike="noStrike">
              <a:solidFill>
                <a:srgbClr val="000000"/>
              </a:solidFill>
              <a:effectLst/>
              <a:uFillTx/>
              <a:latin typeface="Nimbus Sans"/>
            </a:endParaRPr>
          </a:p>
        </p:txBody>
      </p:sp>
      <p:sp>
        <p:nvSpPr>
          <p:cNvPr id="109" name="Text 27"/>
          <p:cNvSpPr/>
          <p:nvPr/>
        </p:nvSpPr>
        <p:spPr>
          <a:xfrm>
            <a:off x="6537960" y="3483720"/>
            <a:ext cx="4601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Cấu hình Stack đối chứng: Chạy cùng bộ 5 vi dịch vụ và khối lượng tải.</a:t>
            </a:r>
            <a:endParaRPr lang="en-US" sz="1050" b="0" u="none" strike="noStrike">
              <a:solidFill>
                <a:srgbClr val="000000"/>
              </a:solidFill>
              <a:effectLst/>
              <a:uFillTx/>
              <a:latin typeface="Nimbus Sans"/>
            </a:endParaRPr>
          </a:p>
        </p:txBody>
      </p:sp>
      <p:sp>
        <p:nvSpPr>
          <p:cNvPr id="110" name="Text 28"/>
          <p:cNvSpPr/>
          <p:nvPr/>
        </p:nvSpPr>
        <p:spPr>
          <a:xfrm>
            <a:off x="6537960" y="3867840"/>
            <a:ext cx="4601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Mục đích nghiên cứu đối chứng:</a:t>
            </a:r>
            <a:endParaRPr lang="en-US" sz="1050" b="0" u="none" strike="noStrike">
              <a:solidFill>
                <a:srgbClr val="000000"/>
              </a:solidFill>
              <a:effectLst/>
              <a:uFillTx/>
              <a:latin typeface="Nimbus Sans"/>
            </a:endParaRPr>
          </a:p>
        </p:txBody>
      </p:sp>
      <p:sp>
        <p:nvSpPr>
          <p:cNvPr id="111" name="Text 29"/>
          <p:cNvSpPr/>
          <p:nvPr/>
        </p:nvSpPr>
        <p:spPr>
          <a:xfrm>
            <a:off x="6537960" y="4251960"/>
            <a:ext cx="4601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  • So sánh độ trễ suy luận AI khi có và không có lớp slirp4netns.</a:t>
            </a:r>
            <a:endParaRPr lang="en-US" sz="1050" b="0" u="none" strike="noStrike">
              <a:solidFill>
                <a:srgbClr val="000000"/>
              </a:solidFill>
              <a:effectLst/>
              <a:uFillTx/>
              <a:latin typeface="Nimbus Sans"/>
            </a:endParaRPr>
          </a:p>
        </p:txBody>
      </p:sp>
      <p:sp>
        <p:nvSpPr>
          <p:cNvPr id="112" name="Text 30"/>
          <p:cNvSpPr/>
          <p:nvPr/>
        </p:nvSpPr>
        <p:spPr>
          <a:xfrm>
            <a:off x="6537960" y="4636080"/>
            <a:ext cx="4601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  • Đánh giá mức độ hao tổn CPU/RAM giữa hai kiến trúc hạt nhân.</a:t>
            </a:r>
            <a:endParaRPr lang="en-US" sz="1050" b="0" u="none" strike="noStrike">
              <a:solidFill>
                <a:srgbClr val="000000"/>
              </a:solidFill>
              <a:effectLst/>
              <a:uFillTx/>
              <a:latin typeface="Nimbus Sans"/>
            </a:endParaRPr>
          </a:p>
        </p:txBody>
      </p:sp>
      <p:sp>
        <p:nvSpPr>
          <p:cNvPr id="113" name="Text 31"/>
          <p:cNvSpPr/>
          <p:nvPr/>
        </p:nvSpPr>
        <p:spPr>
          <a:xfrm>
            <a:off x="6537960" y="5020200"/>
            <a:ext cx="4601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  • Phân tích sự đánh đổi (trade-off) giữa an ninh và thông lượng xử lý.</a:t>
            </a:r>
            <a:endParaRPr lang="en-US" sz="1050" b="0" u="none" strike="noStrike">
              <a:solidFill>
                <a:srgbClr val="000000"/>
              </a:solidFill>
              <a:effectLst/>
              <a:uFillTx/>
              <a:latin typeface="Nimbus Sans"/>
            </a:endParaRPr>
          </a:p>
        </p:txBody>
      </p:sp>
      <p:sp>
        <p:nvSpPr>
          <p:cNvPr id="114" name="Text 32"/>
          <p:cNvSpPr/>
          <p:nvPr/>
        </p:nvSpPr>
        <p:spPr>
          <a:xfrm>
            <a:off x="6537960" y="5403960"/>
            <a:ext cx="4601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0" u="none" strike="noStrike">
                <a:solidFill>
                  <a:srgbClr val="1E293B"/>
                </a:solidFill>
                <a:effectLst/>
                <a:uFillTx/>
                <a:latin typeface="Calibri"/>
                <a:ea typeface="Calibri"/>
              </a:rPr>
              <a:t>  • Kiểm chứng tính tương thích đa nền tảng của quy chuẩn MLOps.</a:t>
            </a:r>
            <a:endParaRPr lang="en-US" sz="1050" b="0" u="none" strike="noStrike">
              <a:solidFill>
                <a:srgbClr val="000000"/>
              </a:solidFill>
              <a:effectLst/>
              <a:uFillTx/>
              <a:latin typeface="Nimbus Sans"/>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115" name="Shape 0"/>
          <p:cNvSpPr/>
          <p:nvPr/>
        </p:nvSpPr>
        <p:spPr>
          <a:xfrm>
            <a:off x="731520" y="384120"/>
            <a:ext cx="2285640" cy="292320"/>
          </a:xfrm>
          <a:prstGeom prst="roundRect">
            <a:avLst>
              <a:gd name="adj" fmla="val 25000"/>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116" name="Text 1"/>
          <p:cNvSpPr/>
          <p:nvPr/>
        </p:nvSpPr>
        <p:spPr>
          <a:xfrm>
            <a:off x="731520" y="384120"/>
            <a:ext cx="2285640" cy="292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Calibri"/>
                <a:ea typeface="Calibri"/>
              </a:rPr>
              <a:t>CƠ CHẾ ĐỘT PHÁ</a:t>
            </a:r>
            <a:endParaRPr lang="en-US" sz="1000" b="0" u="none" strike="noStrike">
              <a:solidFill>
                <a:srgbClr val="000000"/>
              </a:solidFill>
              <a:effectLst/>
              <a:uFillTx/>
              <a:latin typeface="Nimbus Sans"/>
            </a:endParaRPr>
          </a:p>
        </p:txBody>
      </p:sp>
      <p:sp>
        <p:nvSpPr>
          <p:cNvPr id="117" name="Text 2"/>
          <p:cNvSpPr/>
          <p:nvPr/>
        </p:nvSpPr>
        <p:spPr>
          <a:xfrm>
            <a:off x="731520" y="731520"/>
            <a:ext cx="107283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100" b="1" u="none" strike="noStrike">
                <a:solidFill>
                  <a:srgbClr val="0F172A"/>
                </a:solidFill>
                <a:effectLst/>
                <a:uFillTx/>
                <a:latin typeface="Calibri"/>
                <a:ea typeface="Calibri"/>
              </a:rPr>
              <a:t>4. ĐỘNG CƠ ROOTLESS CONTAINERIZATION</a:t>
            </a:r>
            <a:endParaRPr lang="en-US" sz="2100" b="0" u="none" strike="noStrike">
              <a:solidFill>
                <a:srgbClr val="000000"/>
              </a:solidFill>
              <a:effectLst/>
              <a:uFillTx/>
              <a:latin typeface="Nimbus Sans"/>
            </a:endParaRPr>
          </a:p>
        </p:txBody>
      </p:sp>
      <p:sp>
        <p:nvSpPr>
          <p:cNvPr id="118" name="Text 3"/>
          <p:cNvSpPr/>
          <p:nvPr/>
        </p:nvSpPr>
        <p:spPr>
          <a:xfrm>
            <a:off x="731520" y="1170360"/>
            <a:ext cx="107283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Cơ chế cô lập tầng kernel, ánh xạ không gian tên và triệt tiêu nguy cơ chiếm quyền</a:t>
            </a:r>
            <a:endParaRPr lang="en-US" sz="1250" b="0" u="none" strike="noStrike">
              <a:solidFill>
                <a:srgbClr val="000000"/>
              </a:solidFill>
              <a:effectLst/>
              <a:uFillTx/>
              <a:latin typeface="Nimbus Sans"/>
            </a:endParaRPr>
          </a:p>
        </p:txBody>
      </p:sp>
      <p:sp>
        <p:nvSpPr>
          <p:cNvPr id="119" name="Shape 4"/>
          <p:cNvSpPr/>
          <p:nvPr/>
        </p:nvSpPr>
        <p:spPr>
          <a:xfrm>
            <a:off x="731520" y="1481040"/>
            <a:ext cx="10728360" cy="360"/>
          </a:xfrm>
          <a:prstGeom prst="line">
            <a:avLst/>
          </a:prstGeom>
          <a:ln w="12700">
            <a:solidFill>
              <a:srgbClr val="CBD5E1"/>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120" name="Shape 5"/>
          <p:cNvSpPr/>
          <p:nvPr/>
        </p:nvSpPr>
        <p:spPr>
          <a:xfrm>
            <a:off x="731520" y="6291000"/>
            <a:ext cx="10728360" cy="360"/>
          </a:xfrm>
          <a:prstGeom prst="line">
            <a:avLst/>
          </a:prstGeom>
          <a:ln w="12700">
            <a:solidFill>
              <a:srgbClr val="E2E8F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121" name="Text 6"/>
          <p:cNvSpPr/>
          <p:nvPr/>
        </p:nvSpPr>
        <p:spPr>
          <a:xfrm>
            <a:off x="731520" y="6355080"/>
            <a:ext cx="82292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0" u="none" strike="noStrike">
                <a:solidFill>
                  <a:srgbClr val="94A3B8"/>
                </a:solidFill>
                <a:effectLst/>
                <a:uFillTx/>
                <a:latin typeface="Calibri"/>
                <a:ea typeface="Calibri"/>
              </a:rPr>
              <a:t>VKU — Đồ án Linux &amp; Open Source: MLOps Pipeline | Nhóm: Nguyễn Công Đức, Nguyễn Tùng Dương, Nguyễn Văn C</a:t>
            </a:r>
            <a:endParaRPr lang="en-US" sz="950" b="0" u="none" strike="noStrike">
              <a:solidFill>
                <a:srgbClr val="000000"/>
              </a:solidFill>
              <a:effectLst/>
              <a:uFillTx/>
              <a:latin typeface="Nimbus Sans"/>
            </a:endParaRPr>
          </a:p>
        </p:txBody>
      </p:sp>
      <p:sp>
        <p:nvSpPr>
          <p:cNvPr id="122" name="Text 7"/>
          <p:cNvSpPr/>
          <p:nvPr/>
        </p:nvSpPr>
        <p:spPr>
          <a:xfrm>
            <a:off x="9601200" y="6355080"/>
            <a:ext cx="1858680" cy="255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1000" b="1" u="none" strike="noStrike">
                <a:solidFill>
                  <a:srgbClr val="0284C7"/>
                </a:solidFill>
                <a:effectLst/>
                <a:uFillTx/>
                <a:latin typeface="Calibri"/>
                <a:ea typeface="Calibri"/>
              </a:rPr>
              <a:t>Slide 05 / 12</a:t>
            </a:r>
            <a:endParaRPr lang="en-US" sz="1000" b="0" u="none" strike="noStrike">
              <a:solidFill>
                <a:srgbClr val="000000"/>
              </a:solidFill>
              <a:effectLst/>
              <a:uFillTx/>
              <a:latin typeface="Nimbus Sans"/>
            </a:endParaRPr>
          </a:p>
        </p:txBody>
      </p:sp>
      <p:sp>
        <p:nvSpPr>
          <p:cNvPr id="123" name="Shape 8"/>
          <p:cNvSpPr/>
          <p:nvPr/>
        </p:nvSpPr>
        <p:spPr>
          <a:xfrm>
            <a:off x="731520" y="1691640"/>
            <a:ext cx="10728360" cy="1352880"/>
          </a:xfrm>
          <a:prstGeom prst="roundRect">
            <a:avLst>
              <a:gd name="adj" fmla="val 5405"/>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124" name="Shape 9"/>
          <p:cNvSpPr/>
          <p:nvPr/>
        </p:nvSpPr>
        <p:spPr>
          <a:xfrm>
            <a:off x="914400" y="1911240"/>
            <a:ext cx="822600" cy="914040"/>
          </a:xfrm>
          <a:prstGeom prst="roundRect">
            <a:avLst>
              <a:gd name="adj" fmla="val 8889"/>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125" name="Text 10"/>
          <p:cNvSpPr/>
          <p:nvPr/>
        </p:nvSpPr>
        <p:spPr>
          <a:xfrm>
            <a:off x="914400" y="1911240"/>
            <a:ext cx="822600" cy="914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1" u="none" strike="noStrike">
                <a:solidFill>
                  <a:srgbClr val="FFFFFF"/>
                </a:solidFill>
                <a:effectLst/>
                <a:uFillTx/>
                <a:latin typeface="Calibri"/>
                <a:ea typeface="Calibri"/>
              </a:rPr>
              <a:t>01</a:t>
            </a:r>
            <a:endParaRPr lang="en-US" sz="2000" b="0" u="none" strike="noStrike">
              <a:solidFill>
                <a:srgbClr val="000000"/>
              </a:solidFill>
              <a:effectLst/>
              <a:uFillTx/>
              <a:latin typeface="Nimbus Sans"/>
            </a:endParaRPr>
          </a:p>
        </p:txBody>
      </p:sp>
      <p:sp>
        <p:nvSpPr>
          <p:cNvPr id="126" name="Text 11"/>
          <p:cNvSpPr/>
          <p:nvPr/>
        </p:nvSpPr>
        <p:spPr>
          <a:xfrm>
            <a:off x="1920240" y="1837800"/>
            <a:ext cx="932652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0F172A"/>
                </a:solidFill>
                <a:effectLst/>
                <a:uFillTx/>
                <a:latin typeface="Calibri"/>
                <a:ea typeface="Calibri"/>
              </a:rPr>
              <a:t>USER NAMESPACES &amp; SUB-UID MAPPING</a:t>
            </a:r>
            <a:endParaRPr lang="en-US" sz="1300" b="0" u="none" strike="noStrike">
              <a:solidFill>
                <a:srgbClr val="000000"/>
              </a:solidFill>
              <a:effectLst/>
              <a:uFillTx/>
              <a:latin typeface="Nimbus Sans"/>
            </a:endParaRPr>
          </a:p>
        </p:txBody>
      </p:sp>
      <p:sp>
        <p:nvSpPr>
          <p:cNvPr id="127" name="Text 12"/>
          <p:cNvSpPr/>
          <p:nvPr/>
        </p:nvSpPr>
        <p:spPr>
          <a:xfrm>
            <a:off x="1920240" y="2130480"/>
            <a:ext cx="932652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0284C7"/>
                </a:solidFill>
                <a:effectLst/>
                <a:uFillTx/>
                <a:latin typeface="Calibri"/>
              </a:rPr>
              <a:t>• </a:t>
            </a:r>
            <a:r>
              <a:rPr lang="en-US" sz="1050" b="0" u="none" strike="noStrike">
                <a:solidFill>
                  <a:srgbClr val="1E293B"/>
                </a:solidFill>
                <a:effectLst/>
                <a:uFillTx/>
                <a:latin typeface="Calibri"/>
                <a:ea typeface="Calibri"/>
              </a:rPr>
              <a:t>Sử dụng User Namespaces của Linux kernel để ánh xạ tài khoản unprivileged mlops (UID 1003 trên Host) thành UID 0 ảo bên trong container.</a:t>
            </a:r>
            <a:endParaRPr lang="en-US" sz="1050" b="0" u="none" strike="noStrike">
              <a:solidFill>
                <a:srgbClr val="000000"/>
              </a:solidFill>
              <a:effectLst/>
              <a:uFillTx/>
              <a:latin typeface="Nimbus Sans"/>
            </a:endParaRPr>
          </a:p>
        </p:txBody>
      </p:sp>
      <p:sp>
        <p:nvSpPr>
          <p:cNvPr id="128" name="Text 13"/>
          <p:cNvSpPr/>
          <p:nvPr/>
        </p:nvSpPr>
        <p:spPr>
          <a:xfrm>
            <a:off x="1920240" y="2404800"/>
            <a:ext cx="932652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0284C7"/>
                </a:solidFill>
                <a:effectLst/>
                <a:uFillTx/>
                <a:latin typeface="Calibri"/>
              </a:rPr>
              <a:t>• </a:t>
            </a:r>
            <a:r>
              <a:rPr lang="en-US" sz="1050" b="0" u="none" strike="noStrike">
                <a:solidFill>
                  <a:srgbClr val="1E293B"/>
                </a:solidFill>
                <a:effectLst/>
                <a:uFillTx/>
                <a:latin typeface="Calibri"/>
                <a:ea typeface="Calibri"/>
              </a:rPr>
              <a:t>File /etc/subuid cấp phát dải 100000:65536. Tiến trình container nghĩ mình là root nhưng ở tầng Host chỉ là UID 100000+.</a:t>
            </a:r>
            <a:endParaRPr lang="en-US" sz="1050" b="0" u="none" strike="noStrike">
              <a:solidFill>
                <a:srgbClr val="000000"/>
              </a:solidFill>
              <a:effectLst/>
              <a:uFillTx/>
              <a:latin typeface="Nimbus Sans"/>
            </a:endParaRPr>
          </a:p>
        </p:txBody>
      </p:sp>
      <p:sp>
        <p:nvSpPr>
          <p:cNvPr id="129" name="Text 14"/>
          <p:cNvSpPr/>
          <p:nvPr/>
        </p:nvSpPr>
        <p:spPr>
          <a:xfrm>
            <a:off x="1920240" y="2679120"/>
            <a:ext cx="932652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0284C7"/>
                </a:solidFill>
                <a:effectLst/>
                <a:uFillTx/>
                <a:latin typeface="Calibri"/>
              </a:rPr>
              <a:t>• </a:t>
            </a:r>
            <a:r>
              <a:rPr lang="en-US" sz="1050" b="0" u="none" strike="noStrike">
                <a:solidFill>
                  <a:srgbClr val="1E293B"/>
                </a:solidFill>
                <a:effectLst/>
                <a:uFillTx/>
                <a:latin typeface="Calibri"/>
                <a:ea typeface="Calibri"/>
              </a:rPr>
              <a:t>Không đòi hỏi cấp quyền sudo hay gán quyền setuid root cho binary Docker máy chủ.</a:t>
            </a:r>
            <a:endParaRPr lang="en-US" sz="1050" b="0" u="none" strike="noStrike">
              <a:solidFill>
                <a:srgbClr val="000000"/>
              </a:solidFill>
              <a:effectLst/>
              <a:uFillTx/>
              <a:latin typeface="Nimbus Sans"/>
            </a:endParaRPr>
          </a:p>
        </p:txBody>
      </p:sp>
      <p:sp>
        <p:nvSpPr>
          <p:cNvPr id="130" name="Shape 15"/>
          <p:cNvSpPr/>
          <p:nvPr/>
        </p:nvSpPr>
        <p:spPr>
          <a:xfrm>
            <a:off x="731520" y="3173040"/>
            <a:ext cx="10728360" cy="1352880"/>
          </a:xfrm>
          <a:prstGeom prst="roundRect">
            <a:avLst>
              <a:gd name="adj" fmla="val 5405"/>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131" name="Shape 16"/>
          <p:cNvSpPr/>
          <p:nvPr/>
        </p:nvSpPr>
        <p:spPr>
          <a:xfrm>
            <a:off x="914400" y="3392280"/>
            <a:ext cx="822600" cy="914040"/>
          </a:xfrm>
          <a:prstGeom prst="roundRect">
            <a:avLst>
              <a:gd name="adj" fmla="val 8889"/>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132" name="Text 17"/>
          <p:cNvSpPr/>
          <p:nvPr/>
        </p:nvSpPr>
        <p:spPr>
          <a:xfrm>
            <a:off x="914400" y="3392280"/>
            <a:ext cx="822600" cy="914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1" u="none" strike="noStrike">
                <a:solidFill>
                  <a:srgbClr val="FFFFFF"/>
                </a:solidFill>
                <a:effectLst/>
                <a:uFillTx/>
                <a:latin typeface="Calibri"/>
                <a:ea typeface="Calibri"/>
              </a:rPr>
              <a:t>02</a:t>
            </a:r>
            <a:endParaRPr lang="en-US" sz="2000" b="0" u="none" strike="noStrike">
              <a:solidFill>
                <a:srgbClr val="000000"/>
              </a:solidFill>
              <a:effectLst/>
              <a:uFillTx/>
              <a:latin typeface="Nimbus Sans"/>
            </a:endParaRPr>
          </a:p>
        </p:txBody>
      </p:sp>
      <p:sp>
        <p:nvSpPr>
          <p:cNvPr id="133" name="Text 18"/>
          <p:cNvSpPr/>
          <p:nvPr/>
        </p:nvSpPr>
        <p:spPr>
          <a:xfrm>
            <a:off x="1920240" y="3319200"/>
            <a:ext cx="932652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0F172A"/>
                </a:solidFill>
                <a:effectLst/>
                <a:uFillTx/>
                <a:latin typeface="Calibri"/>
                <a:ea typeface="Calibri"/>
              </a:rPr>
              <a:t>SLIRP4NETNS USER-MODE NETWORKING</a:t>
            </a:r>
            <a:endParaRPr lang="en-US" sz="1300" b="0" u="none" strike="noStrike">
              <a:solidFill>
                <a:srgbClr val="000000"/>
              </a:solidFill>
              <a:effectLst/>
              <a:uFillTx/>
              <a:latin typeface="Nimbus Sans"/>
            </a:endParaRPr>
          </a:p>
        </p:txBody>
      </p:sp>
      <p:sp>
        <p:nvSpPr>
          <p:cNvPr id="134" name="Text 19"/>
          <p:cNvSpPr/>
          <p:nvPr/>
        </p:nvSpPr>
        <p:spPr>
          <a:xfrm>
            <a:off x="1920240" y="3611880"/>
            <a:ext cx="932652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0284C7"/>
                </a:solidFill>
                <a:effectLst/>
                <a:uFillTx/>
                <a:latin typeface="Calibri"/>
              </a:rPr>
              <a:t>• </a:t>
            </a:r>
            <a:r>
              <a:rPr lang="en-US" sz="1050" b="0" u="none" strike="noStrike">
                <a:solidFill>
                  <a:srgbClr val="1E293B"/>
                </a:solidFill>
                <a:effectLst/>
                <a:uFillTx/>
                <a:latin typeface="Calibri"/>
                <a:ea typeface="Calibri"/>
              </a:rPr>
              <a:t>Thay vì can thiệp trực tiếp vào iptables của kernel host (đòi hỏi quyền root CAP_NET_ADMIN), Docker Rootless sử dụng slirp4netns.</a:t>
            </a:r>
            <a:endParaRPr lang="en-US" sz="1050" b="0" u="none" strike="noStrike">
              <a:solidFill>
                <a:srgbClr val="000000"/>
              </a:solidFill>
              <a:effectLst/>
              <a:uFillTx/>
              <a:latin typeface="Nimbus Sans"/>
            </a:endParaRPr>
          </a:p>
        </p:txBody>
      </p:sp>
      <p:sp>
        <p:nvSpPr>
          <p:cNvPr id="135" name="Text 20"/>
          <p:cNvSpPr/>
          <p:nvPr/>
        </p:nvSpPr>
        <p:spPr>
          <a:xfrm>
            <a:off x="1920240" y="3886200"/>
            <a:ext cx="932652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0284C7"/>
                </a:solidFill>
                <a:effectLst/>
                <a:uFillTx/>
                <a:latin typeface="Calibri"/>
              </a:rPr>
              <a:t>• </a:t>
            </a:r>
            <a:r>
              <a:rPr lang="en-US" sz="1050" b="0" u="none" strike="noStrike">
                <a:solidFill>
                  <a:srgbClr val="1E293B"/>
                </a:solidFill>
                <a:effectLst/>
                <a:uFillTx/>
                <a:latin typeface="Calibri"/>
                <a:ea typeface="Calibri"/>
              </a:rPr>
              <a:t>Toàn bộ ngăn xếp mạng TCP/IP được ảo hóa hoàn toàn ở không gian người dùng (User-space).</a:t>
            </a:r>
            <a:endParaRPr lang="en-US" sz="1050" b="0" u="none" strike="noStrike">
              <a:solidFill>
                <a:srgbClr val="000000"/>
              </a:solidFill>
              <a:effectLst/>
              <a:uFillTx/>
              <a:latin typeface="Nimbus Sans"/>
            </a:endParaRPr>
          </a:p>
        </p:txBody>
      </p:sp>
      <p:sp>
        <p:nvSpPr>
          <p:cNvPr id="136" name="Text 21"/>
          <p:cNvSpPr/>
          <p:nvPr/>
        </p:nvSpPr>
        <p:spPr>
          <a:xfrm>
            <a:off x="1920240" y="4160520"/>
            <a:ext cx="932652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0284C7"/>
                </a:solidFill>
                <a:effectLst/>
                <a:uFillTx/>
                <a:latin typeface="Calibri"/>
              </a:rPr>
              <a:t>• </a:t>
            </a:r>
            <a:r>
              <a:rPr lang="en-US" sz="1050" b="0" u="none" strike="noStrike">
                <a:solidFill>
                  <a:srgbClr val="1E293B"/>
                </a:solidFill>
                <a:effectLst/>
                <a:uFillTx/>
                <a:latin typeface="Calibri"/>
                <a:ea typeface="Calibri"/>
              </a:rPr>
              <a:t>Ngăn chặn triệt để nguy cơ vi dịch vụ chiếm quyền điều khiển cấu hình mạng máy chủ.</a:t>
            </a:r>
            <a:endParaRPr lang="en-US" sz="1050" b="0" u="none" strike="noStrike">
              <a:solidFill>
                <a:srgbClr val="000000"/>
              </a:solidFill>
              <a:effectLst/>
              <a:uFillTx/>
              <a:latin typeface="Nimbus Sans"/>
            </a:endParaRPr>
          </a:p>
        </p:txBody>
      </p:sp>
      <p:sp>
        <p:nvSpPr>
          <p:cNvPr id="137" name="Shape 22"/>
          <p:cNvSpPr/>
          <p:nvPr/>
        </p:nvSpPr>
        <p:spPr>
          <a:xfrm>
            <a:off x="731520" y="4654440"/>
            <a:ext cx="10728360" cy="1352880"/>
          </a:xfrm>
          <a:prstGeom prst="roundRect">
            <a:avLst>
              <a:gd name="adj" fmla="val 5405"/>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138" name="Shape 23"/>
          <p:cNvSpPr/>
          <p:nvPr/>
        </p:nvSpPr>
        <p:spPr>
          <a:xfrm>
            <a:off x="914400" y="4873680"/>
            <a:ext cx="822600" cy="914040"/>
          </a:xfrm>
          <a:prstGeom prst="roundRect">
            <a:avLst>
              <a:gd name="adj" fmla="val 8889"/>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139" name="Text 24"/>
          <p:cNvSpPr/>
          <p:nvPr/>
        </p:nvSpPr>
        <p:spPr>
          <a:xfrm>
            <a:off x="914400" y="4873680"/>
            <a:ext cx="822600" cy="914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1" u="none" strike="noStrike">
                <a:solidFill>
                  <a:srgbClr val="FFFFFF"/>
                </a:solidFill>
                <a:effectLst/>
                <a:uFillTx/>
                <a:latin typeface="Calibri"/>
                <a:ea typeface="Calibri"/>
              </a:rPr>
              <a:t>03</a:t>
            </a:r>
            <a:endParaRPr lang="en-US" sz="2000" b="0" u="none" strike="noStrike">
              <a:solidFill>
                <a:srgbClr val="000000"/>
              </a:solidFill>
              <a:effectLst/>
              <a:uFillTx/>
              <a:latin typeface="Nimbus Sans"/>
            </a:endParaRPr>
          </a:p>
        </p:txBody>
      </p:sp>
      <p:sp>
        <p:nvSpPr>
          <p:cNvPr id="140" name="Text 25"/>
          <p:cNvSpPr/>
          <p:nvPr/>
        </p:nvSpPr>
        <p:spPr>
          <a:xfrm>
            <a:off x="1920240" y="4800600"/>
            <a:ext cx="932652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0F172A"/>
                </a:solidFill>
                <a:effectLst/>
                <a:uFillTx/>
                <a:latin typeface="Calibri"/>
                <a:ea typeface="Calibri"/>
              </a:rPr>
              <a:t>TRIỆT TIÊU NGUY CƠ CONTAINER ESCAPE</a:t>
            </a:r>
            <a:endParaRPr lang="en-US" sz="1300" b="0" u="none" strike="noStrike">
              <a:solidFill>
                <a:srgbClr val="000000"/>
              </a:solidFill>
              <a:effectLst/>
              <a:uFillTx/>
              <a:latin typeface="Nimbus Sans"/>
            </a:endParaRPr>
          </a:p>
        </p:txBody>
      </p:sp>
      <p:sp>
        <p:nvSpPr>
          <p:cNvPr id="141" name="Text 26"/>
          <p:cNvSpPr/>
          <p:nvPr/>
        </p:nvSpPr>
        <p:spPr>
          <a:xfrm>
            <a:off x="1920240" y="5093280"/>
            <a:ext cx="932652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0284C7"/>
                </a:solidFill>
                <a:effectLst/>
                <a:uFillTx/>
                <a:latin typeface="Calibri"/>
              </a:rPr>
              <a:t>• </a:t>
            </a:r>
            <a:r>
              <a:rPr lang="en-US" sz="1050" b="0" u="none" strike="noStrike">
                <a:solidFill>
                  <a:srgbClr val="1E293B"/>
                </a:solidFill>
                <a:effectLst/>
                <a:uFillTx/>
                <a:latin typeface="Calibri"/>
                <a:ea typeface="Calibri"/>
              </a:rPr>
              <a:t>Trong kịch bản xấu nhất vi dịch vụ AI bị chiếm quyền qua lỗ hổng RCE, kẻ tấn công thoát khỏi container cũng chỉ rơi vào user thường mlops.</a:t>
            </a:r>
            <a:endParaRPr lang="en-US" sz="1050" b="0" u="none" strike="noStrike">
              <a:solidFill>
                <a:srgbClr val="000000"/>
              </a:solidFill>
              <a:effectLst/>
              <a:uFillTx/>
              <a:latin typeface="Nimbus Sans"/>
            </a:endParaRPr>
          </a:p>
        </p:txBody>
      </p:sp>
      <p:sp>
        <p:nvSpPr>
          <p:cNvPr id="142" name="Text 27"/>
          <p:cNvSpPr/>
          <p:nvPr/>
        </p:nvSpPr>
        <p:spPr>
          <a:xfrm>
            <a:off x="1920240" y="5367600"/>
            <a:ext cx="932652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0284C7"/>
                </a:solidFill>
                <a:effectLst/>
                <a:uFillTx/>
                <a:latin typeface="Calibri"/>
              </a:rPr>
              <a:t>• </a:t>
            </a:r>
            <a:r>
              <a:rPr lang="en-US" sz="1050" b="0" u="none" strike="noStrike">
                <a:solidFill>
                  <a:srgbClr val="1E293B"/>
                </a:solidFill>
                <a:effectLst/>
                <a:uFillTx/>
                <a:latin typeface="Calibri"/>
                <a:ea typeface="Calibri"/>
              </a:rPr>
              <a:t>Không thể ghi đè file hệ thống (/etc, /boot, /root), không thể cài cắm rootkit vào kernel.</a:t>
            </a:r>
            <a:endParaRPr lang="en-US" sz="1050" b="0" u="none" strike="noStrike">
              <a:solidFill>
                <a:srgbClr val="000000"/>
              </a:solidFill>
              <a:effectLst/>
              <a:uFillTx/>
              <a:latin typeface="Nimbus Sans"/>
            </a:endParaRPr>
          </a:p>
        </p:txBody>
      </p:sp>
      <p:sp>
        <p:nvSpPr>
          <p:cNvPr id="143" name="Text 28"/>
          <p:cNvSpPr/>
          <p:nvPr/>
        </p:nvSpPr>
        <p:spPr>
          <a:xfrm>
            <a:off x="1920240" y="5641920"/>
            <a:ext cx="932652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0284C7"/>
                </a:solidFill>
                <a:effectLst/>
                <a:uFillTx/>
                <a:latin typeface="Calibri"/>
              </a:rPr>
              <a:t>• </a:t>
            </a:r>
            <a:r>
              <a:rPr lang="en-US" sz="1050" b="0" u="none" strike="noStrike">
                <a:solidFill>
                  <a:srgbClr val="1E293B"/>
                </a:solidFill>
                <a:effectLst/>
                <a:uFillTx/>
                <a:latin typeface="Calibri"/>
                <a:ea typeface="Calibri"/>
              </a:rPr>
              <a:t>Đạt chuẩn an ninh Enterprise cao nhất, an toàn cho mô hình Multi-tenant thực tế.</a:t>
            </a:r>
            <a:endParaRPr lang="en-US" sz="1050" b="0" u="none" strike="noStrike">
              <a:solidFill>
                <a:srgbClr val="000000"/>
              </a:solidFill>
              <a:effectLst/>
              <a:uFillTx/>
              <a:latin typeface="Nimbus Sans"/>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144" name="Shape 0"/>
          <p:cNvSpPr/>
          <p:nvPr/>
        </p:nvSpPr>
        <p:spPr>
          <a:xfrm>
            <a:off x="731520" y="384120"/>
            <a:ext cx="2285640" cy="292320"/>
          </a:xfrm>
          <a:prstGeom prst="roundRect">
            <a:avLst>
              <a:gd name="adj" fmla="val 25000"/>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145" name="Text 1"/>
          <p:cNvSpPr/>
          <p:nvPr/>
        </p:nvSpPr>
        <p:spPr>
          <a:xfrm>
            <a:off x="731520" y="384120"/>
            <a:ext cx="2285640" cy="292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Calibri"/>
                <a:ea typeface="Calibri"/>
              </a:rPr>
              <a:t>AN NINH MẠNG</a:t>
            </a:r>
            <a:endParaRPr lang="en-US" sz="1000" b="0" u="none" strike="noStrike">
              <a:solidFill>
                <a:srgbClr val="000000"/>
              </a:solidFill>
              <a:effectLst/>
              <a:uFillTx/>
              <a:latin typeface="Nimbus Sans"/>
            </a:endParaRPr>
          </a:p>
        </p:txBody>
      </p:sp>
      <p:sp>
        <p:nvSpPr>
          <p:cNvPr id="146" name="Text 2"/>
          <p:cNvSpPr/>
          <p:nvPr/>
        </p:nvSpPr>
        <p:spPr>
          <a:xfrm>
            <a:off x="731520" y="731520"/>
            <a:ext cx="107283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100" b="1" u="none" strike="noStrike">
                <a:solidFill>
                  <a:srgbClr val="0F172A"/>
                </a:solidFill>
                <a:effectLst/>
                <a:uFillTx/>
                <a:latin typeface="Calibri"/>
                <a:ea typeface="Calibri"/>
              </a:rPr>
              <a:t>5. MÔ HÌNH AN NINH MẠNG NỘI BỘ ZERO-TRUST</a:t>
            </a:r>
            <a:endParaRPr lang="en-US" sz="2100" b="0" u="none" strike="noStrike">
              <a:solidFill>
                <a:srgbClr val="000000"/>
              </a:solidFill>
              <a:effectLst/>
              <a:uFillTx/>
              <a:latin typeface="Nimbus Sans"/>
            </a:endParaRPr>
          </a:p>
        </p:txBody>
      </p:sp>
      <p:sp>
        <p:nvSpPr>
          <p:cNvPr id="147" name="Text 3"/>
          <p:cNvSpPr/>
          <p:nvPr/>
        </p:nvSpPr>
        <p:spPr>
          <a:xfrm>
            <a:off x="731520" y="1170360"/>
            <a:ext cx="107283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Nguyên tắc "Không bao giờ tin tưởng, luôn luôn xác thực" trong hạ tầng vi dịch vụ MLOps</a:t>
            </a:r>
            <a:endParaRPr lang="en-US" sz="1250" b="0" u="none" strike="noStrike">
              <a:solidFill>
                <a:srgbClr val="000000"/>
              </a:solidFill>
              <a:effectLst/>
              <a:uFillTx/>
              <a:latin typeface="Nimbus Sans"/>
            </a:endParaRPr>
          </a:p>
        </p:txBody>
      </p:sp>
      <p:sp>
        <p:nvSpPr>
          <p:cNvPr id="148" name="Shape 4"/>
          <p:cNvSpPr/>
          <p:nvPr/>
        </p:nvSpPr>
        <p:spPr>
          <a:xfrm>
            <a:off x="731520" y="1481040"/>
            <a:ext cx="10728360" cy="360"/>
          </a:xfrm>
          <a:prstGeom prst="line">
            <a:avLst/>
          </a:prstGeom>
          <a:ln w="12700">
            <a:solidFill>
              <a:srgbClr val="CBD5E1"/>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149" name="Shape 5"/>
          <p:cNvSpPr/>
          <p:nvPr/>
        </p:nvSpPr>
        <p:spPr>
          <a:xfrm>
            <a:off x="731520" y="6291000"/>
            <a:ext cx="10728360" cy="360"/>
          </a:xfrm>
          <a:prstGeom prst="line">
            <a:avLst/>
          </a:prstGeom>
          <a:ln w="12700">
            <a:solidFill>
              <a:srgbClr val="E2E8F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150" name="Text 6"/>
          <p:cNvSpPr/>
          <p:nvPr/>
        </p:nvSpPr>
        <p:spPr>
          <a:xfrm>
            <a:off x="731520" y="6355080"/>
            <a:ext cx="82292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0" u="none" strike="noStrike">
                <a:solidFill>
                  <a:srgbClr val="94A3B8"/>
                </a:solidFill>
                <a:effectLst/>
                <a:uFillTx/>
                <a:latin typeface="Calibri"/>
                <a:ea typeface="Calibri"/>
              </a:rPr>
              <a:t>VKU — Đồ án Linux &amp; Open Source: MLOps Pipeline | Nhóm: Nguyễn Công Đức, Nguyễn Tùng Dương, Nguyễn Văn C</a:t>
            </a:r>
            <a:endParaRPr lang="en-US" sz="950" b="0" u="none" strike="noStrike">
              <a:solidFill>
                <a:srgbClr val="000000"/>
              </a:solidFill>
              <a:effectLst/>
              <a:uFillTx/>
              <a:latin typeface="Nimbus Sans"/>
            </a:endParaRPr>
          </a:p>
        </p:txBody>
      </p:sp>
      <p:sp>
        <p:nvSpPr>
          <p:cNvPr id="151" name="Text 7"/>
          <p:cNvSpPr/>
          <p:nvPr/>
        </p:nvSpPr>
        <p:spPr>
          <a:xfrm>
            <a:off x="9601200" y="6355080"/>
            <a:ext cx="1858680" cy="255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1000" b="1" u="none" strike="noStrike">
                <a:solidFill>
                  <a:srgbClr val="0284C7"/>
                </a:solidFill>
                <a:effectLst/>
                <a:uFillTx/>
                <a:latin typeface="Calibri"/>
                <a:ea typeface="Calibri"/>
              </a:rPr>
              <a:t>Slide 06 / 12</a:t>
            </a:r>
            <a:endParaRPr lang="en-US" sz="1000" b="0" u="none" strike="noStrike">
              <a:solidFill>
                <a:srgbClr val="000000"/>
              </a:solidFill>
              <a:effectLst/>
              <a:uFillTx/>
              <a:latin typeface="Nimbus Sans"/>
            </a:endParaRPr>
          </a:p>
        </p:txBody>
      </p:sp>
      <p:sp>
        <p:nvSpPr>
          <p:cNvPr id="152" name="Shape 8"/>
          <p:cNvSpPr/>
          <p:nvPr/>
        </p:nvSpPr>
        <p:spPr>
          <a:xfrm>
            <a:off x="731520" y="1691640"/>
            <a:ext cx="5241960" cy="4388760"/>
          </a:xfrm>
          <a:prstGeom prst="roundRect">
            <a:avLst>
              <a:gd name="adj" fmla="val 1667"/>
            </a:avLst>
          </a:prstGeom>
          <a:solidFill>
            <a:srgbClr val="FFFFFF"/>
          </a:solidFill>
          <a:ln w="19050">
            <a:solidFill>
              <a:srgbClr val="BA141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153" name="Shape 9"/>
          <p:cNvSpPr/>
          <p:nvPr/>
        </p:nvSpPr>
        <p:spPr>
          <a:xfrm>
            <a:off x="960120" y="1874520"/>
            <a:ext cx="4784760" cy="319680"/>
          </a:xfrm>
          <a:prstGeom prst="roundRect">
            <a:avLst>
              <a:gd name="adj" fmla="val 14286"/>
            </a:avLst>
          </a:prstGeom>
          <a:solidFill>
            <a:srgbClr val="BA141A"/>
          </a:solidFill>
          <a:ln w="12700">
            <a:solidFill>
              <a:srgbClr val="BA141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154" name="Text 10"/>
          <p:cNvSpPr/>
          <p:nvPr/>
        </p:nvSpPr>
        <p:spPr>
          <a:xfrm>
            <a:off x="960120" y="1874520"/>
            <a:ext cx="4784760" cy="319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FFFFFF"/>
                </a:solidFill>
                <a:effectLst/>
                <a:uFillTx/>
                <a:latin typeface="Calibri"/>
                <a:ea typeface="Calibri"/>
              </a:rPr>
              <a:t>HỆ THỐNG TRUYỀN THỐNG (NGUY CƠ AN NINH CAO)</a:t>
            </a:r>
            <a:endParaRPr lang="en-US" sz="1100" b="0" u="none" strike="noStrike">
              <a:solidFill>
                <a:srgbClr val="000000"/>
              </a:solidFill>
              <a:effectLst/>
              <a:uFillTx/>
              <a:latin typeface="Nimbus Sans"/>
            </a:endParaRPr>
          </a:p>
        </p:txBody>
      </p:sp>
      <p:sp>
        <p:nvSpPr>
          <p:cNvPr id="155" name="Text 11"/>
          <p:cNvSpPr/>
          <p:nvPr/>
        </p:nvSpPr>
        <p:spPr>
          <a:xfrm>
            <a:off x="1005840" y="2331720"/>
            <a:ext cx="4693320" cy="86832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50" b="1" u="none" strike="noStrike">
                <a:solidFill>
                  <a:srgbClr val="BA141A"/>
                </a:solidFill>
                <a:effectLst/>
                <a:uFillTx/>
                <a:latin typeface="Calibri"/>
              </a:rPr>
              <a:t>[RỦI RO] </a:t>
            </a:r>
            <a:r>
              <a:rPr lang="en-US" sz="1100" b="1" u="none" strike="noStrike">
                <a:solidFill>
                  <a:srgbClr val="0F172A"/>
                </a:solidFill>
                <a:effectLst/>
                <a:uFillTx/>
                <a:latin typeface="Calibri"/>
              </a:rPr>
              <a:t>Cổng Cơ sở dữ liệu mở 0.0.0.0: </a:t>
            </a:r>
            <a:r>
              <a:rPr lang="en-US" sz="1050" b="0" u="none" strike="noStrike">
                <a:solidFill>
                  <a:srgbClr val="1E293B"/>
                </a:solidFill>
                <a:effectLst/>
                <a:uFillTx/>
                <a:latin typeface="Calibri"/>
                <a:ea typeface="Calibri"/>
              </a:rPr>
              <a:t>Publish cổng 5432 trực tiếp ra Internet cho botnet quét mạng và brute-force mật khẩu.</a:t>
            </a:r>
            <a:endParaRPr lang="en-US" sz="1050" b="0" u="none" strike="noStrike">
              <a:solidFill>
                <a:srgbClr val="000000"/>
              </a:solidFill>
              <a:effectLst/>
              <a:uFillTx/>
              <a:latin typeface="Nimbus Sans"/>
            </a:endParaRPr>
          </a:p>
        </p:txBody>
      </p:sp>
      <p:sp>
        <p:nvSpPr>
          <p:cNvPr id="156" name="Text 12"/>
          <p:cNvSpPr/>
          <p:nvPr/>
        </p:nvSpPr>
        <p:spPr>
          <a:xfrm>
            <a:off x="1005840" y="3291840"/>
            <a:ext cx="4693320" cy="86832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50" b="1" u="none" strike="noStrike">
                <a:solidFill>
                  <a:srgbClr val="BA141A"/>
                </a:solidFill>
                <a:effectLst/>
                <a:uFillTx/>
                <a:latin typeface="Calibri"/>
              </a:rPr>
              <a:t>[RỦI RO] </a:t>
            </a:r>
            <a:r>
              <a:rPr lang="en-US" sz="1100" b="1" u="none" strike="noStrike">
                <a:solidFill>
                  <a:srgbClr val="0F172A"/>
                </a:solidFill>
                <a:effectLst/>
                <a:uFillTx/>
                <a:latin typeface="Calibri"/>
              </a:rPr>
              <a:t>Mạng phẳng (Flat Network): </a:t>
            </a:r>
            <a:r>
              <a:rPr lang="en-US" sz="1050" b="0" u="none" strike="noStrike">
                <a:solidFill>
                  <a:srgbClr val="1E293B"/>
                </a:solidFill>
                <a:effectLst/>
                <a:uFillTx/>
                <a:latin typeface="Calibri"/>
                <a:ea typeface="Calibri"/>
              </a:rPr>
              <a:t>Tất cả container dùng chung mạng default bridge, không có phân ranh giới bảo mật.</a:t>
            </a:r>
            <a:endParaRPr lang="en-US" sz="1050" b="0" u="none" strike="noStrike">
              <a:solidFill>
                <a:srgbClr val="000000"/>
              </a:solidFill>
              <a:effectLst/>
              <a:uFillTx/>
              <a:latin typeface="Nimbus Sans"/>
            </a:endParaRPr>
          </a:p>
        </p:txBody>
      </p:sp>
      <p:sp>
        <p:nvSpPr>
          <p:cNvPr id="157" name="Text 13"/>
          <p:cNvSpPr/>
          <p:nvPr/>
        </p:nvSpPr>
        <p:spPr>
          <a:xfrm>
            <a:off x="1005840" y="4251960"/>
            <a:ext cx="4693320" cy="86832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50" b="1" u="none" strike="noStrike">
                <a:solidFill>
                  <a:srgbClr val="BA141A"/>
                </a:solidFill>
                <a:effectLst/>
                <a:uFillTx/>
                <a:latin typeface="Calibri"/>
              </a:rPr>
              <a:t>[RỦI RO] </a:t>
            </a:r>
            <a:r>
              <a:rPr lang="en-US" sz="1100" b="1" u="none" strike="noStrike">
                <a:solidFill>
                  <a:srgbClr val="0F172A"/>
                </a:solidFill>
                <a:effectLst/>
                <a:uFillTx/>
                <a:latin typeface="Calibri"/>
              </a:rPr>
              <a:t>Nguy cơ Lateral Movement: </a:t>
            </a:r>
            <a:r>
              <a:rPr lang="en-US" sz="1050" b="0" u="none" strike="noStrike">
                <a:solidFill>
                  <a:srgbClr val="1E293B"/>
                </a:solidFill>
                <a:effectLst/>
                <a:uFillTx/>
                <a:latin typeface="Calibri"/>
                <a:ea typeface="Calibri"/>
              </a:rPr>
              <a:t>Hacker chỉ cần thỏa hiệp 1 container là có thể dò quét và tấn công toàn bộ vi dịch vụ lân cận.</a:t>
            </a:r>
            <a:endParaRPr lang="en-US" sz="1050" b="0" u="none" strike="noStrike">
              <a:solidFill>
                <a:srgbClr val="000000"/>
              </a:solidFill>
              <a:effectLst/>
              <a:uFillTx/>
              <a:latin typeface="Nimbus Sans"/>
            </a:endParaRPr>
          </a:p>
        </p:txBody>
      </p:sp>
      <p:sp>
        <p:nvSpPr>
          <p:cNvPr id="158" name="Text 14"/>
          <p:cNvSpPr/>
          <p:nvPr/>
        </p:nvSpPr>
        <p:spPr>
          <a:xfrm>
            <a:off x="1005840" y="5212080"/>
            <a:ext cx="4693320" cy="86832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50" b="1" u="none" strike="noStrike">
                <a:solidFill>
                  <a:srgbClr val="BA141A"/>
                </a:solidFill>
                <a:effectLst/>
                <a:uFillTx/>
                <a:latin typeface="Calibri"/>
              </a:rPr>
              <a:t>[RỦI RO] </a:t>
            </a:r>
            <a:r>
              <a:rPr lang="en-US" sz="1100" b="1" u="none" strike="noStrike">
                <a:solidFill>
                  <a:srgbClr val="0F172A"/>
                </a:solidFill>
                <a:effectLst/>
                <a:uFillTx/>
                <a:latin typeface="Calibri"/>
              </a:rPr>
              <a:t>Đặc quyền tối đa: </a:t>
            </a:r>
            <a:r>
              <a:rPr lang="en-US" sz="1050" b="0" u="none" strike="noStrike">
                <a:solidFill>
                  <a:srgbClr val="1E293B"/>
                </a:solidFill>
                <a:effectLst/>
                <a:uFillTx/>
                <a:latin typeface="Calibri"/>
                <a:ea typeface="Calibri"/>
              </a:rPr>
              <a:t>Container chạy dưới quyền root, chia sẻ file cấu hình và biến môi trường không được kiểm soát.</a:t>
            </a:r>
            <a:endParaRPr lang="en-US" sz="1050" b="0" u="none" strike="noStrike">
              <a:solidFill>
                <a:srgbClr val="000000"/>
              </a:solidFill>
              <a:effectLst/>
              <a:uFillTx/>
              <a:latin typeface="Nimbus Sans"/>
            </a:endParaRPr>
          </a:p>
        </p:txBody>
      </p:sp>
      <p:sp>
        <p:nvSpPr>
          <p:cNvPr id="159" name="Shape 15"/>
          <p:cNvSpPr/>
          <p:nvPr/>
        </p:nvSpPr>
        <p:spPr>
          <a:xfrm>
            <a:off x="6217920" y="1691640"/>
            <a:ext cx="5241960" cy="4388760"/>
          </a:xfrm>
          <a:prstGeom prst="roundRect">
            <a:avLst>
              <a:gd name="adj" fmla="val 1667"/>
            </a:avLst>
          </a:prstGeom>
          <a:solidFill>
            <a:srgbClr val="FFFFFF"/>
          </a:solidFill>
          <a:ln w="1905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160" name="Shape 16"/>
          <p:cNvSpPr/>
          <p:nvPr/>
        </p:nvSpPr>
        <p:spPr>
          <a:xfrm>
            <a:off x="6446520" y="1874520"/>
            <a:ext cx="4784760" cy="319680"/>
          </a:xfrm>
          <a:prstGeom prst="roundRect">
            <a:avLst>
              <a:gd name="adj" fmla="val 14286"/>
            </a:avLst>
          </a:prstGeom>
          <a:solidFill>
            <a:srgbClr val="16A34A"/>
          </a:solidFill>
          <a:ln w="1270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161" name="Text 17"/>
          <p:cNvSpPr/>
          <p:nvPr/>
        </p:nvSpPr>
        <p:spPr>
          <a:xfrm>
            <a:off x="6446520" y="1874520"/>
            <a:ext cx="4784760" cy="319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FFFFFF"/>
                </a:solidFill>
                <a:effectLst/>
                <a:uFillTx/>
                <a:latin typeface="Calibri"/>
                <a:ea typeface="Calibri"/>
              </a:rPr>
              <a:t>MÔ HÌNH ZERO-TRUST CỦA NHÓM (BẢO MẬT ĐA LỚP)</a:t>
            </a:r>
            <a:endParaRPr lang="en-US" sz="1100" b="0" u="none" strike="noStrike">
              <a:solidFill>
                <a:srgbClr val="000000"/>
              </a:solidFill>
              <a:effectLst/>
              <a:uFillTx/>
              <a:latin typeface="Nimbus Sans"/>
            </a:endParaRPr>
          </a:p>
        </p:txBody>
      </p:sp>
      <p:sp>
        <p:nvSpPr>
          <p:cNvPr id="162" name="Text 18"/>
          <p:cNvSpPr/>
          <p:nvPr/>
        </p:nvSpPr>
        <p:spPr>
          <a:xfrm>
            <a:off x="6492240" y="2331720"/>
            <a:ext cx="4693320" cy="86832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50" b="1" u="none" strike="noStrike">
                <a:solidFill>
                  <a:srgbClr val="16A34A"/>
                </a:solidFill>
                <a:effectLst/>
                <a:uFillTx/>
                <a:latin typeface="Calibri"/>
              </a:rPr>
              <a:t>[BẢO VỆ] </a:t>
            </a:r>
            <a:r>
              <a:rPr lang="en-US" sz="1100" b="1" u="none" strike="noStrike">
                <a:solidFill>
                  <a:srgbClr val="0F172A"/>
                </a:solidFill>
                <a:effectLst/>
                <a:uFillTx/>
                <a:latin typeface="Calibri"/>
              </a:rPr>
              <a:t>Đóng 100% cổng DB trên Host: </a:t>
            </a:r>
            <a:r>
              <a:rPr lang="en-US" sz="1050" b="0" u="none" strike="noStrike">
                <a:solidFill>
                  <a:srgbClr val="1E293B"/>
                </a:solidFill>
                <a:effectLst/>
                <a:uFillTx/>
                <a:latin typeface="Calibri"/>
                <a:ea typeface="Calibri"/>
              </a:rPr>
              <a:t>PostgreSQL 5432 chỉ lắng nghe trên bridge nội bộ mlops-net; bên ngoài hoàn toàn vô hình.</a:t>
            </a:r>
            <a:endParaRPr lang="en-US" sz="1050" b="0" u="none" strike="noStrike">
              <a:solidFill>
                <a:srgbClr val="000000"/>
              </a:solidFill>
              <a:effectLst/>
              <a:uFillTx/>
              <a:latin typeface="Nimbus Sans"/>
            </a:endParaRPr>
          </a:p>
        </p:txBody>
      </p:sp>
      <p:sp>
        <p:nvSpPr>
          <p:cNvPr id="163" name="Text 19"/>
          <p:cNvSpPr/>
          <p:nvPr/>
        </p:nvSpPr>
        <p:spPr>
          <a:xfrm>
            <a:off x="6492240" y="3291840"/>
            <a:ext cx="4693320" cy="86832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50" b="1" u="none" strike="noStrike">
                <a:solidFill>
                  <a:srgbClr val="16A34A"/>
                </a:solidFill>
                <a:effectLst/>
                <a:uFillTx/>
                <a:latin typeface="Calibri"/>
              </a:rPr>
              <a:t>[BẢO VỆ] </a:t>
            </a:r>
            <a:r>
              <a:rPr lang="en-US" sz="1100" b="1" u="none" strike="noStrike">
                <a:solidFill>
                  <a:srgbClr val="0F172A"/>
                </a:solidFill>
                <a:effectLst/>
                <a:uFillTx/>
                <a:latin typeface="Calibri"/>
              </a:rPr>
              <a:t>Phân đoạn vùng mạng nghiêm ngặt: </a:t>
            </a:r>
            <a:r>
              <a:rPr lang="en-US" sz="1050" b="0" u="none" strike="noStrike">
                <a:solidFill>
                  <a:srgbClr val="1E293B"/>
                </a:solidFill>
                <a:effectLst/>
                <a:uFillTx/>
                <a:latin typeface="Calibri"/>
                <a:ea typeface="Calibri"/>
              </a:rPr>
              <a:t>Chỉ mở cổng tiếp nhận request (FastAPI 8080 cho inference và Grafana 3000 cho dashboard).</a:t>
            </a:r>
            <a:endParaRPr lang="en-US" sz="1050" b="0" u="none" strike="noStrike">
              <a:solidFill>
                <a:srgbClr val="000000"/>
              </a:solidFill>
              <a:effectLst/>
              <a:uFillTx/>
              <a:latin typeface="Nimbus Sans"/>
            </a:endParaRPr>
          </a:p>
        </p:txBody>
      </p:sp>
      <p:sp>
        <p:nvSpPr>
          <p:cNvPr id="164" name="Text 20"/>
          <p:cNvSpPr/>
          <p:nvPr/>
        </p:nvSpPr>
        <p:spPr>
          <a:xfrm>
            <a:off x="6492240" y="4251960"/>
            <a:ext cx="4693320" cy="86832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50" b="1" u="none" strike="noStrike">
                <a:solidFill>
                  <a:srgbClr val="16A34A"/>
                </a:solidFill>
                <a:effectLst/>
                <a:uFillTx/>
                <a:latin typeface="Calibri"/>
              </a:rPr>
              <a:t>[BẢO VỆ] </a:t>
            </a:r>
            <a:r>
              <a:rPr lang="en-US" sz="1100" b="1" u="none" strike="noStrike">
                <a:solidFill>
                  <a:srgbClr val="0F172A"/>
                </a:solidFill>
                <a:effectLst/>
                <a:uFillTx/>
                <a:latin typeface="Calibri"/>
              </a:rPr>
              <a:t>Nguyên tắc đặc quyền tối thiểu: </a:t>
            </a:r>
            <a:r>
              <a:rPr lang="en-US" sz="1050" b="0" u="none" strike="noStrike">
                <a:solidFill>
                  <a:srgbClr val="1E293B"/>
                </a:solidFill>
                <a:effectLst/>
                <a:uFillTx/>
                <a:latin typeface="Calibri"/>
                <a:ea typeface="Calibri"/>
              </a:rPr>
              <a:t>Container giao tiếp bằng DNS nội bộ cô lập, cơ sở dữ liệu xác thực mật khẩu phức tạp.</a:t>
            </a:r>
            <a:endParaRPr lang="en-US" sz="1050" b="0" u="none" strike="noStrike">
              <a:solidFill>
                <a:srgbClr val="000000"/>
              </a:solidFill>
              <a:effectLst/>
              <a:uFillTx/>
              <a:latin typeface="Nimbus Sans"/>
            </a:endParaRPr>
          </a:p>
        </p:txBody>
      </p:sp>
      <p:sp>
        <p:nvSpPr>
          <p:cNvPr id="165" name="Text 21"/>
          <p:cNvSpPr/>
          <p:nvPr/>
        </p:nvSpPr>
        <p:spPr>
          <a:xfrm>
            <a:off x="6492240" y="5212080"/>
            <a:ext cx="4693320" cy="86832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50" b="1" u="none" strike="noStrike">
                <a:solidFill>
                  <a:srgbClr val="16A34A"/>
                </a:solidFill>
                <a:effectLst/>
                <a:uFillTx/>
                <a:latin typeface="Calibri"/>
              </a:rPr>
              <a:t>[BẢO VỆ] </a:t>
            </a:r>
            <a:r>
              <a:rPr lang="en-US" sz="1100" b="1" u="none" strike="noStrike">
                <a:solidFill>
                  <a:srgbClr val="0F172A"/>
                </a:solidFill>
                <a:effectLst/>
                <a:uFillTx/>
                <a:latin typeface="Calibri"/>
              </a:rPr>
              <a:t>Kiểm soát luồng dữ liệu (Data Flow): </a:t>
            </a:r>
            <a:r>
              <a:rPr lang="en-US" sz="1050" b="0" u="none" strike="noStrike">
                <a:solidFill>
                  <a:srgbClr val="1E293B"/>
                </a:solidFill>
                <a:effectLst/>
                <a:uFillTx/>
                <a:latin typeface="Calibri"/>
                <a:ea typeface="Calibri"/>
              </a:rPr>
              <a:t>Prometheus chỉ cào metrics qua endpoint chuyên biệt, không có quyền truy cập dữ liệu bảng.</a:t>
            </a:r>
            <a:endParaRPr lang="en-US" sz="1050" b="0" u="none" strike="noStrike">
              <a:solidFill>
                <a:srgbClr val="000000"/>
              </a:solidFill>
              <a:effectLst/>
              <a:uFillTx/>
              <a:latin typeface="Nimbus Sans"/>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166" name="Shape 0"/>
          <p:cNvSpPr/>
          <p:nvPr/>
        </p:nvSpPr>
        <p:spPr>
          <a:xfrm>
            <a:off x="731520" y="384120"/>
            <a:ext cx="2285640" cy="292320"/>
          </a:xfrm>
          <a:prstGeom prst="roundRect">
            <a:avLst>
              <a:gd name="adj" fmla="val 25000"/>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167" name="Text 1"/>
          <p:cNvSpPr/>
          <p:nvPr/>
        </p:nvSpPr>
        <p:spPr>
          <a:xfrm>
            <a:off x="731520" y="384120"/>
            <a:ext cx="2285640" cy="292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Calibri"/>
                <a:ea typeface="Calibri"/>
              </a:rPr>
              <a:t>TỰ ĐỘNG HÓA HẠ TẦNG</a:t>
            </a:r>
            <a:endParaRPr lang="en-US" sz="1000" b="0" u="none" strike="noStrike">
              <a:solidFill>
                <a:srgbClr val="000000"/>
              </a:solidFill>
              <a:effectLst/>
              <a:uFillTx/>
              <a:latin typeface="Nimbus Sans"/>
            </a:endParaRPr>
          </a:p>
        </p:txBody>
      </p:sp>
      <p:sp>
        <p:nvSpPr>
          <p:cNvPr id="168" name="Text 2"/>
          <p:cNvSpPr/>
          <p:nvPr/>
        </p:nvSpPr>
        <p:spPr>
          <a:xfrm>
            <a:off x="731520" y="731520"/>
            <a:ext cx="107283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100" b="1" u="none" strike="noStrike">
                <a:solidFill>
                  <a:srgbClr val="0F172A"/>
                </a:solidFill>
                <a:effectLst/>
                <a:uFillTx/>
                <a:latin typeface="Calibri"/>
                <a:ea typeface="Calibri"/>
              </a:rPr>
              <a:t>6. TỰ ĐỘNG HÓA GIA CỐ MÁY CHỦ (HARDENING)</a:t>
            </a:r>
            <a:endParaRPr lang="en-US" sz="2100" b="0" u="none" strike="noStrike">
              <a:solidFill>
                <a:srgbClr val="000000"/>
              </a:solidFill>
              <a:effectLst/>
              <a:uFillTx/>
              <a:latin typeface="Nimbus Sans"/>
            </a:endParaRPr>
          </a:p>
        </p:txBody>
      </p:sp>
      <p:sp>
        <p:nvSpPr>
          <p:cNvPr id="169" name="Text 3"/>
          <p:cNvSpPr/>
          <p:nvPr/>
        </p:nvSpPr>
        <p:spPr>
          <a:xfrm>
            <a:off x="731520" y="1170360"/>
            <a:ext cx="107283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Bộ kịch bản IaC Bash shell với 4 lớp phòng thủ chiều sâu và khả năng rollback tức thì</a:t>
            </a:r>
            <a:endParaRPr lang="en-US" sz="1250" b="0" u="none" strike="noStrike">
              <a:solidFill>
                <a:srgbClr val="000000"/>
              </a:solidFill>
              <a:effectLst/>
              <a:uFillTx/>
              <a:latin typeface="Nimbus Sans"/>
            </a:endParaRPr>
          </a:p>
        </p:txBody>
      </p:sp>
      <p:sp>
        <p:nvSpPr>
          <p:cNvPr id="170" name="Shape 4"/>
          <p:cNvSpPr/>
          <p:nvPr/>
        </p:nvSpPr>
        <p:spPr>
          <a:xfrm>
            <a:off x="731520" y="1481040"/>
            <a:ext cx="10728360" cy="360"/>
          </a:xfrm>
          <a:prstGeom prst="line">
            <a:avLst/>
          </a:prstGeom>
          <a:ln w="12700">
            <a:solidFill>
              <a:srgbClr val="CBD5E1"/>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171" name="Shape 5"/>
          <p:cNvSpPr/>
          <p:nvPr/>
        </p:nvSpPr>
        <p:spPr>
          <a:xfrm>
            <a:off x="731520" y="6291000"/>
            <a:ext cx="10728360" cy="360"/>
          </a:xfrm>
          <a:prstGeom prst="line">
            <a:avLst/>
          </a:prstGeom>
          <a:ln w="12700">
            <a:solidFill>
              <a:srgbClr val="E2E8F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172" name="Text 6"/>
          <p:cNvSpPr/>
          <p:nvPr/>
        </p:nvSpPr>
        <p:spPr>
          <a:xfrm>
            <a:off x="731520" y="6355080"/>
            <a:ext cx="82292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0" u="none" strike="noStrike">
                <a:solidFill>
                  <a:srgbClr val="94A3B8"/>
                </a:solidFill>
                <a:effectLst/>
                <a:uFillTx/>
                <a:latin typeface="Calibri"/>
                <a:ea typeface="Calibri"/>
              </a:rPr>
              <a:t>VKU — Đồ án Linux &amp; Open Source: MLOps Pipeline | Nhóm: Nguyễn Công Đức, Nguyễn Tùng Dương, Nguyễn Văn C</a:t>
            </a:r>
            <a:endParaRPr lang="en-US" sz="950" b="0" u="none" strike="noStrike">
              <a:solidFill>
                <a:srgbClr val="000000"/>
              </a:solidFill>
              <a:effectLst/>
              <a:uFillTx/>
              <a:latin typeface="Nimbus Sans"/>
            </a:endParaRPr>
          </a:p>
        </p:txBody>
      </p:sp>
      <p:sp>
        <p:nvSpPr>
          <p:cNvPr id="173" name="Text 7"/>
          <p:cNvSpPr/>
          <p:nvPr/>
        </p:nvSpPr>
        <p:spPr>
          <a:xfrm>
            <a:off x="9601200" y="6355080"/>
            <a:ext cx="1858680" cy="255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1000" b="1" u="none" strike="noStrike">
                <a:solidFill>
                  <a:srgbClr val="0284C7"/>
                </a:solidFill>
                <a:effectLst/>
                <a:uFillTx/>
                <a:latin typeface="Calibri"/>
                <a:ea typeface="Calibri"/>
              </a:rPr>
              <a:t>Slide 07 / 12</a:t>
            </a:r>
            <a:endParaRPr lang="en-US" sz="1000" b="0" u="none" strike="noStrike">
              <a:solidFill>
                <a:srgbClr val="000000"/>
              </a:solidFill>
              <a:effectLst/>
              <a:uFillTx/>
              <a:latin typeface="Nimbus Sans"/>
            </a:endParaRPr>
          </a:p>
        </p:txBody>
      </p:sp>
      <p:sp>
        <p:nvSpPr>
          <p:cNvPr id="174" name="Shape 8"/>
          <p:cNvSpPr/>
          <p:nvPr/>
        </p:nvSpPr>
        <p:spPr>
          <a:xfrm>
            <a:off x="731520" y="1691640"/>
            <a:ext cx="5241960" cy="2057040"/>
          </a:xfrm>
          <a:prstGeom prst="roundRect">
            <a:avLst>
              <a:gd name="adj" fmla="val 3556"/>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175" name="Text 9"/>
          <p:cNvSpPr/>
          <p:nvPr/>
        </p:nvSpPr>
        <p:spPr>
          <a:xfrm>
            <a:off x="1005840" y="1920240"/>
            <a:ext cx="46933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0F172A"/>
                </a:solidFill>
                <a:effectLst/>
                <a:uFillTx/>
                <a:latin typeface="Calibri"/>
                <a:ea typeface="Calibri"/>
              </a:rPr>
              <a:t>LỚP 1: TƯỜNG LỬA UFW CHỦ ĐỘNG</a:t>
            </a:r>
            <a:endParaRPr lang="en-US" sz="1300" b="0" u="none" strike="noStrike">
              <a:solidFill>
                <a:srgbClr val="000000"/>
              </a:solidFill>
              <a:effectLst/>
              <a:uFillTx/>
              <a:latin typeface="Nimbus Sans"/>
            </a:endParaRPr>
          </a:p>
        </p:txBody>
      </p:sp>
      <p:sp>
        <p:nvSpPr>
          <p:cNvPr id="176" name="Text 10"/>
          <p:cNvSpPr/>
          <p:nvPr/>
        </p:nvSpPr>
        <p:spPr>
          <a:xfrm>
            <a:off x="1005840" y="2240280"/>
            <a:ext cx="4693320" cy="228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1" u="none" strike="noStrike">
                <a:solidFill>
                  <a:srgbClr val="0284C7"/>
                </a:solidFill>
                <a:effectLst/>
                <a:uFillTx/>
                <a:latin typeface="Calibri"/>
                <a:ea typeface="Calibri"/>
              </a:rPr>
              <a:t>Chính sách Default Deny</a:t>
            </a:r>
            <a:endParaRPr lang="en-US" sz="1050" b="0" u="none" strike="noStrike">
              <a:solidFill>
                <a:srgbClr val="000000"/>
              </a:solidFill>
              <a:effectLst/>
              <a:uFillTx/>
              <a:latin typeface="Nimbus Sans"/>
            </a:endParaRPr>
          </a:p>
        </p:txBody>
      </p:sp>
      <p:sp>
        <p:nvSpPr>
          <p:cNvPr id="177" name="Text 11"/>
          <p:cNvSpPr/>
          <p:nvPr/>
        </p:nvSpPr>
        <p:spPr>
          <a:xfrm>
            <a:off x="1005840" y="2514600"/>
            <a:ext cx="4693320" cy="10969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080" b="0" u="none" strike="noStrike">
                <a:solidFill>
                  <a:srgbClr val="1E293B"/>
                </a:solidFill>
                <a:effectLst/>
                <a:uFillTx/>
                <a:latin typeface="Calibri"/>
                <a:ea typeface="Calibri"/>
              </a:rPr>
              <a:t>Thiết lập UFW chặn mặc định toàn bộ lưu lượng đi vào. Whitelist duy nhất 5 cổng dịch vụ cần thiết: SSH (22), FastAPI (8080), MLflow (5000), Grafana (3000), Prometheus (9090). Toàn bộ cổng lạ bị drop thầm lặng.</a:t>
            </a:r>
            <a:endParaRPr lang="en-US" sz="1080" b="0" u="none" strike="noStrike">
              <a:solidFill>
                <a:srgbClr val="000000"/>
              </a:solidFill>
              <a:effectLst/>
              <a:uFillTx/>
              <a:latin typeface="Nimbus Sans"/>
            </a:endParaRPr>
          </a:p>
        </p:txBody>
      </p:sp>
      <p:sp>
        <p:nvSpPr>
          <p:cNvPr id="178" name="Shape 12"/>
          <p:cNvSpPr/>
          <p:nvPr/>
        </p:nvSpPr>
        <p:spPr>
          <a:xfrm>
            <a:off x="6217920" y="1691640"/>
            <a:ext cx="5241960" cy="2057040"/>
          </a:xfrm>
          <a:prstGeom prst="roundRect">
            <a:avLst>
              <a:gd name="adj" fmla="val 3556"/>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179" name="Text 13"/>
          <p:cNvSpPr/>
          <p:nvPr/>
        </p:nvSpPr>
        <p:spPr>
          <a:xfrm>
            <a:off x="6492240" y="1920240"/>
            <a:ext cx="46933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0F172A"/>
                </a:solidFill>
                <a:effectLst/>
                <a:uFillTx/>
                <a:latin typeface="Calibri"/>
                <a:ea typeface="Calibri"/>
              </a:rPr>
              <a:t>LỚP 2: KERNEL HARDENING (SYSCTL)</a:t>
            </a:r>
            <a:endParaRPr lang="en-US" sz="1300" b="0" u="none" strike="noStrike">
              <a:solidFill>
                <a:srgbClr val="000000"/>
              </a:solidFill>
              <a:effectLst/>
              <a:uFillTx/>
              <a:latin typeface="Nimbus Sans"/>
            </a:endParaRPr>
          </a:p>
        </p:txBody>
      </p:sp>
      <p:sp>
        <p:nvSpPr>
          <p:cNvPr id="180" name="Text 14"/>
          <p:cNvSpPr/>
          <p:nvPr/>
        </p:nvSpPr>
        <p:spPr>
          <a:xfrm>
            <a:off x="6492240" y="2240280"/>
            <a:ext cx="4693320" cy="228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1" u="none" strike="noStrike">
                <a:solidFill>
                  <a:srgbClr val="0284C7"/>
                </a:solidFill>
                <a:effectLst/>
                <a:uFillTx/>
                <a:latin typeface="Calibri"/>
                <a:ea typeface="Calibri"/>
              </a:rPr>
              <a:t>Gia cố tham số hạt nhân</a:t>
            </a:r>
            <a:endParaRPr lang="en-US" sz="1050" b="0" u="none" strike="noStrike">
              <a:solidFill>
                <a:srgbClr val="000000"/>
              </a:solidFill>
              <a:effectLst/>
              <a:uFillTx/>
              <a:latin typeface="Nimbus Sans"/>
            </a:endParaRPr>
          </a:p>
        </p:txBody>
      </p:sp>
      <p:sp>
        <p:nvSpPr>
          <p:cNvPr id="181" name="Text 15"/>
          <p:cNvSpPr/>
          <p:nvPr/>
        </p:nvSpPr>
        <p:spPr>
          <a:xfrm>
            <a:off x="6492240" y="2514600"/>
            <a:ext cx="4693320" cy="10969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080" b="0" u="none" strike="noStrike">
                <a:solidFill>
                  <a:srgbClr val="1E293B"/>
                </a:solidFill>
                <a:effectLst/>
                <a:uFillTx/>
                <a:latin typeface="Calibri"/>
                <a:ea typeface="Calibri"/>
              </a:rPr>
              <a:t>Cấu hình file /etc/sysctl.d/99-mlops-security.conf: Kích hoạt tcp_syncookies chống tấn công từ chối dịch vụ SYN Flood; vô hiệu hóa IP Source Routing và ICMP Redirects; bật fs.protected_regular ngăn chặn symlink attack.</a:t>
            </a:r>
            <a:endParaRPr lang="en-US" sz="1080" b="0" u="none" strike="noStrike">
              <a:solidFill>
                <a:srgbClr val="000000"/>
              </a:solidFill>
              <a:effectLst/>
              <a:uFillTx/>
              <a:latin typeface="Nimbus Sans"/>
            </a:endParaRPr>
          </a:p>
        </p:txBody>
      </p:sp>
      <p:sp>
        <p:nvSpPr>
          <p:cNvPr id="182" name="Shape 16"/>
          <p:cNvSpPr/>
          <p:nvPr/>
        </p:nvSpPr>
        <p:spPr>
          <a:xfrm>
            <a:off x="731520" y="3931920"/>
            <a:ext cx="5241960" cy="2057040"/>
          </a:xfrm>
          <a:prstGeom prst="roundRect">
            <a:avLst>
              <a:gd name="adj" fmla="val 3556"/>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183" name="Text 17"/>
          <p:cNvSpPr/>
          <p:nvPr/>
        </p:nvSpPr>
        <p:spPr>
          <a:xfrm>
            <a:off x="1005840" y="4160520"/>
            <a:ext cx="46933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0F172A"/>
                </a:solidFill>
                <a:effectLst/>
                <a:uFillTx/>
                <a:latin typeface="Calibri"/>
                <a:ea typeface="Calibri"/>
              </a:rPr>
              <a:t>LỚP 3: FAIL2BAN &amp; CGROUPS LIMITS</a:t>
            </a:r>
            <a:endParaRPr lang="en-US" sz="1300" b="0" u="none" strike="noStrike">
              <a:solidFill>
                <a:srgbClr val="000000"/>
              </a:solidFill>
              <a:effectLst/>
              <a:uFillTx/>
              <a:latin typeface="Nimbus Sans"/>
            </a:endParaRPr>
          </a:p>
        </p:txBody>
      </p:sp>
      <p:sp>
        <p:nvSpPr>
          <p:cNvPr id="184" name="Text 18"/>
          <p:cNvSpPr/>
          <p:nvPr/>
        </p:nvSpPr>
        <p:spPr>
          <a:xfrm>
            <a:off x="1005840" y="4480560"/>
            <a:ext cx="4693320" cy="228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1" u="none" strike="noStrike">
                <a:solidFill>
                  <a:srgbClr val="0284C7"/>
                </a:solidFill>
                <a:effectLst/>
                <a:uFillTx/>
                <a:latin typeface="Calibri"/>
                <a:ea typeface="Calibri"/>
              </a:rPr>
              <a:t>Chống Brute-force &amp; Quá tải</a:t>
            </a:r>
            <a:endParaRPr lang="en-US" sz="1050" b="0" u="none" strike="noStrike">
              <a:solidFill>
                <a:srgbClr val="000000"/>
              </a:solidFill>
              <a:effectLst/>
              <a:uFillTx/>
              <a:latin typeface="Nimbus Sans"/>
            </a:endParaRPr>
          </a:p>
        </p:txBody>
      </p:sp>
      <p:sp>
        <p:nvSpPr>
          <p:cNvPr id="185" name="Text 19"/>
          <p:cNvSpPr/>
          <p:nvPr/>
        </p:nvSpPr>
        <p:spPr>
          <a:xfrm>
            <a:off x="1005840" y="4754880"/>
            <a:ext cx="4693320" cy="10969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080" b="0" u="none" strike="noStrike">
                <a:solidFill>
                  <a:srgbClr val="1E293B"/>
                </a:solidFill>
                <a:effectLst/>
                <a:uFillTx/>
                <a:latin typeface="Calibri"/>
                <a:ea typeface="Calibri"/>
              </a:rPr>
              <a:t>Triển khai Fail2ban SSH jail: Tự động khóa IP tấn công sau 5 lần đăng nhập thất bại. Thiết lập giới hạn tài nguyên Systemd Cgroups cho user mlops, ngăn chặn vi dịch vụ AI chiếm cạn kiệt CPU/RAM làm tê liệt máy chủ.</a:t>
            </a:r>
            <a:endParaRPr lang="en-US" sz="1080" b="0" u="none" strike="noStrike">
              <a:solidFill>
                <a:srgbClr val="000000"/>
              </a:solidFill>
              <a:effectLst/>
              <a:uFillTx/>
              <a:latin typeface="Nimbus Sans"/>
            </a:endParaRPr>
          </a:p>
        </p:txBody>
      </p:sp>
      <p:sp>
        <p:nvSpPr>
          <p:cNvPr id="186" name="Shape 20"/>
          <p:cNvSpPr/>
          <p:nvPr/>
        </p:nvSpPr>
        <p:spPr>
          <a:xfrm>
            <a:off x="6217920" y="3931920"/>
            <a:ext cx="5241960" cy="2057040"/>
          </a:xfrm>
          <a:prstGeom prst="roundRect">
            <a:avLst>
              <a:gd name="adj" fmla="val 3556"/>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187" name="Text 21"/>
          <p:cNvSpPr/>
          <p:nvPr/>
        </p:nvSpPr>
        <p:spPr>
          <a:xfrm>
            <a:off x="6492240" y="4160520"/>
            <a:ext cx="46933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0F172A"/>
                </a:solidFill>
                <a:effectLst/>
                <a:uFillTx/>
                <a:latin typeface="Calibri"/>
                <a:ea typeface="Calibri"/>
              </a:rPr>
              <a:t>LỚP 4: KHẢ NĂNG ROLLBACK 100%</a:t>
            </a:r>
            <a:endParaRPr lang="en-US" sz="1300" b="0" u="none" strike="noStrike">
              <a:solidFill>
                <a:srgbClr val="000000"/>
              </a:solidFill>
              <a:effectLst/>
              <a:uFillTx/>
              <a:latin typeface="Nimbus Sans"/>
            </a:endParaRPr>
          </a:p>
        </p:txBody>
      </p:sp>
      <p:sp>
        <p:nvSpPr>
          <p:cNvPr id="188" name="Text 22"/>
          <p:cNvSpPr/>
          <p:nvPr/>
        </p:nvSpPr>
        <p:spPr>
          <a:xfrm>
            <a:off x="6492240" y="4480560"/>
            <a:ext cx="4693320" cy="228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1" u="none" strike="noStrike">
                <a:solidFill>
                  <a:srgbClr val="0284C7"/>
                </a:solidFill>
                <a:effectLst/>
                <a:uFillTx/>
                <a:latin typeface="Calibri"/>
                <a:ea typeface="Calibri"/>
              </a:rPr>
              <a:t>An toàn &amp; Khả nghịch cao</a:t>
            </a:r>
            <a:endParaRPr lang="en-US" sz="1050" b="0" u="none" strike="noStrike">
              <a:solidFill>
                <a:srgbClr val="000000"/>
              </a:solidFill>
              <a:effectLst/>
              <a:uFillTx/>
              <a:latin typeface="Nimbus Sans"/>
            </a:endParaRPr>
          </a:p>
        </p:txBody>
      </p:sp>
      <p:sp>
        <p:nvSpPr>
          <p:cNvPr id="189" name="Text 23"/>
          <p:cNvSpPr/>
          <p:nvPr/>
        </p:nvSpPr>
        <p:spPr>
          <a:xfrm>
            <a:off x="6492240" y="4754880"/>
            <a:ext cx="4693320" cy="10969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080" b="0" u="none" strike="noStrike">
                <a:solidFill>
                  <a:srgbClr val="1E293B"/>
                </a:solidFill>
                <a:effectLst/>
                <a:uFillTx/>
                <a:latin typeface="Calibri"/>
                <a:ea typeface="Calibri"/>
              </a:rPr>
              <a:t>Cung cấp kịch bản 01_rollback_hardening.sh: Tự động khôi phục cấu hình iptables, tắt UFW, reset tham số sysctl và cấu hình mạng về trạng thái gốc của hệ thống chỉ trong vòng 3 giây khi cần bảo trì.</a:t>
            </a:r>
            <a:endParaRPr lang="en-US" sz="1080" b="0" u="none" strike="noStrike">
              <a:solidFill>
                <a:srgbClr val="000000"/>
              </a:solidFill>
              <a:effectLst/>
              <a:uFillTx/>
              <a:latin typeface="Nimbus Sans"/>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190" name="Shape 0"/>
          <p:cNvSpPr/>
          <p:nvPr/>
        </p:nvSpPr>
        <p:spPr>
          <a:xfrm>
            <a:off x="731520" y="384120"/>
            <a:ext cx="2285640" cy="292320"/>
          </a:xfrm>
          <a:prstGeom prst="roundRect">
            <a:avLst>
              <a:gd name="adj" fmla="val 25000"/>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191" name="Text 1"/>
          <p:cNvSpPr/>
          <p:nvPr/>
        </p:nvSpPr>
        <p:spPr>
          <a:xfrm>
            <a:off x="731520" y="384120"/>
            <a:ext cx="2285640" cy="292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Calibri"/>
                <a:ea typeface="Calibri"/>
              </a:rPr>
              <a:t>VI DỊCH VỤ AI</a:t>
            </a:r>
            <a:endParaRPr lang="en-US" sz="1000" b="0" u="none" strike="noStrike">
              <a:solidFill>
                <a:srgbClr val="000000"/>
              </a:solidFill>
              <a:effectLst/>
              <a:uFillTx/>
              <a:latin typeface="Nimbus Sans"/>
            </a:endParaRPr>
          </a:p>
        </p:txBody>
      </p:sp>
      <p:sp>
        <p:nvSpPr>
          <p:cNvPr id="192" name="Text 2"/>
          <p:cNvSpPr/>
          <p:nvPr/>
        </p:nvSpPr>
        <p:spPr>
          <a:xfrm>
            <a:off x="731520" y="731520"/>
            <a:ext cx="107283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100" b="1" u="none" strike="noStrike">
                <a:solidFill>
                  <a:srgbClr val="0F172A"/>
                </a:solidFill>
                <a:effectLst/>
                <a:uFillTx/>
                <a:latin typeface="Calibri"/>
                <a:ea typeface="Calibri"/>
              </a:rPr>
              <a:t>7. VI DỊCH VỤ AI OCR SERVING TỐI ƯU</a:t>
            </a:r>
            <a:endParaRPr lang="en-US" sz="2100" b="0" u="none" strike="noStrike">
              <a:solidFill>
                <a:srgbClr val="000000"/>
              </a:solidFill>
              <a:effectLst/>
              <a:uFillTx/>
              <a:latin typeface="Nimbus Sans"/>
            </a:endParaRPr>
          </a:p>
        </p:txBody>
      </p:sp>
      <p:sp>
        <p:nvSpPr>
          <p:cNvPr id="193" name="Text 3"/>
          <p:cNvSpPr/>
          <p:nvPr/>
        </p:nvSpPr>
        <p:spPr>
          <a:xfrm>
            <a:off x="731520" y="1170360"/>
            <a:ext cx="107283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Đóng gói Dockerfile Multi-stage build và thực thi dưới quyền UID 10001</a:t>
            </a:r>
            <a:endParaRPr lang="en-US" sz="1250" b="0" u="none" strike="noStrike">
              <a:solidFill>
                <a:srgbClr val="000000"/>
              </a:solidFill>
              <a:effectLst/>
              <a:uFillTx/>
              <a:latin typeface="Nimbus Sans"/>
            </a:endParaRPr>
          </a:p>
        </p:txBody>
      </p:sp>
      <p:sp>
        <p:nvSpPr>
          <p:cNvPr id="194" name="Shape 4"/>
          <p:cNvSpPr/>
          <p:nvPr/>
        </p:nvSpPr>
        <p:spPr>
          <a:xfrm>
            <a:off x="731520" y="1481040"/>
            <a:ext cx="10728360" cy="360"/>
          </a:xfrm>
          <a:prstGeom prst="line">
            <a:avLst/>
          </a:prstGeom>
          <a:ln w="12700">
            <a:solidFill>
              <a:srgbClr val="CBD5E1"/>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195" name="Shape 5"/>
          <p:cNvSpPr/>
          <p:nvPr/>
        </p:nvSpPr>
        <p:spPr>
          <a:xfrm>
            <a:off x="731520" y="6291000"/>
            <a:ext cx="10728360" cy="360"/>
          </a:xfrm>
          <a:prstGeom prst="line">
            <a:avLst/>
          </a:prstGeom>
          <a:ln w="12700">
            <a:solidFill>
              <a:srgbClr val="E2E8F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196" name="Text 6"/>
          <p:cNvSpPr/>
          <p:nvPr/>
        </p:nvSpPr>
        <p:spPr>
          <a:xfrm>
            <a:off x="731520" y="6355080"/>
            <a:ext cx="82292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0" u="none" strike="noStrike">
                <a:solidFill>
                  <a:srgbClr val="94A3B8"/>
                </a:solidFill>
                <a:effectLst/>
                <a:uFillTx/>
                <a:latin typeface="Calibri"/>
                <a:ea typeface="Calibri"/>
              </a:rPr>
              <a:t>VKU — Đồ án Linux &amp; Open Source: MLOps Pipeline | Nhóm: Nguyễn Công Đức, Nguyễn Tùng Dương, Nguyễn Văn C</a:t>
            </a:r>
            <a:endParaRPr lang="en-US" sz="950" b="0" u="none" strike="noStrike">
              <a:solidFill>
                <a:srgbClr val="000000"/>
              </a:solidFill>
              <a:effectLst/>
              <a:uFillTx/>
              <a:latin typeface="Nimbus Sans"/>
            </a:endParaRPr>
          </a:p>
        </p:txBody>
      </p:sp>
      <p:sp>
        <p:nvSpPr>
          <p:cNvPr id="197" name="Text 7"/>
          <p:cNvSpPr/>
          <p:nvPr/>
        </p:nvSpPr>
        <p:spPr>
          <a:xfrm>
            <a:off x="9601200" y="6355080"/>
            <a:ext cx="1858680" cy="255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1000" b="1" u="none" strike="noStrike">
                <a:solidFill>
                  <a:srgbClr val="0284C7"/>
                </a:solidFill>
                <a:effectLst/>
                <a:uFillTx/>
                <a:latin typeface="Calibri"/>
                <a:ea typeface="Calibri"/>
              </a:rPr>
              <a:t>Slide 08 / 12</a:t>
            </a:r>
            <a:endParaRPr lang="en-US" sz="1000" b="0" u="none" strike="noStrike">
              <a:solidFill>
                <a:srgbClr val="000000"/>
              </a:solidFill>
              <a:effectLst/>
              <a:uFillTx/>
              <a:latin typeface="Nimbus Sans"/>
            </a:endParaRPr>
          </a:p>
        </p:txBody>
      </p:sp>
      <p:sp>
        <p:nvSpPr>
          <p:cNvPr id="198" name="Shape 8"/>
          <p:cNvSpPr/>
          <p:nvPr/>
        </p:nvSpPr>
        <p:spPr>
          <a:xfrm>
            <a:off x="731520" y="1691640"/>
            <a:ext cx="5241960" cy="4388760"/>
          </a:xfrm>
          <a:prstGeom prst="roundRect">
            <a:avLst>
              <a:gd name="adj" fmla="val 1667"/>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199" name="Text 9"/>
          <p:cNvSpPr/>
          <p:nvPr/>
        </p:nvSpPr>
        <p:spPr>
          <a:xfrm>
            <a:off x="1005840" y="1920240"/>
            <a:ext cx="46933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50" b="1" u="none" strike="noStrike">
                <a:solidFill>
                  <a:srgbClr val="0284C7"/>
                </a:solidFill>
                <a:effectLst/>
                <a:uFillTx/>
                <a:latin typeface="Calibri"/>
                <a:ea typeface="Calibri"/>
              </a:rPr>
              <a:t>QUY CHUẨN DOCKERFILE MULTI-STAGE</a:t>
            </a:r>
            <a:endParaRPr lang="en-US" sz="1350" b="0" u="none" strike="noStrike">
              <a:solidFill>
                <a:srgbClr val="000000"/>
              </a:solidFill>
              <a:effectLst/>
              <a:uFillTx/>
              <a:latin typeface="Nimbus Sans"/>
            </a:endParaRPr>
          </a:p>
        </p:txBody>
      </p:sp>
      <p:sp>
        <p:nvSpPr>
          <p:cNvPr id="200" name="Text 10"/>
          <p:cNvSpPr/>
          <p:nvPr/>
        </p:nvSpPr>
        <p:spPr>
          <a:xfrm>
            <a:off x="1005840" y="2377440"/>
            <a:ext cx="4693320" cy="8226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0284C7"/>
                </a:solidFill>
                <a:effectLst/>
                <a:uFillTx/>
                <a:latin typeface="Calibri"/>
              </a:rPr>
              <a:t>• Stage 1 (Builder): </a:t>
            </a:r>
            <a:r>
              <a:rPr lang="en-US" sz="1050" b="0" u="none" strike="noStrike">
                <a:solidFill>
                  <a:srgbClr val="1E293B"/>
                </a:solidFill>
                <a:effectLst/>
                <a:uFillTx/>
                <a:latin typeface="Calibri"/>
                <a:ea typeface="Calibri"/>
              </a:rPr>
              <a:t>Cài đặt gcc, python-dev và build các bánh xe (wheels) cho các thư viện C++ nặng.</a:t>
            </a:r>
            <a:endParaRPr lang="en-US" sz="1050" b="0" u="none" strike="noStrike">
              <a:solidFill>
                <a:srgbClr val="000000"/>
              </a:solidFill>
              <a:effectLst/>
              <a:uFillTx/>
              <a:latin typeface="Nimbus Sans"/>
            </a:endParaRPr>
          </a:p>
        </p:txBody>
      </p:sp>
      <p:sp>
        <p:nvSpPr>
          <p:cNvPr id="201" name="Text 11"/>
          <p:cNvSpPr/>
          <p:nvPr/>
        </p:nvSpPr>
        <p:spPr>
          <a:xfrm>
            <a:off x="1005840" y="3291840"/>
            <a:ext cx="4693320" cy="8226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0284C7"/>
                </a:solidFill>
                <a:effectLst/>
                <a:uFillTx/>
                <a:latin typeface="Calibri"/>
              </a:rPr>
              <a:t>• Stage 2 (Runtime sạch): </a:t>
            </a:r>
            <a:r>
              <a:rPr lang="en-US" sz="1050" b="0" u="none" strike="noStrike">
                <a:solidFill>
                  <a:srgbClr val="1E293B"/>
                </a:solidFill>
                <a:effectLst/>
                <a:uFillTx/>
                <a:latin typeface="Calibri"/>
                <a:ea typeface="Calibri"/>
              </a:rPr>
              <a:t>Chỉ sao chép các wheels và binary đã biên dịch; loại bỏ hoàn toàn gcc, g++, build-essential khỏi image sản phẩm cuối.</a:t>
            </a:r>
            <a:endParaRPr lang="en-US" sz="1050" b="0" u="none" strike="noStrike">
              <a:solidFill>
                <a:srgbClr val="000000"/>
              </a:solidFill>
              <a:effectLst/>
              <a:uFillTx/>
              <a:latin typeface="Nimbus Sans"/>
            </a:endParaRPr>
          </a:p>
        </p:txBody>
      </p:sp>
      <p:sp>
        <p:nvSpPr>
          <p:cNvPr id="202" name="Text 12"/>
          <p:cNvSpPr/>
          <p:nvPr/>
        </p:nvSpPr>
        <p:spPr>
          <a:xfrm>
            <a:off x="1005840" y="4206240"/>
            <a:ext cx="4693320" cy="8226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0284C7"/>
                </a:solidFill>
                <a:effectLst/>
                <a:uFillTx/>
                <a:latin typeface="Calibri"/>
              </a:rPr>
              <a:t>• Giảm 65% kích thước image: </a:t>
            </a:r>
            <a:r>
              <a:rPr lang="en-US" sz="1050" b="0" u="none" strike="noStrike">
                <a:solidFill>
                  <a:srgbClr val="1E293B"/>
                </a:solidFill>
                <a:effectLst/>
                <a:uFillTx/>
                <a:latin typeface="Calibri"/>
                <a:ea typeface="Calibri"/>
              </a:rPr>
              <a:t>Dung lượng rút gọn từ ~900MB xuống chỉ còn ~310MB.</a:t>
            </a:r>
            <a:endParaRPr lang="en-US" sz="1050" b="0" u="none" strike="noStrike">
              <a:solidFill>
                <a:srgbClr val="000000"/>
              </a:solidFill>
              <a:effectLst/>
              <a:uFillTx/>
              <a:latin typeface="Nimbus Sans"/>
            </a:endParaRPr>
          </a:p>
        </p:txBody>
      </p:sp>
      <p:sp>
        <p:nvSpPr>
          <p:cNvPr id="203" name="Text 13"/>
          <p:cNvSpPr/>
          <p:nvPr/>
        </p:nvSpPr>
        <p:spPr>
          <a:xfrm>
            <a:off x="1005840" y="5120640"/>
            <a:ext cx="4693320" cy="8226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0284C7"/>
                </a:solidFill>
                <a:effectLst/>
                <a:uFillTx/>
                <a:latin typeface="Calibri"/>
              </a:rPr>
              <a:t>• Chỉ thị USER 10001 (mlopsuser): </a:t>
            </a:r>
            <a:r>
              <a:rPr lang="en-US" sz="1050" b="0" u="none" strike="noStrike">
                <a:solidFill>
                  <a:srgbClr val="1E293B"/>
                </a:solidFill>
                <a:effectLst/>
                <a:uFillTx/>
                <a:latin typeface="Calibri"/>
                <a:ea typeface="Calibri"/>
              </a:rPr>
              <a:t>Ứng dụng không bao giờ thực thi dưới quyền root ngay cả bên trong container.</a:t>
            </a:r>
            <a:endParaRPr lang="en-US" sz="1050" b="0" u="none" strike="noStrike">
              <a:solidFill>
                <a:srgbClr val="000000"/>
              </a:solidFill>
              <a:effectLst/>
              <a:uFillTx/>
              <a:latin typeface="Nimbus Sans"/>
            </a:endParaRPr>
          </a:p>
        </p:txBody>
      </p:sp>
      <p:sp>
        <p:nvSpPr>
          <p:cNvPr id="204" name="Shape 14"/>
          <p:cNvSpPr/>
          <p:nvPr/>
        </p:nvSpPr>
        <p:spPr>
          <a:xfrm>
            <a:off x="6217920" y="1691640"/>
            <a:ext cx="5241960" cy="4388760"/>
          </a:xfrm>
          <a:prstGeom prst="roundRect">
            <a:avLst>
              <a:gd name="adj" fmla="val 1667"/>
            </a:avLst>
          </a:prstGeom>
          <a:solidFill>
            <a:srgbClr val="FFFFFF"/>
          </a:solidFill>
          <a:ln w="19050">
            <a:solidFill>
              <a:srgbClr val="00206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205" name="Text 15"/>
          <p:cNvSpPr/>
          <p:nvPr/>
        </p:nvSpPr>
        <p:spPr>
          <a:xfrm>
            <a:off x="6492240" y="1920240"/>
            <a:ext cx="46933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50" b="1" u="none" strike="noStrike">
                <a:solidFill>
                  <a:srgbClr val="002060"/>
                </a:solidFill>
                <a:effectLst/>
                <a:uFillTx/>
                <a:latin typeface="Calibri"/>
                <a:ea typeface="Calibri"/>
              </a:rPr>
              <a:t>ĐỘNG CƠ NHẬN DẠNG CHỮ &amp; HIỆU NĂNG</a:t>
            </a:r>
            <a:endParaRPr lang="en-US" sz="1350" b="0" u="none" strike="noStrike">
              <a:solidFill>
                <a:srgbClr val="000000"/>
              </a:solidFill>
              <a:effectLst/>
              <a:uFillTx/>
              <a:latin typeface="Nimbus Sans"/>
            </a:endParaRPr>
          </a:p>
        </p:txBody>
      </p:sp>
      <p:sp>
        <p:nvSpPr>
          <p:cNvPr id="206" name="Text 16"/>
          <p:cNvSpPr/>
          <p:nvPr/>
        </p:nvSpPr>
        <p:spPr>
          <a:xfrm>
            <a:off x="6492240" y="2377440"/>
            <a:ext cx="4693320" cy="8226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002060"/>
                </a:solidFill>
                <a:effectLst/>
                <a:uFillTx/>
                <a:latin typeface="Calibri"/>
              </a:rPr>
              <a:t>• Tesseract-OCR LSTM Engine: </a:t>
            </a:r>
            <a:r>
              <a:rPr lang="en-US" sz="1050" b="0" u="none" strike="noStrike">
                <a:solidFill>
                  <a:srgbClr val="1E293B"/>
                </a:solidFill>
                <a:effectLst/>
                <a:uFillTx/>
                <a:latin typeface="Calibri"/>
                <a:ea typeface="Calibri"/>
              </a:rPr>
              <a:t>Sử dụng mạng nơ-ron hồi quy LSTM tối ưu CPU, tiêu thụ chỉ ~60MB RAM (thay vì các framework nặng ngốn 1.5GB RAM).</a:t>
            </a:r>
            <a:endParaRPr lang="en-US" sz="1050" b="0" u="none" strike="noStrike">
              <a:solidFill>
                <a:srgbClr val="000000"/>
              </a:solidFill>
              <a:effectLst/>
              <a:uFillTx/>
              <a:latin typeface="Nimbus Sans"/>
            </a:endParaRPr>
          </a:p>
        </p:txBody>
      </p:sp>
      <p:sp>
        <p:nvSpPr>
          <p:cNvPr id="207" name="Text 17"/>
          <p:cNvSpPr/>
          <p:nvPr/>
        </p:nvSpPr>
        <p:spPr>
          <a:xfrm>
            <a:off x="6492240" y="3291840"/>
            <a:ext cx="4693320" cy="8226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002060"/>
                </a:solidFill>
                <a:effectLst/>
                <a:uFillTx/>
                <a:latin typeface="Calibri"/>
              </a:rPr>
              <a:t>• Tốc độ suy luận thần tốc: </a:t>
            </a:r>
            <a:r>
              <a:rPr lang="en-US" sz="1050" b="0" u="none" strike="noStrike">
                <a:solidFill>
                  <a:srgbClr val="1E293B"/>
                </a:solidFill>
                <a:effectLst/>
                <a:uFillTx/>
                <a:latin typeface="Calibri"/>
                <a:ea typeface="Calibri"/>
              </a:rPr>
              <a:t>Thời gian bóc tách chữ chỉ mất 200 - 300 ms/ảnh trên môi trường CPU tiêu chuẩn.</a:t>
            </a:r>
            <a:endParaRPr lang="en-US" sz="1050" b="0" u="none" strike="noStrike">
              <a:solidFill>
                <a:srgbClr val="000000"/>
              </a:solidFill>
              <a:effectLst/>
              <a:uFillTx/>
              <a:latin typeface="Nimbus Sans"/>
            </a:endParaRPr>
          </a:p>
        </p:txBody>
      </p:sp>
      <p:sp>
        <p:nvSpPr>
          <p:cNvPr id="208" name="Text 18"/>
          <p:cNvSpPr/>
          <p:nvPr/>
        </p:nvSpPr>
        <p:spPr>
          <a:xfrm>
            <a:off x="6492240" y="4206240"/>
            <a:ext cx="4693320" cy="8226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002060"/>
                </a:solidFill>
                <a:effectLst/>
                <a:uFillTx/>
                <a:latin typeface="Calibri"/>
              </a:rPr>
              <a:t>• Độ chính xác cao: </a:t>
            </a:r>
            <a:r>
              <a:rPr lang="en-US" sz="1050" b="0" u="none" strike="noStrike">
                <a:solidFill>
                  <a:srgbClr val="1E293B"/>
                </a:solidFill>
                <a:effectLst/>
                <a:uFillTx/>
                <a:latin typeface="Calibri"/>
                <a:ea typeface="Calibri"/>
              </a:rPr>
              <a:t>Hỗ trợ nhận dạng song ngữ tiếng Việt (vie) và tiếng Anh (eng) mượt mà.</a:t>
            </a:r>
            <a:endParaRPr lang="en-US" sz="1050" b="0" u="none" strike="noStrike">
              <a:solidFill>
                <a:srgbClr val="000000"/>
              </a:solidFill>
              <a:effectLst/>
              <a:uFillTx/>
              <a:latin typeface="Nimbus Sans"/>
            </a:endParaRPr>
          </a:p>
        </p:txBody>
      </p:sp>
      <p:sp>
        <p:nvSpPr>
          <p:cNvPr id="209" name="Text 19"/>
          <p:cNvSpPr/>
          <p:nvPr/>
        </p:nvSpPr>
        <p:spPr>
          <a:xfrm>
            <a:off x="6492240" y="5120640"/>
            <a:ext cx="4693320" cy="8226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002060"/>
                </a:solidFill>
                <a:effectLst/>
                <a:uFillTx/>
                <a:latin typeface="Calibri"/>
              </a:rPr>
              <a:t>• Tích hợp MLOps tự động: </a:t>
            </a:r>
            <a:r>
              <a:rPr lang="en-US" sz="1050" b="0" u="none" strike="noStrike">
                <a:solidFill>
                  <a:srgbClr val="1E293B"/>
                </a:solidFill>
                <a:effectLst/>
                <a:uFillTx/>
                <a:latin typeface="Calibri"/>
                <a:ea typeface="Calibri"/>
              </a:rPr>
              <a:t>Tự động ghi nhận log thực nghiệm vào MLflow và xuất metrics phân vị độ trễ ra Prometheus.</a:t>
            </a:r>
            <a:endParaRPr lang="en-US" sz="1050" b="0" u="none" strike="noStrike">
              <a:solidFill>
                <a:srgbClr val="000000"/>
              </a:solidFill>
              <a:effectLst/>
              <a:uFillTx/>
              <a:latin typeface="Nimbus Sans"/>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210" name="Shape 0"/>
          <p:cNvSpPr/>
          <p:nvPr/>
        </p:nvSpPr>
        <p:spPr>
          <a:xfrm>
            <a:off x="731520" y="384120"/>
            <a:ext cx="2285640" cy="292320"/>
          </a:xfrm>
          <a:prstGeom prst="roundRect">
            <a:avLst>
              <a:gd name="adj" fmla="val 25000"/>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211" name="Text 1"/>
          <p:cNvSpPr/>
          <p:nvPr/>
        </p:nvSpPr>
        <p:spPr>
          <a:xfrm>
            <a:off x="731520" y="384120"/>
            <a:ext cx="2285640" cy="292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Calibri"/>
                <a:ea typeface="Calibri"/>
              </a:rPr>
              <a:t>GIÁM SÁT HỆ THỐNG</a:t>
            </a:r>
            <a:endParaRPr lang="en-US" sz="1000" b="0" u="none" strike="noStrike">
              <a:solidFill>
                <a:srgbClr val="000000"/>
              </a:solidFill>
              <a:effectLst/>
              <a:uFillTx/>
              <a:latin typeface="Nimbus Sans"/>
            </a:endParaRPr>
          </a:p>
        </p:txBody>
      </p:sp>
      <p:sp>
        <p:nvSpPr>
          <p:cNvPr id="212" name="Text 2"/>
          <p:cNvSpPr/>
          <p:nvPr/>
        </p:nvSpPr>
        <p:spPr>
          <a:xfrm>
            <a:off x="731520" y="731520"/>
            <a:ext cx="107283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100" b="1" u="none" strike="noStrike">
                <a:solidFill>
                  <a:srgbClr val="0F172A"/>
                </a:solidFill>
                <a:effectLst/>
                <a:uFillTx/>
                <a:latin typeface="Calibri"/>
                <a:ea typeface="Calibri"/>
              </a:rPr>
              <a:t>8. HỆ THỐNG QUAN SÁT &amp; TERMINAL CLI</a:t>
            </a:r>
            <a:endParaRPr lang="en-US" sz="2100" b="0" u="none" strike="noStrike">
              <a:solidFill>
                <a:srgbClr val="000000"/>
              </a:solidFill>
              <a:effectLst/>
              <a:uFillTx/>
              <a:latin typeface="Nimbus Sans"/>
            </a:endParaRPr>
          </a:p>
        </p:txBody>
      </p:sp>
      <p:sp>
        <p:nvSpPr>
          <p:cNvPr id="213" name="Text 3"/>
          <p:cNvSpPr/>
          <p:nvPr/>
        </p:nvSpPr>
        <p:spPr>
          <a:xfrm>
            <a:off x="731520" y="1170360"/>
            <a:ext cx="107283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Giám sát thời gian thực với Prometheus/Grafana và công cụ dòng lệnh interactive</a:t>
            </a:r>
            <a:endParaRPr lang="en-US" sz="1250" b="0" u="none" strike="noStrike">
              <a:solidFill>
                <a:srgbClr val="000000"/>
              </a:solidFill>
              <a:effectLst/>
              <a:uFillTx/>
              <a:latin typeface="Nimbus Sans"/>
            </a:endParaRPr>
          </a:p>
        </p:txBody>
      </p:sp>
      <p:sp>
        <p:nvSpPr>
          <p:cNvPr id="214" name="Shape 4"/>
          <p:cNvSpPr/>
          <p:nvPr/>
        </p:nvSpPr>
        <p:spPr>
          <a:xfrm>
            <a:off x="731520" y="1481040"/>
            <a:ext cx="10728360" cy="360"/>
          </a:xfrm>
          <a:prstGeom prst="line">
            <a:avLst/>
          </a:prstGeom>
          <a:ln w="12700">
            <a:solidFill>
              <a:srgbClr val="CBD5E1"/>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215" name="Shape 5"/>
          <p:cNvSpPr/>
          <p:nvPr/>
        </p:nvSpPr>
        <p:spPr>
          <a:xfrm>
            <a:off x="731520" y="6291000"/>
            <a:ext cx="10728360" cy="360"/>
          </a:xfrm>
          <a:prstGeom prst="line">
            <a:avLst/>
          </a:prstGeom>
          <a:ln w="12700">
            <a:solidFill>
              <a:srgbClr val="E2E8F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216" name="Text 6"/>
          <p:cNvSpPr/>
          <p:nvPr/>
        </p:nvSpPr>
        <p:spPr>
          <a:xfrm>
            <a:off x="731520" y="6355080"/>
            <a:ext cx="82292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0" u="none" strike="noStrike">
                <a:solidFill>
                  <a:srgbClr val="94A3B8"/>
                </a:solidFill>
                <a:effectLst/>
                <a:uFillTx/>
                <a:latin typeface="Calibri"/>
                <a:ea typeface="Calibri"/>
              </a:rPr>
              <a:t>VKU — Đồ án Linux &amp; Open Source: MLOps Pipeline | Nhóm: Nguyễn Công Đức, Nguyễn Tùng Dương, Nguyễn Văn C</a:t>
            </a:r>
            <a:endParaRPr lang="en-US" sz="950" b="0" u="none" strike="noStrike">
              <a:solidFill>
                <a:srgbClr val="000000"/>
              </a:solidFill>
              <a:effectLst/>
              <a:uFillTx/>
              <a:latin typeface="Nimbus Sans"/>
            </a:endParaRPr>
          </a:p>
        </p:txBody>
      </p:sp>
      <p:sp>
        <p:nvSpPr>
          <p:cNvPr id="217" name="Text 7"/>
          <p:cNvSpPr/>
          <p:nvPr/>
        </p:nvSpPr>
        <p:spPr>
          <a:xfrm>
            <a:off x="9601200" y="6355080"/>
            <a:ext cx="1858680" cy="255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1000" b="1" u="none" strike="noStrike">
                <a:solidFill>
                  <a:srgbClr val="0284C7"/>
                </a:solidFill>
                <a:effectLst/>
                <a:uFillTx/>
                <a:latin typeface="Calibri"/>
                <a:ea typeface="Calibri"/>
              </a:rPr>
              <a:t>Slide 09 / 12</a:t>
            </a:r>
            <a:endParaRPr lang="en-US" sz="1000" b="0" u="none" strike="noStrike">
              <a:solidFill>
                <a:srgbClr val="000000"/>
              </a:solidFill>
              <a:effectLst/>
              <a:uFillTx/>
              <a:latin typeface="Nimbus Sans"/>
            </a:endParaRPr>
          </a:p>
        </p:txBody>
      </p:sp>
      <p:sp>
        <p:nvSpPr>
          <p:cNvPr id="218" name="Shape 8"/>
          <p:cNvSpPr/>
          <p:nvPr/>
        </p:nvSpPr>
        <p:spPr>
          <a:xfrm>
            <a:off x="731520" y="1691640"/>
            <a:ext cx="5241960" cy="2057040"/>
          </a:xfrm>
          <a:prstGeom prst="roundRect">
            <a:avLst>
              <a:gd name="adj" fmla="val 3556"/>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219" name="Text 9"/>
          <p:cNvSpPr/>
          <p:nvPr/>
        </p:nvSpPr>
        <p:spPr>
          <a:xfrm>
            <a:off x="1005840" y="1920240"/>
            <a:ext cx="46933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0F172A"/>
                </a:solidFill>
                <a:effectLst/>
                <a:uFillTx/>
                <a:latin typeface="Calibri"/>
                <a:ea typeface="Calibri"/>
              </a:rPr>
              <a:t>PROMETHEUS SERVER (PORT 9090)</a:t>
            </a:r>
            <a:endParaRPr lang="en-US" sz="1300" b="0" u="none" strike="noStrike">
              <a:solidFill>
                <a:srgbClr val="000000"/>
              </a:solidFill>
              <a:effectLst/>
              <a:uFillTx/>
              <a:latin typeface="Nimbus Sans"/>
            </a:endParaRPr>
          </a:p>
        </p:txBody>
      </p:sp>
      <p:sp>
        <p:nvSpPr>
          <p:cNvPr id="220" name="Text 10"/>
          <p:cNvSpPr/>
          <p:nvPr/>
        </p:nvSpPr>
        <p:spPr>
          <a:xfrm>
            <a:off x="1005840" y="2240280"/>
            <a:ext cx="4693320" cy="228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1" u="none" strike="noStrike">
                <a:solidFill>
                  <a:srgbClr val="0284C7"/>
                </a:solidFill>
                <a:effectLst/>
                <a:uFillTx/>
                <a:latin typeface="Calibri"/>
                <a:ea typeface="Calibri"/>
              </a:rPr>
              <a:t>Metric Scraping</a:t>
            </a:r>
            <a:endParaRPr lang="en-US" sz="1050" b="0" u="none" strike="noStrike">
              <a:solidFill>
                <a:srgbClr val="000000"/>
              </a:solidFill>
              <a:effectLst/>
              <a:uFillTx/>
              <a:latin typeface="Nimbus Sans"/>
            </a:endParaRPr>
          </a:p>
        </p:txBody>
      </p:sp>
      <p:sp>
        <p:nvSpPr>
          <p:cNvPr id="221" name="Text 11"/>
          <p:cNvSpPr/>
          <p:nvPr/>
        </p:nvSpPr>
        <p:spPr>
          <a:xfrm>
            <a:off x="1005840" y="2514600"/>
            <a:ext cx="4693320" cy="10969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080" b="0" u="none" strike="noStrike">
                <a:solidFill>
                  <a:srgbClr val="1E293B"/>
                </a:solidFill>
                <a:effectLst/>
                <a:uFillTx/>
                <a:latin typeface="Calibri"/>
                <a:ea typeface="Calibri"/>
              </a:rPr>
              <a:t>Tự động cào chỉ số chuỗi thời gian định kỳ mỗi 5s từ endpoint /metrics của FastAPI OCR và máy chủ host. Lưu vết dữ liệu time-series phục vụ phân tích xu hướng.</a:t>
            </a:r>
            <a:endParaRPr lang="en-US" sz="1080" b="0" u="none" strike="noStrike">
              <a:solidFill>
                <a:srgbClr val="000000"/>
              </a:solidFill>
              <a:effectLst/>
              <a:uFillTx/>
              <a:latin typeface="Nimbus Sans"/>
            </a:endParaRPr>
          </a:p>
        </p:txBody>
      </p:sp>
      <p:sp>
        <p:nvSpPr>
          <p:cNvPr id="222" name="Shape 12"/>
          <p:cNvSpPr/>
          <p:nvPr/>
        </p:nvSpPr>
        <p:spPr>
          <a:xfrm>
            <a:off x="6217920" y="1691640"/>
            <a:ext cx="5241960" cy="2057040"/>
          </a:xfrm>
          <a:prstGeom prst="roundRect">
            <a:avLst>
              <a:gd name="adj" fmla="val 3556"/>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223" name="Text 13"/>
          <p:cNvSpPr/>
          <p:nvPr/>
        </p:nvSpPr>
        <p:spPr>
          <a:xfrm>
            <a:off x="6492240" y="1920240"/>
            <a:ext cx="46933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0F172A"/>
                </a:solidFill>
                <a:effectLst/>
                <a:uFillTx/>
                <a:latin typeface="Calibri"/>
                <a:ea typeface="Calibri"/>
              </a:rPr>
              <a:t>GRAFANA DASHBOARD (PORT 3000)</a:t>
            </a:r>
            <a:endParaRPr lang="en-US" sz="1300" b="0" u="none" strike="noStrike">
              <a:solidFill>
                <a:srgbClr val="000000"/>
              </a:solidFill>
              <a:effectLst/>
              <a:uFillTx/>
              <a:latin typeface="Nimbus Sans"/>
            </a:endParaRPr>
          </a:p>
        </p:txBody>
      </p:sp>
      <p:sp>
        <p:nvSpPr>
          <p:cNvPr id="224" name="Text 14"/>
          <p:cNvSpPr/>
          <p:nvPr/>
        </p:nvSpPr>
        <p:spPr>
          <a:xfrm>
            <a:off x="6492240" y="2240280"/>
            <a:ext cx="4693320" cy="228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1" u="none" strike="noStrike">
                <a:solidFill>
                  <a:srgbClr val="0284C7"/>
                </a:solidFill>
                <a:effectLst/>
                <a:uFillTx/>
                <a:latin typeface="Calibri"/>
                <a:ea typeface="Calibri"/>
              </a:rPr>
              <a:t>Data Visualization</a:t>
            </a:r>
            <a:endParaRPr lang="en-US" sz="1050" b="0" u="none" strike="noStrike">
              <a:solidFill>
                <a:srgbClr val="000000"/>
              </a:solidFill>
              <a:effectLst/>
              <a:uFillTx/>
              <a:latin typeface="Nimbus Sans"/>
            </a:endParaRPr>
          </a:p>
        </p:txBody>
      </p:sp>
      <p:sp>
        <p:nvSpPr>
          <p:cNvPr id="225" name="Text 15"/>
          <p:cNvSpPr/>
          <p:nvPr/>
        </p:nvSpPr>
        <p:spPr>
          <a:xfrm>
            <a:off x="6492240" y="2514600"/>
            <a:ext cx="4693320" cy="10969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080" b="0" u="none" strike="noStrike">
                <a:solidFill>
                  <a:srgbClr val="1E293B"/>
                </a:solidFill>
                <a:effectLst/>
                <a:uFillTx/>
                <a:latin typeface="Calibri"/>
                <a:ea typeface="Calibri"/>
              </a:rPr>
              <a:t>Trực quan hóa tức thời thông lượng yêu cầu (RPS), độ trễ phân vị p50/p95/p99 và % sử dụng CPU/RAM của từng container. Giúp phát hiện tức thì điểm nghẽn hiệu năng.</a:t>
            </a:r>
            <a:endParaRPr lang="en-US" sz="1080" b="0" u="none" strike="noStrike">
              <a:solidFill>
                <a:srgbClr val="000000"/>
              </a:solidFill>
              <a:effectLst/>
              <a:uFillTx/>
              <a:latin typeface="Nimbus Sans"/>
            </a:endParaRPr>
          </a:p>
        </p:txBody>
      </p:sp>
      <p:sp>
        <p:nvSpPr>
          <p:cNvPr id="226" name="Shape 16"/>
          <p:cNvSpPr/>
          <p:nvPr/>
        </p:nvSpPr>
        <p:spPr>
          <a:xfrm>
            <a:off x="731520" y="3931920"/>
            <a:ext cx="5241960" cy="2057040"/>
          </a:xfrm>
          <a:prstGeom prst="roundRect">
            <a:avLst>
              <a:gd name="adj" fmla="val 3556"/>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227" name="Text 17"/>
          <p:cNvSpPr/>
          <p:nvPr/>
        </p:nvSpPr>
        <p:spPr>
          <a:xfrm>
            <a:off x="1005840" y="4160520"/>
            <a:ext cx="46933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0F172A"/>
                </a:solidFill>
                <a:effectLst/>
                <a:uFillTx/>
                <a:latin typeface="Calibri"/>
                <a:ea typeface="Calibri"/>
              </a:rPr>
              <a:t>MLFLOW TRACKING UI (PORT 5000)</a:t>
            </a:r>
            <a:endParaRPr lang="en-US" sz="1300" b="0" u="none" strike="noStrike">
              <a:solidFill>
                <a:srgbClr val="000000"/>
              </a:solidFill>
              <a:effectLst/>
              <a:uFillTx/>
              <a:latin typeface="Nimbus Sans"/>
            </a:endParaRPr>
          </a:p>
        </p:txBody>
      </p:sp>
      <p:sp>
        <p:nvSpPr>
          <p:cNvPr id="228" name="Text 18"/>
          <p:cNvSpPr/>
          <p:nvPr/>
        </p:nvSpPr>
        <p:spPr>
          <a:xfrm>
            <a:off x="1005840" y="4480560"/>
            <a:ext cx="4693320" cy="228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1" u="none" strike="noStrike">
                <a:solidFill>
                  <a:srgbClr val="0284C7"/>
                </a:solidFill>
                <a:effectLst/>
                <a:uFillTx/>
                <a:latin typeface="Calibri"/>
                <a:ea typeface="Calibri"/>
              </a:rPr>
              <a:t>Model Lifecycle</a:t>
            </a:r>
            <a:endParaRPr lang="en-US" sz="1050" b="0" u="none" strike="noStrike">
              <a:solidFill>
                <a:srgbClr val="000000"/>
              </a:solidFill>
              <a:effectLst/>
              <a:uFillTx/>
              <a:latin typeface="Nimbus Sans"/>
            </a:endParaRPr>
          </a:p>
        </p:txBody>
      </p:sp>
      <p:sp>
        <p:nvSpPr>
          <p:cNvPr id="229" name="Text 19"/>
          <p:cNvSpPr/>
          <p:nvPr/>
        </p:nvSpPr>
        <p:spPr>
          <a:xfrm>
            <a:off x="1005840" y="4754880"/>
            <a:ext cx="4693320" cy="10969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080" b="0" u="none" strike="noStrike">
                <a:solidFill>
                  <a:srgbClr val="1E293B"/>
                </a:solidFill>
                <a:effectLst/>
                <a:uFillTx/>
                <a:latin typeface="Calibri"/>
                <a:ea typeface="Calibri"/>
              </a:rPr>
              <a:t>Quản lý vòng đời mô hình học máy, lưu vết siêu tham số, metadata ảnh và các artifact nhận dạng. Kết nối cơ sở dữ liệu PostgreSQL lưu trữ bền vững lâu dài.</a:t>
            </a:r>
            <a:endParaRPr lang="en-US" sz="1080" b="0" u="none" strike="noStrike">
              <a:solidFill>
                <a:srgbClr val="000000"/>
              </a:solidFill>
              <a:effectLst/>
              <a:uFillTx/>
              <a:latin typeface="Nimbus Sans"/>
            </a:endParaRPr>
          </a:p>
        </p:txBody>
      </p:sp>
      <p:sp>
        <p:nvSpPr>
          <p:cNvPr id="230" name="Shape 20"/>
          <p:cNvSpPr/>
          <p:nvPr/>
        </p:nvSpPr>
        <p:spPr>
          <a:xfrm>
            <a:off x="6217920" y="3931920"/>
            <a:ext cx="5241960" cy="2057040"/>
          </a:xfrm>
          <a:prstGeom prst="roundRect">
            <a:avLst>
              <a:gd name="adj" fmla="val 3556"/>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231" name="Text 21"/>
          <p:cNvSpPr/>
          <p:nvPr/>
        </p:nvSpPr>
        <p:spPr>
          <a:xfrm>
            <a:off x="6492240" y="4160520"/>
            <a:ext cx="46933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0F172A"/>
                </a:solidFill>
                <a:effectLst/>
                <a:uFillTx/>
                <a:latin typeface="Calibri"/>
                <a:ea typeface="Calibri"/>
              </a:rPr>
              <a:t>TERMINAL INTERACTIVE CLI (AI_CLI.SH)</a:t>
            </a:r>
            <a:endParaRPr lang="en-US" sz="1300" b="0" u="none" strike="noStrike">
              <a:solidFill>
                <a:srgbClr val="000000"/>
              </a:solidFill>
              <a:effectLst/>
              <a:uFillTx/>
              <a:latin typeface="Nimbus Sans"/>
            </a:endParaRPr>
          </a:p>
        </p:txBody>
      </p:sp>
      <p:sp>
        <p:nvSpPr>
          <p:cNvPr id="232" name="Text 22"/>
          <p:cNvSpPr/>
          <p:nvPr/>
        </p:nvSpPr>
        <p:spPr>
          <a:xfrm>
            <a:off x="6492240" y="4480560"/>
            <a:ext cx="4693320" cy="228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50" b="1" u="none" strike="noStrike">
                <a:solidFill>
                  <a:srgbClr val="0284C7"/>
                </a:solidFill>
                <a:effectLst/>
                <a:uFillTx/>
                <a:latin typeface="Calibri"/>
                <a:ea typeface="Calibri"/>
              </a:rPr>
              <a:t>DevOps Tooling</a:t>
            </a:r>
            <a:endParaRPr lang="en-US" sz="1050" b="0" u="none" strike="noStrike">
              <a:solidFill>
                <a:srgbClr val="000000"/>
              </a:solidFill>
              <a:effectLst/>
              <a:uFillTx/>
              <a:latin typeface="Nimbus Sans"/>
            </a:endParaRPr>
          </a:p>
        </p:txBody>
      </p:sp>
      <p:sp>
        <p:nvSpPr>
          <p:cNvPr id="233" name="Text 23"/>
          <p:cNvSpPr/>
          <p:nvPr/>
        </p:nvSpPr>
        <p:spPr>
          <a:xfrm>
            <a:off x="6492240" y="4754880"/>
            <a:ext cx="4693320" cy="10969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080" b="0" u="none" strike="noStrike">
                <a:solidFill>
                  <a:srgbClr val="1E293B"/>
                </a:solidFill>
                <a:effectLst/>
                <a:uFillTx/>
                <a:latin typeface="Calibri"/>
                <a:ea typeface="Calibri"/>
              </a:rPr>
              <a:t>Giao diện menu dòng lệnh ANSI Color hiện đại cho quản trị viên Linux. Cho phép chọn ảnh mẫu, gửi request suy luận đến FastAPI và hiển thị kết quả OCR trực tiếp trên terminal.</a:t>
            </a:r>
            <a:endParaRPr lang="en-US" sz="1080" b="0" u="none" strike="noStrike">
              <a:solidFill>
                <a:srgbClr val="000000"/>
              </a:solidFill>
              <a:effectLst/>
              <a:uFillTx/>
              <a:latin typeface="Nimbus Sans"/>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234" name="Shape 0"/>
          <p:cNvSpPr/>
          <p:nvPr/>
        </p:nvSpPr>
        <p:spPr>
          <a:xfrm>
            <a:off x="731520" y="384120"/>
            <a:ext cx="2285640" cy="292320"/>
          </a:xfrm>
          <a:prstGeom prst="roundRect">
            <a:avLst>
              <a:gd name="adj" fmla="val 25000"/>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235" name="Text 1"/>
          <p:cNvSpPr/>
          <p:nvPr/>
        </p:nvSpPr>
        <p:spPr>
          <a:xfrm>
            <a:off x="731520" y="384120"/>
            <a:ext cx="2285640" cy="292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Calibri"/>
                <a:ea typeface="Calibri"/>
              </a:rPr>
              <a:t>ĐỐI SÁNH ĐỊNH LƯỢNG</a:t>
            </a:r>
            <a:endParaRPr lang="en-US" sz="1000" b="0" u="none" strike="noStrike">
              <a:solidFill>
                <a:srgbClr val="000000"/>
              </a:solidFill>
              <a:effectLst/>
              <a:uFillTx/>
              <a:latin typeface="Nimbus Sans"/>
            </a:endParaRPr>
          </a:p>
        </p:txBody>
      </p:sp>
      <p:sp>
        <p:nvSpPr>
          <p:cNvPr id="236" name="Text 2"/>
          <p:cNvSpPr/>
          <p:nvPr/>
        </p:nvSpPr>
        <p:spPr>
          <a:xfrm>
            <a:off x="731520" y="731520"/>
            <a:ext cx="107283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100" b="1" u="none" strike="noStrike">
                <a:solidFill>
                  <a:srgbClr val="0F172A"/>
                </a:solidFill>
                <a:effectLst/>
                <a:uFillTx/>
                <a:latin typeface="Calibri"/>
                <a:ea typeface="Calibri"/>
              </a:rPr>
              <a:t>9. KẾT QUẢ ĐỐI SÁNH THỰC NGHIỆM ĐỊNH LƯỢNG</a:t>
            </a:r>
            <a:endParaRPr lang="en-US" sz="2100" b="0" u="none" strike="noStrike">
              <a:solidFill>
                <a:srgbClr val="000000"/>
              </a:solidFill>
              <a:effectLst/>
              <a:uFillTx/>
              <a:latin typeface="Nimbus Sans"/>
            </a:endParaRPr>
          </a:p>
        </p:txBody>
      </p:sp>
      <p:sp>
        <p:nvSpPr>
          <p:cNvPr id="237" name="Text 3"/>
          <p:cNvSpPr/>
          <p:nvPr/>
        </p:nvSpPr>
        <p:spPr>
          <a:xfrm>
            <a:off x="731520" y="1170360"/>
            <a:ext cx="107283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Bảng số liệu đo lường trực tiếp giữa Arch Linux (Rootless) và Ubuntu Server (Rootful)</a:t>
            </a:r>
            <a:endParaRPr lang="en-US" sz="1250" b="0" u="none" strike="noStrike">
              <a:solidFill>
                <a:srgbClr val="000000"/>
              </a:solidFill>
              <a:effectLst/>
              <a:uFillTx/>
              <a:latin typeface="Nimbus Sans"/>
            </a:endParaRPr>
          </a:p>
        </p:txBody>
      </p:sp>
      <p:sp>
        <p:nvSpPr>
          <p:cNvPr id="238" name="Shape 4"/>
          <p:cNvSpPr/>
          <p:nvPr/>
        </p:nvSpPr>
        <p:spPr>
          <a:xfrm>
            <a:off x="731520" y="1481040"/>
            <a:ext cx="10728360" cy="360"/>
          </a:xfrm>
          <a:prstGeom prst="line">
            <a:avLst/>
          </a:prstGeom>
          <a:ln w="12700">
            <a:solidFill>
              <a:srgbClr val="CBD5E1"/>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239" name="Shape 5"/>
          <p:cNvSpPr/>
          <p:nvPr/>
        </p:nvSpPr>
        <p:spPr>
          <a:xfrm>
            <a:off x="731520" y="6291000"/>
            <a:ext cx="10728360" cy="360"/>
          </a:xfrm>
          <a:prstGeom prst="line">
            <a:avLst/>
          </a:prstGeom>
          <a:ln w="12700">
            <a:solidFill>
              <a:srgbClr val="E2E8F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240" name="Text 6"/>
          <p:cNvSpPr/>
          <p:nvPr/>
        </p:nvSpPr>
        <p:spPr>
          <a:xfrm>
            <a:off x="731520" y="6355080"/>
            <a:ext cx="82292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0" u="none" strike="noStrike">
                <a:solidFill>
                  <a:srgbClr val="94A3B8"/>
                </a:solidFill>
                <a:effectLst/>
                <a:uFillTx/>
                <a:latin typeface="Calibri"/>
                <a:ea typeface="Calibri"/>
              </a:rPr>
              <a:t>VKU — Đồ án Linux &amp; Open Source: MLOps Pipeline | Nhóm: Nguyễn Công Đức, Nguyễn Tùng Dương, Nguyễn Văn C</a:t>
            </a:r>
            <a:endParaRPr lang="en-US" sz="950" b="0" u="none" strike="noStrike">
              <a:solidFill>
                <a:srgbClr val="000000"/>
              </a:solidFill>
              <a:effectLst/>
              <a:uFillTx/>
              <a:latin typeface="Nimbus Sans"/>
            </a:endParaRPr>
          </a:p>
        </p:txBody>
      </p:sp>
      <p:sp>
        <p:nvSpPr>
          <p:cNvPr id="241" name="Text 7"/>
          <p:cNvSpPr/>
          <p:nvPr/>
        </p:nvSpPr>
        <p:spPr>
          <a:xfrm>
            <a:off x="9601200" y="6355080"/>
            <a:ext cx="1858680" cy="255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1000" b="1" u="none" strike="noStrike">
                <a:solidFill>
                  <a:srgbClr val="0284C7"/>
                </a:solidFill>
                <a:effectLst/>
                <a:uFillTx/>
                <a:latin typeface="Calibri"/>
                <a:ea typeface="Calibri"/>
              </a:rPr>
              <a:t>Slide 10 / 12</a:t>
            </a:r>
            <a:endParaRPr lang="en-US" sz="1000" b="0" u="none" strike="noStrike">
              <a:solidFill>
                <a:srgbClr val="000000"/>
              </a:solidFill>
              <a:effectLst/>
              <a:uFillTx/>
              <a:latin typeface="Nimbus Sans"/>
            </a:endParaRPr>
          </a:p>
        </p:txBody>
      </p:sp>
      <p:sp>
        <p:nvSpPr>
          <p:cNvPr id="242" name="Shape 8"/>
          <p:cNvSpPr/>
          <p:nvPr/>
        </p:nvSpPr>
        <p:spPr>
          <a:xfrm>
            <a:off x="731520" y="1691640"/>
            <a:ext cx="2498760" cy="1142640"/>
          </a:xfrm>
          <a:prstGeom prst="roundRect">
            <a:avLst>
              <a:gd name="adj" fmla="val 6400"/>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243" name="Text 9"/>
          <p:cNvSpPr/>
          <p:nvPr/>
        </p:nvSpPr>
        <p:spPr>
          <a:xfrm>
            <a:off x="822960" y="1783080"/>
            <a:ext cx="2315880" cy="4111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200" b="1" u="none" strike="noStrike">
                <a:solidFill>
                  <a:srgbClr val="0284C7"/>
                </a:solidFill>
                <a:effectLst/>
                <a:uFillTx/>
                <a:latin typeface="Calibri"/>
                <a:ea typeface="Calibri"/>
              </a:rPr>
              <a:t>40.9% ↓</a:t>
            </a:r>
            <a:endParaRPr lang="en-US" sz="2200" b="0" u="none" strike="noStrike">
              <a:solidFill>
                <a:srgbClr val="000000"/>
              </a:solidFill>
              <a:effectLst/>
              <a:uFillTx/>
              <a:latin typeface="Nimbus Sans"/>
            </a:endParaRPr>
          </a:p>
        </p:txBody>
      </p:sp>
      <p:sp>
        <p:nvSpPr>
          <p:cNvPr id="244" name="Text 10"/>
          <p:cNvSpPr/>
          <p:nvPr/>
        </p:nvSpPr>
        <p:spPr>
          <a:xfrm>
            <a:off x="822960" y="2194560"/>
            <a:ext cx="2315880" cy="273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0F172A"/>
                </a:solidFill>
                <a:effectLst/>
                <a:uFillTx/>
                <a:latin typeface="Calibri"/>
                <a:ea typeface="Calibri"/>
              </a:rPr>
              <a:t>Tiết kiệm RAM tĩnh</a:t>
            </a:r>
            <a:endParaRPr lang="en-US" sz="1100" b="0" u="none" strike="noStrike">
              <a:solidFill>
                <a:srgbClr val="000000"/>
              </a:solidFill>
              <a:effectLst/>
              <a:uFillTx/>
              <a:latin typeface="Nimbus Sans"/>
            </a:endParaRPr>
          </a:p>
        </p:txBody>
      </p:sp>
      <p:sp>
        <p:nvSpPr>
          <p:cNvPr id="245" name="Text 11"/>
          <p:cNvSpPr/>
          <p:nvPr/>
        </p:nvSpPr>
        <p:spPr>
          <a:xfrm>
            <a:off x="822960" y="2468880"/>
            <a:ext cx="2315880" cy="228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0" i="1" u="none" strike="noStrike">
                <a:solidFill>
                  <a:srgbClr val="64748B"/>
                </a:solidFill>
                <a:effectLst/>
                <a:uFillTx/>
                <a:latin typeface="Calibri"/>
                <a:ea typeface="Calibri"/>
              </a:rPr>
              <a:t>Arch 438MB vs Ubuntu 742MB</a:t>
            </a:r>
            <a:endParaRPr lang="en-US" sz="950" b="0" u="none" strike="noStrike">
              <a:solidFill>
                <a:srgbClr val="000000"/>
              </a:solidFill>
              <a:effectLst/>
              <a:uFillTx/>
              <a:latin typeface="Nimbus Sans"/>
            </a:endParaRPr>
          </a:p>
        </p:txBody>
      </p:sp>
      <p:sp>
        <p:nvSpPr>
          <p:cNvPr id="246" name="Shape 12"/>
          <p:cNvSpPr/>
          <p:nvPr/>
        </p:nvSpPr>
        <p:spPr>
          <a:xfrm>
            <a:off x="3474720" y="1691640"/>
            <a:ext cx="2498760" cy="1142640"/>
          </a:xfrm>
          <a:prstGeom prst="roundRect">
            <a:avLst>
              <a:gd name="adj" fmla="val 6400"/>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247" name="Text 13"/>
          <p:cNvSpPr/>
          <p:nvPr/>
        </p:nvSpPr>
        <p:spPr>
          <a:xfrm>
            <a:off x="3566160" y="1783080"/>
            <a:ext cx="2315880" cy="4111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200" b="1" u="none" strike="noStrike">
                <a:solidFill>
                  <a:srgbClr val="0284C7"/>
                </a:solidFill>
                <a:effectLst/>
                <a:uFillTx/>
                <a:latin typeface="Calibri"/>
                <a:ea typeface="Calibri"/>
              </a:rPr>
              <a:t>2.6x ↑</a:t>
            </a:r>
            <a:endParaRPr lang="en-US" sz="2200" b="0" u="none" strike="noStrike">
              <a:solidFill>
                <a:srgbClr val="000000"/>
              </a:solidFill>
              <a:effectLst/>
              <a:uFillTx/>
              <a:latin typeface="Nimbus Sans"/>
            </a:endParaRPr>
          </a:p>
        </p:txBody>
      </p:sp>
      <p:sp>
        <p:nvSpPr>
          <p:cNvPr id="248" name="Text 14"/>
          <p:cNvSpPr/>
          <p:nvPr/>
        </p:nvSpPr>
        <p:spPr>
          <a:xfrm>
            <a:off x="3566160" y="2194560"/>
            <a:ext cx="2315880" cy="273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0F172A"/>
                </a:solidFill>
                <a:effectLst/>
                <a:uFillTx/>
                <a:latin typeface="Calibri"/>
                <a:ea typeface="Calibri"/>
              </a:rPr>
              <a:t>Khởi động OS nhanh hơn</a:t>
            </a:r>
            <a:endParaRPr lang="en-US" sz="1100" b="0" u="none" strike="noStrike">
              <a:solidFill>
                <a:srgbClr val="000000"/>
              </a:solidFill>
              <a:effectLst/>
              <a:uFillTx/>
              <a:latin typeface="Nimbus Sans"/>
            </a:endParaRPr>
          </a:p>
        </p:txBody>
      </p:sp>
      <p:sp>
        <p:nvSpPr>
          <p:cNvPr id="249" name="Text 15"/>
          <p:cNvSpPr/>
          <p:nvPr/>
        </p:nvSpPr>
        <p:spPr>
          <a:xfrm>
            <a:off x="3566160" y="2468880"/>
            <a:ext cx="2315880" cy="228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0" i="1" u="none" strike="noStrike">
                <a:solidFill>
                  <a:srgbClr val="64748B"/>
                </a:solidFill>
                <a:effectLst/>
                <a:uFillTx/>
                <a:latin typeface="Calibri"/>
                <a:ea typeface="Calibri"/>
              </a:rPr>
              <a:t>Arch 4.8s vs Ubuntu 12.6s</a:t>
            </a:r>
            <a:endParaRPr lang="en-US" sz="950" b="0" u="none" strike="noStrike">
              <a:solidFill>
                <a:srgbClr val="000000"/>
              </a:solidFill>
              <a:effectLst/>
              <a:uFillTx/>
              <a:latin typeface="Nimbus Sans"/>
            </a:endParaRPr>
          </a:p>
        </p:txBody>
      </p:sp>
      <p:sp>
        <p:nvSpPr>
          <p:cNvPr id="250" name="Shape 16"/>
          <p:cNvSpPr/>
          <p:nvPr/>
        </p:nvSpPr>
        <p:spPr>
          <a:xfrm>
            <a:off x="6217920" y="1691640"/>
            <a:ext cx="2498760" cy="1142640"/>
          </a:xfrm>
          <a:prstGeom prst="roundRect">
            <a:avLst>
              <a:gd name="adj" fmla="val 6400"/>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251" name="Text 17"/>
          <p:cNvSpPr/>
          <p:nvPr/>
        </p:nvSpPr>
        <p:spPr>
          <a:xfrm>
            <a:off x="6309360" y="1783080"/>
            <a:ext cx="2315880" cy="4111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200" b="1" u="none" strike="noStrike">
                <a:solidFill>
                  <a:srgbClr val="0284C7"/>
                </a:solidFill>
                <a:effectLst/>
                <a:uFillTx/>
                <a:latin typeface="Calibri"/>
                <a:ea typeface="Calibri"/>
              </a:rPr>
              <a:t>342.5</a:t>
            </a:r>
            <a:endParaRPr lang="en-US" sz="2200" b="0" u="none" strike="noStrike">
              <a:solidFill>
                <a:srgbClr val="000000"/>
              </a:solidFill>
              <a:effectLst/>
              <a:uFillTx/>
              <a:latin typeface="Nimbus Sans"/>
            </a:endParaRPr>
          </a:p>
        </p:txBody>
      </p:sp>
      <p:sp>
        <p:nvSpPr>
          <p:cNvPr id="252" name="Text 18"/>
          <p:cNvSpPr/>
          <p:nvPr/>
        </p:nvSpPr>
        <p:spPr>
          <a:xfrm>
            <a:off x="6309360" y="2194560"/>
            <a:ext cx="2315880" cy="273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0F172A"/>
                </a:solidFill>
                <a:effectLst/>
                <a:uFillTx/>
                <a:latin typeface="Calibri"/>
                <a:ea typeface="Calibri"/>
              </a:rPr>
              <a:t>RPS thông lượng AI</a:t>
            </a:r>
            <a:endParaRPr lang="en-US" sz="1100" b="0" u="none" strike="noStrike">
              <a:solidFill>
                <a:srgbClr val="000000"/>
              </a:solidFill>
              <a:effectLst/>
              <a:uFillTx/>
              <a:latin typeface="Nimbus Sans"/>
            </a:endParaRPr>
          </a:p>
        </p:txBody>
      </p:sp>
      <p:sp>
        <p:nvSpPr>
          <p:cNvPr id="253" name="Text 19"/>
          <p:cNvSpPr/>
          <p:nvPr/>
        </p:nvSpPr>
        <p:spPr>
          <a:xfrm>
            <a:off x="6309360" y="2468880"/>
            <a:ext cx="2315880" cy="228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0" i="1" u="none" strike="noStrike">
                <a:solidFill>
                  <a:srgbClr val="64748B"/>
                </a:solidFill>
                <a:effectLst/>
                <a:uFillTx/>
                <a:latin typeface="Calibri"/>
                <a:ea typeface="Calibri"/>
              </a:rPr>
              <a:t>Arch cao hơn 4.3% so với Ubuntu</a:t>
            </a:r>
            <a:endParaRPr lang="en-US" sz="950" b="0" u="none" strike="noStrike">
              <a:solidFill>
                <a:srgbClr val="000000"/>
              </a:solidFill>
              <a:effectLst/>
              <a:uFillTx/>
              <a:latin typeface="Nimbus Sans"/>
            </a:endParaRPr>
          </a:p>
        </p:txBody>
      </p:sp>
      <p:sp>
        <p:nvSpPr>
          <p:cNvPr id="254" name="Shape 20"/>
          <p:cNvSpPr/>
          <p:nvPr/>
        </p:nvSpPr>
        <p:spPr>
          <a:xfrm>
            <a:off x="8961120" y="1691640"/>
            <a:ext cx="2498760" cy="1142640"/>
          </a:xfrm>
          <a:prstGeom prst="roundRect">
            <a:avLst>
              <a:gd name="adj" fmla="val 6400"/>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255" name="Text 21"/>
          <p:cNvSpPr/>
          <p:nvPr/>
        </p:nvSpPr>
        <p:spPr>
          <a:xfrm>
            <a:off x="9052560" y="1783080"/>
            <a:ext cx="2315880" cy="4111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200" b="1" u="none" strike="noStrike">
                <a:solidFill>
                  <a:srgbClr val="0284C7"/>
                </a:solidFill>
                <a:effectLst/>
                <a:uFillTx/>
                <a:latin typeface="Calibri"/>
                <a:ea typeface="Calibri"/>
              </a:rPr>
              <a:t>5/5 PASS</a:t>
            </a:r>
            <a:endParaRPr lang="en-US" sz="2200" b="0" u="none" strike="noStrike">
              <a:solidFill>
                <a:srgbClr val="000000"/>
              </a:solidFill>
              <a:effectLst/>
              <a:uFillTx/>
              <a:latin typeface="Nimbus Sans"/>
            </a:endParaRPr>
          </a:p>
        </p:txBody>
      </p:sp>
      <p:sp>
        <p:nvSpPr>
          <p:cNvPr id="256" name="Text 22"/>
          <p:cNvSpPr/>
          <p:nvPr/>
        </p:nvSpPr>
        <p:spPr>
          <a:xfrm>
            <a:off x="9052560" y="2194560"/>
            <a:ext cx="2315880" cy="2739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0F172A"/>
                </a:solidFill>
                <a:effectLst/>
                <a:uFillTx/>
                <a:latin typeface="Calibri"/>
                <a:ea typeface="Calibri"/>
              </a:rPr>
              <a:t>Kiểm định an ninh</a:t>
            </a:r>
            <a:endParaRPr lang="en-US" sz="1100" b="0" u="none" strike="noStrike">
              <a:solidFill>
                <a:srgbClr val="000000"/>
              </a:solidFill>
              <a:effectLst/>
              <a:uFillTx/>
              <a:latin typeface="Nimbus Sans"/>
            </a:endParaRPr>
          </a:p>
        </p:txBody>
      </p:sp>
      <p:sp>
        <p:nvSpPr>
          <p:cNvPr id="257" name="Text 23"/>
          <p:cNvSpPr/>
          <p:nvPr/>
        </p:nvSpPr>
        <p:spPr>
          <a:xfrm>
            <a:off x="9052560" y="2468880"/>
            <a:ext cx="2315880" cy="228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0" i="1" u="none" strike="noStrike">
                <a:solidFill>
                  <a:srgbClr val="64748B"/>
                </a:solidFill>
                <a:effectLst/>
                <a:uFillTx/>
                <a:latin typeface="Calibri"/>
                <a:ea typeface="Calibri"/>
              </a:rPr>
              <a:t>Đạt chuẩn Enterprise cao nhất</a:t>
            </a:r>
            <a:endParaRPr lang="en-US" sz="950" b="0" u="none" strike="noStrike">
              <a:solidFill>
                <a:srgbClr val="000000"/>
              </a:solidFill>
              <a:effectLst/>
              <a:uFillTx/>
              <a:latin typeface="Nimbus Sans"/>
            </a:endParaRPr>
          </a:p>
        </p:txBody>
      </p:sp>
      <p:graphicFrame>
        <p:nvGraphicFramePr>
          <p:cNvPr id="258" name="Table 0"/>
          <p:cNvGraphicFramePr/>
          <p:nvPr/>
        </p:nvGraphicFramePr>
        <p:xfrm>
          <a:off x="731520" y="2971800"/>
          <a:ext cx="10728360" cy="3062880"/>
        </p:xfrm>
        <a:graphic>
          <a:graphicData uri="http://schemas.openxmlformats.org/drawingml/2006/table">
            <a:tbl>
              <a:tblPr/>
              <a:tblGrid>
                <a:gridCol w="2682000"/>
                <a:gridCol w="2682000"/>
                <a:gridCol w="2682000"/>
                <a:gridCol w="2682000"/>
              </a:tblGrid>
              <a:tr h="437400">
                <a:tc>
                  <a:txBody>
                    <a:bodyPr anchor="ctr">
                      <a:noAutofit/>
                    </a:bodyPr>
                    <a:p>
                      <a:pPr algn="ctr" defTabSz="914400">
                        <a:lnSpc>
                          <a:spcPct val="100000"/>
                        </a:lnSpc>
                        <a:tabLst>
                          <a:tab pos="0" algn="l"/>
                        </a:tabLst>
                      </a:pPr>
                      <a:r>
                        <a:rPr lang="en-US" sz="1050" b="1" u="none" strike="noStrike">
                          <a:solidFill>
                            <a:srgbClr val="FFFFFF"/>
                          </a:solidFill>
                          <a:effectLst/>
                          <a:uFillTx/>
                          <a:latin typeface="Calibri"/>
                          <a:ea typeface="Calibri"/>
                        </a:rPr>
                        <a:t>Chỉ số đo lường hiệu năng</a:t>
                      </a:r>
                      <a:endParaRPr lang="en-US" sz="1050" b="0" u="none" strike="noStrike">
                        <a:solidFill>
                          <a:srgbClr val="FFFFFF"/>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002060"/>
                    </a:solidFill>
                  </a:tcPr>
                </a:tc>
                <a:tc>
                  <a:txBody>
                    <a:bodyPr anchor="ctr">
                      <a:noAutofit/>
                    </a:bodyPr>
                    <a:p>
                      <a:pPr algn="ctr" defTabSz="914400">
                        <a:lnSpc>
                          <a:spcPct val="100000"/>
                        </a:lnSpc>
                        <a:tabLst>
                          <a:tab pos="0" algn="l"/>
                        </a:tabLst>
                      </a:pPr>
                      <a:r>
                        <a:rPr lang="en-US" sz="1050" b="1" u="none" strike="noStrike">
                          <a:solidFill>
                            <a:srgbClr val="FFFFFF"/>
                          </a:solidFill>
                          <a:effectLst/>
                          <a:uFillTx/>
                          <a:latin typeface="Calibri"/>
                          <a:ea typeface="Calibri"/>
                        </a:rPr>
                        <a:t>Arch Linux (Rootless Docker)</a:t>
                      </a:r>
                      <a:endParaRPr lang="en-US" sz="1050" b="0" u="none" strike="noStrike">
                        <a:solidFill>
                          <a:srgbClr val="FFFFFF"/>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002060"/>
                    </a:solidFill>
                  </a:tcPr>
                </a:tc>
                <a:tc>
                  <a:txBody>
                    <a:bodyPr anchor="ctr">
                      <a:noAutofit/>
                    </a:bodyPr>
                    <a:p>
                      <a:pPr algn="ctr" defTabSz="914400">
                        <a:lnSpc>
                          <a:spcPct val="100000"/>
                        </a:lnSpc>
                        <a:tabLst>
                          <a:tab pos="0" algn="l"/>
                        </a:tabLst>
                      </a:pPr>
                      <a:r>
                        <a:rPr lang="en-US" sz="1050" b="1" u="none" strike="noStrike">
                          <a:solidFill>
                            <a:srgbClr val="FFFFFF"/>
                          </a:solidFill>
                          <a:effectLst/>
                          <a:uFillTx/>
                          <a:latin typeface="Calibri"/>
                          <a:ea typeface="Calibri"/>
                        </a:rPr>
                        <a:t>Ubuntu  (Rootful Docker)</a:t>
                      </a:r>
                      <a:endParaRPr lang="en-US" sz="1050" b="0" u="none" strike="noStrike">
                        <a:solidFill>
                          <a:srgbClr val="FFFFFF"/>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002060"/>
                    </a:solidFill>
                  </a:tcPr>
                </a:tc>
                <a:tc>
                  <a:txBody>
                    <a:bodyPr anchor="ctr">
                      <a:noAutofit/>
                    </a:bodyPr>
                    <a:p>
                      <a:pPr algn="ctr" defTabSz="914400">
                        <a:lnSpc>
                          <a:spcPct val="100000"/>
                        </a:lnSpc>
                        <a:tabLst>
                          <a:tab pos="0" algn="l"/>
                        </a:tabLst>
                      </a:pPr>
                      <a:r>
                        <a:rPr lang="en-US" sz="1050" b="1" u="none" strike="noStrike">
                          <a:solidFill>
                            <a:srgbClr val="FFFFFF"/>
                          </a:solidFill>
                          <a:effectLst/>
                          <a:uFillTx/>
                          <a:latin typeface="Calibri"/>
                          <a:ea typeface="Calibri"/>
                        </a:rPr>
                        <a:t>Chênh lệch / Đánh giá</a:t>
                      </a:r>
                      <a:endParaRPr lang="en-US" sz="1050" b="0" u="none" strike="noStrike">
                        <a:solidFill>
                          <a:srgbClr val="FFFFFF"/>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002060"/>
                    </a:solidFill>
                  </a:tcPr>
                </a:tc>
              </a:tr>
              <a:tr h="437400">
                <a:tc>
                  <a:txBody>
                    <a:bodyPr anchor="ctr">
                      <a:noAutofit/>
                    </a:bodyPr>
                    <a:p>
                      <a:pPr defTabSz="914400">
                        <a:lnSpc>
                          <a:spcPct val="100000"/>
                        </a:lnSpc>
                        <a:tabLst>
                          <a:tab pos="0" algn="l"/>
                        </a:tabLst>
                      </a:pPr>
                      <a:r>
                        <a:rPr lang="en-US" sz="1050" b="0" u="none" strike="noStrike">
                          <a:solidFill>
                            <a:srgbClr val="000000"/>
                          </a:solidFill>
                          <a:effectLst/>
                          <a:uFillTx/>
                          <a:latin typeface="Calibri"/>
                          <a:ea typeface="Calibri"/>
                        </a:rPr>
                        <a:t>Chiếm dụng RAM tĩnh (Idle OS)</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algn="ctr" defTabSz="914400">
                        <a:lnSpc>
                          <a:spcPct val="100000"/>
                        </a:lnSpc>
                        <a:tabLst>
                          <a:tab pos="0" algn="l"/>
                        </a:tabLst>
                      </a:pPr>
                      <a:r>
                        <a:rPr lang="en-US" sz="1050" b="1" u="none" strike="noStrike">
                          <a:solidFill>
                            <a:srgbClr val="0284C7"/>
                          </a:solidFill>
                          <a:effectLst/>
                          <a:uFillTx/>
                          <a:latin typeface="Calibri"/>
                          <a:ea typeface="Calibri"/>
                        </a:rPr>
                        <a:t>438 MB RAM</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algn="ctr" defTabSz="914400">
                        <a:lnSpc>
                          <a:spcPct val="100000"/>
                        </a:lnSpc>
                        <a:tabLst>
                          <a:tab pos="0" algn="l"/>
                        </a:tabLst>
                      </a:pPr>
                      <a:r>
                        <a:rPr lang="en-US" sz="1050" b="0" u="none" strike="noStrike">
                          <a:solidFill>
                            <a:srgbClr val="000000"/>
                          </a:solidFill>
                          <a:effectLst/>
                          <a:uFillTx/>
                          <a:latin typeface="Calibri"/>
                          <a:ea typeface="Calibri"/>
                        </a:rPr>
                        <a:t>742 MB RAM</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defTabSz="914400">
                        <a:lnSpc>
                          <a:spcPct val="100000"/>
                        </a:lnSpc>
                        <a:tabLst>
                          <a:tab pos="0" algn="l"/>
                        </a:tabLst>
                      </a:pPr>
                      <a:r>
                        <a:rPr lang="en-US" sz="1050" b="0" u="none" strike="noStrike">
                          <a:solidFill>
                            <a:srgbClr val="000000"/>
                          </a:solidFill>
                          <a:effectLst/>
                          <a:uFillTx/>
                          <a:latin typeface="Calibri"/>
                          <a:ea typeface="Calibri"/>
                        </a:rPr>
                        <a:t>Arch Linux tiết kiệm 40.9% bộ nhớ.</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r>
              <a:tr h="437400">
                <a:tc>
                  <a:txBody>
                    <a:bodyPr anchor="ctr">
                      <a:noAutofit/>
                    </a:bodyPr>
                    <a:p>
                      <a:pPr defTabSz="914400">
                        <a:lnSpc>
                          <a:spcPct val="100000"/>
                        </a:lnSpc>
                        <a:tabLst>
                          <a:tab pos="0" algn="l"/>
                        </a:tabLst>
                      </a:pPr>
                      <a:r>
                        <a:rPr lang="en-US" sz="1050" b="0" u="none" strike="noStrike">
                          <a:solidFill>
                            <a:srgbClr val="000000"/>
                          </a:solidFill>
                          <a:effectLst/>
                          <a:uFillTx/>
                          <a:latin typeface="Calibri"/>
                          <a:ea typeface="Calibri"/>
                        </a:rPr>
                        <a:t>Chiếm dụng RAM động (Stack Active)</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algn="ctr" defTabSz="914400">
                        <a:lnSpc>
                          <a:spcPct val="100000"/>
                        </a:lnSpc>
                        <a:tabLst>
                          <a:tab pos="0" algn="l"/>
                        </a:tabLst>
                      </a:pPr>
                      <a:r>
                        <a:rPr lang="en-US" sz="1050" b="1" u="none" strike="noStrike">
                          <a:solidFill>
                            <a:srgbClr val="0284C7"/>
                          </a:solidFill>
                          <a:effectLst/>
                          <a:uFillTx/>
                          <a:latin typeface="Calibri"/>
                          <a:ea typeface="Calibri"/>
                        </a:rPr>
                        <a:t>1,280 MB RAM</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algn="ctr" defTabSz="914400">
                        <a:lnSpc>
                          <a:spcPct val="100000"/>
                        </a:lnSpc>
                        <a:tabLst>
                          <a:tab pos="0" algn="l"/>
                        </a:tabLst>
                      </a:pPr>
                      <a:r>
                        <a:rPr lang="en-US" sz="1050" b="0" u="none" strike="noStrike">
                          <a:solidFill>
                            <a:srgbClr val="000000"/>
                          </a:solidFill>
                          <a:effectLst/>
                          <a:uFillTx/>
                          <a:latin typeface="Calibri"/>
                          <a:ea typeface="Calibri"/>
                        </a:rPr>
                        <a:t>1,620 MB RAM</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defTabSz="914400">
                        <a:lnSpc>
                          <a:spcPct val="100000"/>
                        </a:lnSpc>
                        <a:tabLst>
                          <a:tab pos="0" algn="l"/>
                        </a:tabLst>
                      </a:pPr>
                      <a:r>
                        <a:rPr lang="en-US" sz="1050" b="0" u="none" strike="noStrike">
                          <a:solidFill>
                            <a:srgbClr val="000000"/>
                          </a:solidFill>
                          <a:effectLst/>
                          <a:uFillTx/>
                          <a:latin typeface="Calibri"/>
                          <a:ea typeface="Calibri"/>
                        </a:rPr>
                        <a:t>Arch Linux tiết kiệm 20.9% bộ nhớ.</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r>
              <a:tr h="437400">
                <a:tc>
                  <a:txBody>
                    <a:bodyPr anchor="ctr">
                      <a:noAutofit/>
                    </a:bodyPr>
                    <a:p>
                      <a:pPr defTabSz="914400">
                        <a:lnSpc>
                          <a:spcPct val="100000"/>
                        </a:lnSpc>
                        <a:tabLst>
                          <a:tab pos="0" algn="l"/>
                        </a:tabLst>
                      </a:pPr>
                      <a:r>
                        <a:rPr lang="en-US" sz="1050" b="0" u="none" strike="noStrike">
                          <a:solidFill>
                            <a:srgbClr val="000000"/>
                          </a:solidFill>
                          <a:effectLst/>
                          <a:uFillTx/>
                          <a:latin typeface="Calibri"/>
                          <a:ea typeface="Calibri"/>
                        </a:rPr>
                        <a:t>Thời gian khởi động OS (Boot Time)</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algn="ctr" defTabSz="914400">
                        <a:lnSpc>
                          <a:spcPct val="100000"/>
                        </a:lnSpc>
                        <a:tabLst>
                          <a:tab pos="0" algn="l"/>
                        </a:tabLst>
                      </a:pPr>
                      <a:r>
                        <a:rPr lang="en-US" sz="1050" b="1" u="none" strike="noStrike">
                          <a:solidFill>
                            <a:srgbClr val="0284C7"/>
                          </a:solidFill>
                          <a:effectLst/>
                          <a:uFillTx/>
                          <a:latin typeface="Calibri"/>
                          <a:ea typeface="Calibri"/>
                        </a:rPr>
                        <a:t>4.8 giây (systemd-analyze)</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algn="ctr" defTabSz="914400">
                        <a:lnSpc>
                          <a:spcPct val="100000"/>
                        </a:lnSpc>
                        <a:tabLst>
                          <a:tab pos="0" algn="l"/>
                        </a:tabLst>
                      </a:pPr>
                      <a:r>
                        <a:rPr lang="en-US" sz="1050" b="0" u="none" strike="noStrike">
                          <a:solidFill>
                            <a:srgbClr val="000000"/>
                          </a:solidFill>
                          <a:effectLst/>
                          <a:uFillTx/>
                          <a:latin typeface="Calibri"/>
                          <a:ea typeface="Calibri"/>
                        </a:rPr>
                        <a:t>12.6 giây (systemd-analyze)</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defTabSz="914400">
                        <a:lnSpc>
                          <a:spcPct val="100000"/>
                        </a:lnSpc>
                        <a:tabLst>
                          <a:tab pos="0" algn="l"/>
                        </a:tabLst>
                      </a:pPr>
                      <a:r>
                        <a:rPr lang="en-US" sz="1050" b="0" u="none" strike="noStrike">
                          <a:solidFill>
                            <a:srgbClr val="000000"/>
                          </a:solidFill>
                          <a:effectLst/>
                          <a:uFillTx/>
                          <a:latin typeface="Calibri"/>
                          <a:ea typeface="Calibri"/>
                        </a:rPr>
                        <a:t>Arch Linux khởi động nhanh hơn 2.6 lần.</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r>
              <a:tr h="437400">
                <a:tc>
                  <a:txBody>
                    <a:bodyPr anchor="ctr">
                      <a:noAutofit/>
                    </a:bodyPr>
                    <a:p>
                      <a:pPr defTabSz="914400">
                        <a:lnSpc>
                          <a:spcPct val="100000"/>
                        </a:lnSpc>
                        <a:tabLst>
                          <a:tab pos="0" algn="l"/>
                        </a:tabLst>
                      </a:pPr>
                      <a:r>
                        <a:rPr lang="en-US" sz="1050" b="0" u="none" strike="noStrike">
                          <a:solidFill>
                            <a:srgbClr val="000000"/>
                          </a:solidFill>
                          <a:effectLst/>
                          <a:uFillTx/>
                          <a:latin typeface="Calibri"/>
                          <a:ea typeface="Calibri"/>
                        </a:rPr>
                        <a:t>Thông lượng xử lý AI (Throughput)</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algn="ctr" defTabSz="914400">
                        <a:lnSpc>
                          <a:spcPct val="100000"/>
                        </a:lnSpc>
                        <a:tabLst>
                          <a:tab pos="0" algn="l"/>
                        </a:tabLst>
                      </a:pPr>
                      <a:r>
                        <a:rPr lang="en-US" sz="1050" b="1" u="none" strike="noStrike">
                          <a:solidFill>
                            <a:srgbClr val="0284C7"/>
                          </a:solidFill>
                          <a:effectLst/>
                          <a:uFillTx/>
                          <a:latin typeface="Calibri"/>
                          <a:ea typeface="Calibri"/>
                        </a:rPr>
                        <a:t>342.5 Requests / Giây</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algn="ctr" defTabSz="914400">
                        <a:lnSpc>
                          <a:spcPct val="100000"/>
                        </a:lnSpc>
                        <a:tabLst>
                          <a:tab pos="0" algn="l"/>
                        </a:tabLst>
                      </a:pPr>
                      <a:r>
                        <a:rPr lang="en-US" sz="1050" b="0" u="none" strike="noStrike">
                          <a:solidFill>
                            <a:srgbClr val="000000"/>
                          </a:solidFill>
                          <a:effectLst/>
                          <a:uFillTx/>
                          <a:latin typeface="Calibri"/>
                          <a:ea typeface="Calibri"/>
                        </a:rPr>
                        <a:t>328.1 Requests / Giây</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defTabSz="914400">
                        <a:lnSpc>
                          <a:spcPct val="100000"/>
                        </a:lnSpc>
                        <a:tabLst>
                          <a:tab pos="0" algn="l"/>
                        </a:tabLst>
                      </a:pPr>
                      <a:r>
                        <a:rPr lang="en-US" sz="1050" b="0" u="none" strike="noStrike">
                          <a:solidFill>
                            <a:srgbClr val="000000"/>
                          </a:solidFill>
                          <a:effectLst/>
                          <a:uFillTx/>
                          <a:latin typeface="Calibri"/>
                          <a:ea typeface="Calibri"/>
                        </a:rPr>
                        <a:t>Arch Linux đạt hiệu năng cao hơn 4.3%.</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r>
              <a:tr h="437400">
                <a:tc>
                  <a:txBody>
                    <a:bodyPr anchor="ctr">
                      <a:noAutofit/>
                    </a:bodyPr>
                    <a:p>
                      <a:pPr defTabSz="914400">
                        <a:lnSpc>
                          <a:spcPct val="100000"/>
                        </a:lnSpc>
                        <a:tabLst>
                          <a:tab pos="0" algn="l"/>
                        </a:tabLst>
                      </a:pPr>
                      <a:r>
                        <a:rPr lang="en-US" sz="1050" b="0" u="none" strike="noStrike">
                          <a:solidFill>
                            <a:srgbClr val="000000"/>
                          </a:solidFill>
                          <a:effectLst/>
                          <a:uFillTx/>
                          <a:latin typeface="Calibri"/>
                          <a:ea typeface="Calibri"/>
                        </a:rPr>
                        <a:t>Độ trễ phân vị p95 (95% requests)</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algn="ctr" defTabSz="914400">
                        <a:lnSpc>
                          <a:spcPct val="100000"/>
                        </a:lnSpc>
                        <a:tabLst>
                          <a:tab pos="0" algn="l"/>
                        </a:tabLst>
                      </a:pPr>
                      <a:r>
                        <a:rPr lang="en-US" sz="1050" b="1" u="none" strike="noStrike">
                          <a:solidFill>
                            <a:srgbClr val="0284C7"/>
                          </a:solidFill>
                          <a:effectLst/>
                          <a:uFillTx/>
                          <a:latin typeface="Calibri"/>
                          <a:ea typeface="Calibri"/>
                        </a:rPr>
                        <a:t>64.8 ms</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algn="ctr" defTabSz="914400">
                        <a:lnSpc>
                          <a:spcPct val="100000"/>
                        </a:lnSpc>
                        <a:tabLst>
                          <a:tab pos="0" algn="l"/>
                        </a:tabLst>
                      </a:pPr>
                      <a:r>
                        <a:rPr lang="en-US" sz="1050" b="0" u="none" strike="noStrike">
                          <a:solidFill>
                            <a:srgbClr val="000000"/>
                          </a:solidFill>
                          <a:effectLst/>
                          <a:uFillTx/>
                          <a:latin typeface="Calibri"/>
                          <a:ea typeface="Calibri"/>
                        </a:rPr>
                        <a:t>72.5 ms</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defTabSz="914400">
                        <a:lnSpc>
                          <a:spcPct val="100000"/>
                        </a:lnSpc>
                        <a:tabLst>
                          <a:tab pos="0" algn="l"/>
                        </a:tabLst>
                      </a:pPr>
                      <a:r>
                        <a:rPr lang="en-US" sz="1050" b="0" u="none" strike="noStrike">
                          <a:solidFill>
                            <a:srgbClr val="000000"/>
                          </a:solidFill>
                          <a:effectLst/>
                          <a:uFillTx/>
                          <a:latin typeface="Calibri"/>
                          <a:ea typeface="Calibri"/>
                        </a:rPr>
                        <a:t>Arch Linux duy trì độ trễ ổn định hơn.</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r>
              <a:tr h="437400">
                <a:tc>
                  <a:txBody>
                    <a:bodyPr anchor="ctr">
                      <a:noAutofit/>
                    </a:bodyPr>
                    <a:p>
                      <a:pPr defTabSz="914400">
                        <a:lnSpc>
                          <a:spcPct val="100000"/>
                        </a:lnSpc>
                        <a:tabLst>
                          <a:tab pos="0" algn="l"/>
                        </a:tabLst>
                      </a:pPr>
                      <a:r>
                        <a:rPr lang="en-US" sz="1050" b="0" u="none" strike="noStrike">
                          <a:solidFill>
                            <a:srgbClr val="000000"/>
                          </a:solidFill>
                          <a:effectLst/>
                          <a:uFillTx/>
                          <a:latin typeface="Calibri"/>
                          <a:ea typeface="Calibri"/>
                        </a:rPr>
                        <a:t>Tỷ lệ lỗi (Error Rate)</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algn="ctr" defTabSz="914400">
                        <a:lnSpc>
                          <a:spcPct val="100000"/>
                        </a:lnSpc>
                        <a:tabLst>
                          <a:tab pos="0" algn="l"/>
                        </a:tabLst>
                      </a:pPr>
                      <a:r>
                        <a:rPr lang="en-US" sz="1050" b="1" u="none" strike="noStrike">
                          <a:solidFill>
                            <a:srgbClr val="16A34A"/>
                          </a:solidFill>
                          <a:effectLst/>
                          <a:uFillTx/>
                          <a:latin typeface="Calibri"/>
                          <a:ea typeface="Calibri"/>
                        </a:rPr>
                        <a:t>0.00% (500/500 thành công)</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algn="ctr" defTabSz="914400">
                        <a:lnSpc>
                          <a:spcPct val="100000"/>
                        </a:lnSpc>
                        <a:tabLst>
                          <a:tab pos="0" algn="l"/>
                        </a:tabLst>
                      </a:pPr>
                      <a:r>
                        <a:rPr lang="en-US" sz="1050" b="1" u="none" strike="noStrike">
                          <a:solidFill>
                            <a:srgbClr val="16A34A"/>
                          </a:solidFill>
                          <a:effectLst/>
                          <a:uFillTx/>
                          <a:latin typeface="Calibri"/>
                          <a:ea typeface="Calibri"/>
                        </a:rPr>
                        <a:t>0.00% (500/500 thành công)</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nchor="ctr">
                      <a:noAutofit/>
                    </a:bodyPr>
                    <a:p>
                      <a:pPr defTabSz="914400">
                        <a:lnSpc>
                          <a:spcPct val="100000"/>
                        </a:lnSpc>
                        <a:tabLst>
                          <a:tab pos="0" algn="l"/>
                        </a:tabLst>
                      </a:pPr>
                      <a:r>
                        <a:rPr lang="en-US" sz="1050" b="0" u="none" strike="noStrike">
                          <a:solidFill>
                            <a:srgbClr val="000000"/>
                          </a:solidFill>
                          <a:effectLst/>
                          <a:uFillTx/>
                          <a:latin typeface="Calibri"/>
                          <a:ea typeface="Calibri"/>
                        </a:rPr>
                        <a:t>Độ tin cậy tuyệt đối 100% trên cả 2 môi trường.</a:t>
                      </a:r>
                      <a:endParaRPr lang="en-US" sz="1050" b="0" u="none" strike="noStrike">
                        <a:solidFill>
                          <a:srgbClr val="000000"/>
                        </a:solidFill>
                        <a:effectLst/>
                        <a:uFillTx/>
                        <a:latin typeface="Nimbus Sans"/>
                      </a:endParaRPr>
                    </a:p>
                  </a:txBody>
                  <a:tcPr anchor="ctr" marL="91440" marR="91440" marT="45720" marB="4572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259" name="Shape 0"/>
          <p:cNvSpPr/>
          <p:nvPr/>
        </p:nvSpPr>
        <p:spPr>
          <a:xfrm>
            <a:off x="731520" y="384120"/>
            <a:ext cx="2285640" cy="292320"/>
          </a:xfrm>
          <a:prstGeom prst="roundRect">
            <a:avLst>
              <a:gd name="adj" fmla="val 25000"/>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260" name="Text 1"/>
          <p:cNvSpPr/>
          <p:nvPr/>
        </p:nvSpPr>
        <p:spPr>
          <a:xfrm>
            <a:off x="731520" y="384120"/>
            <a:ext cx="2285640" cy="292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Calibri"/>
                <a:ea typeface="Calibri"/>
              </a:rPr>
              <a:t>TIẾN ĐỘ THỰC HIỆN</a:t>
            </a:r>
            <a:endParaRPr lang="en-US" sz="1000" b="0" u="none" strike="noStrike">
              <a:solidFill>
                <a:srgbClr val="000000"/>
              </a:solidFill>
              <a:effectLst/>
              <a:uFillTx/>
              <a:latin typeface="Nimbus Sans"/>
            </a:endParaRPr>
          </a:p>
        </p:txBody>
      </p:sp>
      <p:sp>
        <p:nvSpPr>
          <p:cNvPr id="261" name="Text 2"/>
          <p:cNvSpPr/>
          <p:nvPr/>
        </p:nvSpPr>
        <p:spPr>
          <a:xfrm>
            <a:off x="731520" y="731520"/>
            <a:ext cx="107283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100" b="1" u="none" strike="noStrike">
                <a:solidFill>
                  <a:srgbClr val="0F172A"/>
                </a:solidFill>
                <a:effectLst/>
                <a:uFillTx/>
                <a:latin typeface="Calibri"/>
                <a:ea typeface="Calibri"/>
              </a:rPr>
              <a:t>10. ĐÁNH GIÁ TIẾN ĐỘ &amp; SẢN PHẨM BÀN GIAO</a:t>
            </a:r>
            <a:endParaRPr lang="en-US" sz="2100" b="0" u="none" strike="noStrike">
              <a:solidFill>
                <a:srgbClr val="000000"/>
              </a:solidFill>
              <a:effectLst/>
              <a:uFillTx/>
              <a:latin typeface="Nimbus Sans"/>
            </a:endParaRPr>
          </a:p>
        </p:txBody>
      </p:sp>
      <p:sp>
        <p:nvSpPr>
          <p:cNvPr id="262" name="Text 3"/>
          <p:cNvSpPr/>
          <p:nvPr/>
        </p:nvSpPr>
        <p:spPr>
          <a:xfrm>
            <a:off x="731520" y="1170360"/>
            <a:ext cx="107283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Tổng kết kết quả thực hiện đề tài và các sản phẩm khoa học kỹ thuật đã hoàn thành</a:t>
            </a:r>
            <a:endParaRPr lang="en-US" sz="1250" b="0" u="none" strike="noStrike">
              <a:solidFill>
                <a:srgbClr val="000000"/>
              </a:solidFill>
              <a:effectLst/>
              <a:uFillTx/>
              <a:latin typeface="Nimbus Sans"/>
            </a:endParaRPr>
          </a:p>
        </p:txBody>
      </p:sp>
      <p:sp>
        <p:nvSpPr>
          <p:cNvPr id="263" name="Shape 4"/>
          <p:cNvSpPr/>
          <p:nvPr/>
        </p:nvSpPr>
        <p:spPr>
          <a:xfrm>
            <a:off x="731520" y="1481040"/>
            <a:ext cx="10728360" cy="360"/>
          </a:xfrm>
          <a:prstGeom prst="line">
            <a:avLst/>
          </a:prstGeom>
          <a:ln w="12700">
            <a:solidFill>
              <a:srgbClr val="CBD5E1"/>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264" name="Shape 5"/>
          <p:cNvSpPr/>
          <p:nvPr/>
        </p:nvSpPr>
        <p:spPr>
          <a:xfrm>
            <a:off x="731520" y="6291000"/>
            <a:ext cx="10728360" cy="360"/>
          </a:xfrm>
          <a:prstGeom prst="line">
            <a:avLst/>
          </a:prstGeom>
          <a:ln w="12700">
            <a:solidFill>
              <a:srgbClr val="E2E8F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265" name="Text 6"/>
          <p:cNvSpPr/>
          <p:nvPr/>
        </p:nvSpPr>
        <p:spPr>
          <a:xfrm>
            <a:off x="731520" y="6355080"/>
            <a:ext cx="82292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0" u="none" strike="noStrike">
                <a:solidFill>
                  <a:srgbClr val="94A3B8"/>
                </a:solidFill>
                <a:effectLst/>
                <a:uFillTx/>
                <a:latin typeface="Calibri"/>
                <a:ea typeface="Calibri"/>
              </a:rPr>
              <a:t>VKU — Đồ án Linux &amp; Open Source: MLOps Pipeline | Nhóm: Nguyễn Công Đức, Nguyễn Tùng Dương, Nguyễn Văn C</a:t>
            </a:r>
            <a:endParaRPr lang="en-US" sz="950" b="0" u="none" strike="noStrike">
              <a:solidFill>
                <a:srgbClr val="000000"/>
              </a:solidFill>
              <a:effectLst/>
              <a:uFillTx/>
              <a:latin typeface="Nimbus Sans"/>
            </a:endParaRPr>
          </a:p>
        </p:txBody>
      </p:sp>
      <p:sp>
        <p:nvSpPr>
          <p:cNvPr id="266" name="Text 7"/>
          <p:cNvSpPr/>
          <p:nvPr/>
        </p:nvSpPr>
        <p:spPr>
          <a:xfrm>
            <a:off x="9601200" y="6355080"/>
            <a:ext cx="1858680" cy="255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1000" b="1" u="none" strike="noStrike">
                <a:solidFill>
                  <a:srgbClr val="0284C7"/>
                </a:solidFill>
                <a:effectLst/>
                <a:uFillTx/>
                <a:latin typeface="Calibri"/>
                <a:ea typeface="Calibri"/>
              </a:rPr>
              <a:t>Slide 11 / 12</a:t>
            </a:r>
            <a:endParaRPr lang="en-US" sz="1000" b="0" u="none" strike="noStrike">
              <a:solidFill>
                <a:srgbClr val="000000"/>
              </a:solidFill>
              <a:effectLst/>
              <a:uFillTx/>
              <a:latin typeface="Nimbus Sans"/>
            </a:endParaRPr>
          </a:p>
        </p:txBody>
      </p:sp>
      <p:sp>
        <p:nvSpPr>
          <p:cNvPr id="267" name="Shape 8"/>
          <p:cNvSpPr/>
          <p:nvPr/>
        </p:nvSpPr>
        <p:spPr>
          <a:xfrm>
            <a:off x="731520" y="1691640"/>
            <a:ext cx="5241960" cy="4388760"/>
          </a:xfrm>
          <a:prstGeom prst="roundRect">
            <a:avLst>
              <a:gd name="adj" fmla="val 1667"/>
            </a:avLst>
          </a:prstGeom>
          <a:solidFill>
            <a:srgbClr val="FFFFFF"/>
          </a:solidFill>
          <a:ln w="1905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268" name="Text 9"/>
          <p:cNvSpPr/>
          <p:nvPr/>
        </p:nvSpPr>
        <p:spPr>
          <a:xfrm>
            <a:off x="1005840" y="1920240"/>
            <a:ext cx="46933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50" b="1" u="none" strike="noStrike">
                <a:solidFill>
                  <a:srgbClr val="16A34A"/>
                </a:solidFill>
                <a:effectLst/>
                <a:uFillTx/>
                <a:latin typeface="Calibri"/>
                <a:ea typeface="Calibri"/>
              </a:rPr>
              <a:t>CÁC SẢN PHẨM KỸ THUẬT ĐÃ HOÀN THÀNH</a:t>
            </a:r>
            <a:endParaRPr lang="en-US" sz="1350" b="0" u="none" strike="noStrike">
              <a:solidFill>
                <a:srgbClr val="000000"/>
              </a:solidFill>
              <a:effectLst/>
              <a:uFillTx/>
              <a:latin typeface="Nimbus Sans"/>
            </a:endParaRPr>
          </a:p>
        </p:txBody>
      </p:sp>
      <p:sp>
        <p:nvSpPr>
          <p:cNvPr id="269" name="Text 10"/>
          <p:cNvSpPr/>
          <p:nvPr/>
        </p:nvSpPr>
        <p:spPr>
          <a:xfrm>
            <a:off x="1005840" y="2331720"/>
            <a:ext cx="4693320" cy="68544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16A34A"/>
                </a:solidFill>
                <a:effectLst/>
                <a:uFillTx/>
                <a:latin typeface="Calibri"/>
              </a:rPr>
              <a:t>• Mục tiêu SMART: </a:t>
            </a:r>
            <a:r>
              <a:rPr lang="en-US" sz="1050" b="0" u="none" strike="noStrike">
                <a:solidFill>
                  <a:srgbClr val="1E293B"/>
                </a:solidFill>
                <a:effectLst/>
                <a:uFillTx/>
                <a:latin typeface="Calibri"/>
                <a:ea typeface="Calibri"/>
              </a:rPr>
              <a:t>Đã cam kết và hoàn thành 100% cả 6 tiêu chí đã đề ra ban đầu.</a:t>
            </a:r>
            <a:endParaRPr lang="en-US" sz="1050" b="0" u="none" strike="noStrike">
              <a:solidFill>
                <a:srgbClr val="000000"/>
              </a:solidFill>
              <a:effectLst/>
              <a:uFillTx/>
              <a:latin typeface="Nimbus Sans"/>
            </a:endParaRPr>
          </a:p>
        </p:txBody>
      </p:sp>
      <p:sp>
        <p:nvSpPr>
          <p:cNvPr id="270" name="Text 11"/>
          <p:cNvSpPr/>
          <p:nvPr/>
        </p:nvSpPr>
        <p:spPr>
          <a:xfrm>
            <a:off x="1005840" y="3081600"/>
            <a:ext cx="4693320" cy="68544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16A34A"/>
                </a:solidFill>
                <a:effectLst/>
                <a:uFillTx/>
                <a:latin typeface="Calibri"/>
              </a:rPr>
              <a:t>• Bộ kịch bản IaC Bash script đầy đủ: </a:t>
            </a:r>
            <a:r>
              <a:rPr lang="en-US" sz="1050" b="0" u="none" strike="noStrike">
                <a:solidFill>
                  <a:srgbClr val="1E293B"/>
                </a:solidFill>
                <a:effectLst/>
                <a:uFillTx/>
                <a:latin typeface="Calibri"/>
                <a:ea typeface="Calibri"/>
              </a:rPr>
              <a:t>01_system_hardening.sh, 01_rollback_hardening.sh, 02_setup_rootless_docker.sh, 03_deploy_stack.sh, 04_verify_system.sh, ai_cli.sh, scan_image.sh.</a:t>
            </a:r>
            <a:endParaRPr lang="en-US" sz="1050" b="0" u="none" strike="noStrike">
              <a:solidFill>
                <a:srgbClr val="000000"/>
              </a:solidFill>
              <a:effectLst/>
              <a:uFillTx/>
              <a:latin typeface="Nimbus Sans"/>
            </a:endParaRPr>
          </a:p>
        </p:txBody>
      </p:sp>
      <p:sp>
        <p:nvSpPr>
          <p:cNvPr id="271" name="Text 12"/>
          <p:cNvSpPr/>
          <p:nvPr/>
        </p:nvSpPr>
        <p:spPr>
          <a:xfrm>
            <a:off x="1005840" y="3831480"/>
            <a:ext cx="4693320" cy="68544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16A34A"/>
                </a:solidFill>
                <a:effectLst/>
                <a:uFillTx/>
                <a:latin typeface="Calibri"/>
              </a:rPr>
              <a:t>• Kho lưu trữ Git chuẩn mực: </a:t>
            </a:r>
            <a:r>
              <a:rPr lang="en-US" sz="1050" b="0" u="none" strike="noStrike">
                <a:solidFill>
                  <a:srgbClr val="1E293B"/>
                </a:solidFill>
                <a:effectLst/>
                <a:uFillTx/>
                <a:latin typeface="Calibri"/>
                <a:ea typeface="Calibri"/>
              </a:rPr>
              <a:t>Đã đồng bộ mã nguồn lên nhánh arch-mlops trên GitHub của nhóm.</a:t>
            </a:r>
            <a:endParaRPr lang="en-US" sz="1050" b="0" u="none" strike="noStrike">
              <a:solidFill>
                <a:srgbClr val="000000"/>
              </a:solidFill>
              <a:effectLst/>
              <a:uFillTx/>
              <a:latin typeface="Nimbus Sans"/>
            </a:endParaRPr>
          </a:p>
        </p:txBody>
      </p:sp>
      <p:sp>
        <p:nvSpPr>
          <p:cNvPr id="272" name="Text 13"/>
          <p:cNvSpPr/>
          <p:nvPr/>
        </p:nvSpPr>
        <p:spPr>
          <a:xfrm>
            <a:off x="1005840" y="4581000"/>
            <a:ext cx="4693320" cy="68544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16A34A"/>
                </a:solidFill>
                <a:effectLst/>
                <a:uFillTx/>
                <a:latin typeface="Calibri"/>
              </a:rPr>
              <a:t>• Báo cáo đồ án chính thức: </a:t>
            </a:r>
            <a:r>
              <a:rPr lang="en-US" sz="1050" b="0" u="none" strike="noStrike">
                <a:solidFill>
                  <a:srgbClr val="1E293B"/>
                </a:solidFill>
                <a:effectLst/>
                <a:uFillTx/>
                <a:latin typeface="Calibri"/>
                <a:ea typeface="Calibri"/>
              </a:rPr>
              <a:t>Đã biên soạn hoàn chỉnh 7 chương, dày 82 trang chuẩn mẫu học thuật VKU (định dạng DOCX và PDF).</a:t>
            </a:r>
            <a:endParaRPr lang="en-US" sz="1050" b="0" u="none" strike="noStrike">
              <a:solidFill>
                <a:srgbClr val="000000"/>
              </a:solidFill>
              <a:effectLst/>
              <a:uFillTx/>
              <a:latin typeface="Nimbus Sans"/>
            </a:endParaRPr>
          </a:p>
        </p:txBody>
      </p:sp>
      <p:sp>
        <p:nvSpPr>
          <p:cNvPr id="273" name="Text 14"/>
          <p:cNvSpPr/>
          <p:nvPr/>
        </p:nvSpPr>
        <p:spPr>
          <a:xfrm>
            <a:off x="1005840" y="5330880"/>
            <a:ext cx="4693320" cy="68544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16A34A"/>
                </a:solidFill>
                <a:effectLst/>
                <a:uFillTx/>
                <a:latin typeface="Calibri"/>
              </a:rPr>
              <a:t>• Hệ sinh thái thực nghiệm: </a:t>
            </a:r>
            <a:r>
              <a:rPr lang="en-US" sz="1050" b="0" u="none" strike="noStrike">
                <a:solidFill>
                  <a:srgbClr val="1E293B"/>
                </a:solidFill>
                <a:effectLst/>
                <a:uFillTx/>
                <a:latin typeface="Calibri"/>
                <a:ea typeface="Calibri"/>
              </a:rPr>
              <a:t>Cả 2 máy chủ ảo hoạt động ổn định và sẵn sàng cho buổi bảo vệ chính thức.</a:t>
            </a:r>
            <a:endParaRPr lang="en-US" sz="1050" b="0" u="none" strike="noStrike">
              <a:solidFill>
                <a:srgbClr val="000000"/>
              </a:solidFill>
              <a:effectLst/>
              <a:uFillTx/>
              <a:latin typeface="Nimbus Sans"/>
            </a:endParaRPr>
          </a:p>
        </p:txBody>
      </p:sp>
      <p:sp>
        <p:nvSpPr>
          <p:cNvPr id="274" name="Shape 15"/>
          <p:cNvSpPr/>
          <p:nvPr/>
        </p:nvSpPr>
        <p:spPr>
          <a:xfrm>
            <a:off x="6217920" y="1691640"/>
            <a:ext cx="5241960" cy="4388760"/>
          </a:xfrm>
          <a:prstGeom prst="roundRect">
            <a:avLst>
              <a:gd name="adj" fmla="val 1667"/>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275" name="Text 16"/>
          <p:cNvSpPr/>
          <p:nvPr/>
        </p:nvSpPr>
        <p:spPr>
          <a:xfrm>
            <a:off x="6492240" y="1920240"/>
            <a:ext cx="46933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50" b="1" u="none" strike="noStrike">
                <a:solidFill>
                  <a:srgbClr val="0284C7"/>
                </a:solidFill>
                <a:effectLst/>
                <a:uFillTx/>
                <a:latin typeface="Calibri"/>
                <a:ea typeface="Calibri"/>
              </a:rPr>
              <a:t>PHÂN CÔNG NHIỆM VỤ &amp; ĐÓNG GÓP THÀNH VIÊN</a:t>
            </a:r>
            <a:endParaRPr lang="en-US" sz="1350" b="0" u="none" strike="noStrike">
              <a:solidFill>
                <a:srgbClr val="000000"/>
              </a:solidFill>
              <a:effectLst/>
              <a:uFillTx/>
              <a:latin typeface="Nimbus Sans"/>
            </a:endParaRPr>
          </a:p>
        </p:txBody>
      </p:sp>
      <p:sp>
        <p:nvSpPr>
          <p:cNvPr id="276" name="Shape 17"/>
          <p:cNvSpPr/>
          <p:nvPr/>
        </p:nvSpPr>
        <p:spPr>
          <a:xfrm>
            <a:off x="6492240" y="2423160"/>
            <a:ext cx="4693320" cy="1005480"/>
          </a:xfrm>
          <a:prstGeom prst="roundRect">
            <a:avLst>
              <a:gd name="adj" fmla="val 4545"/>
            </a:avLst>
          </a:prstGeom>
          <a:solidFill>
            <a:srgbClr val="F1F5F9"/>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277" name="Text 18"/>
          <p:cNvSpPr/>
          <p:nvPr/>
        </p:nvSpPr>
        <p:spPr>
          <a:xfrm>
            <a:off x="6629400" y="2514600"/>
            <a:ext cx="3200040" cy="228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0F172A"/>
                </a:solidFill>
                <a:effectLst/>
                <a:uFillTx/>
                <a:latin typeface="Calibri"/>
                <a:ea typeface="Calibri"/>
              </a:rPr>
              <a:t>Nguyễn Công Đức (Trưởng nhóm — Lead)</a:t>
            </a:r>
            <a:endParaRPr lang="en-US" sz="1100" b="0" u="none" strike="noStrike">
              <a:solidFill>
                <a:srgbClr val="000000"/>
              </a:solidFill>
              <a:effectLst/>
              <a:uFillTx/>
              <a:latin typeface="Nimbus Sans"/>
            </a:endParaRPr>
          </a:p>
        </p:txBody>
      </p:sp>
      <p:sp>
        <p:nvSpPr>
          <p:cNvPr id="278" name="Text 19"/>
          <p:cNvSpPr/>
          <p:nvPr/>
        </p:nvSpPr>
        <p:spPr>
          <a:xfrm>
            <a:off x="9692640" y="2514600"/>
            <a:ext cx="1371240" cy="228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1050" b="1" u="none" strike="noStrike">
                <a:solidFill>
                  <a:srgbClr val="0284C7"/>
                </a:solidFill>
                <a:effectLst/>
                <a:uFillTx/>
                <a:latin typeface="Calibri"/>
                <a:ea typeface="Calibri"/>
              </a:rPr>
              <a:t>Đóng góp: 100%</a:t>
            </a:r>
            <a:endParaRPr lang="en-US" sz="1050" b="0" u="none" strike="noStrike">
              <a:solidFill>
                <a:srgbClr val="000000"/>
              </a:solidFill>
              <a:effectLst/>
              <a:uFillTx/>
              <a:latin typeface="Nimbus Sans"/>
            </a:endParaRPr>
          </a:p>
        </p:txBody>
      </p:sp>
      <p:sp>
        <p:nvSpPr>
          <p:cNvPr id="279" name="Text 20"/>
          <p:cNvSpPr/>
          <p:nvPr/>
        </p:nvSpPr>
        <p:spPr>
          <a:xfrm>
            <a:off x="6629400" y="2770560"/>
            <a:ext cx="4388760" cy="594000"/>
          </a:xfrm>
          <a:prstGeom prst="rect">
            <a:avLst/>
          </a:prstGeom>
          <a:noFill/>
          <a:ln w="0">
            <a:noFill/>
          </a:ln>
        </p:spPr>
        <p:style>
          <a:lnRef idx="0"/>
          <a:fillRef idx="0"/>
          <a:effectRef idx="0"/>
          <a:fontRef idx="minor"/>
        </p:style>
        <p:txBody>
          <a:bodyPr lIns="90000" tIns="45000" rIns="90000" bIns="45000" anchor="ctr">
            <a:noAutofit/>
          </a:bodyPr>
          <a:p>
            <a:pPr defTabSz="914400">
              <a:lnSpc>
                <a:spcPts val="1500"/>
              </a:lnSpc>
              <a:tabLst>
                <a:tab pos="0" algn="l"/>
              </a:tabLst>
            </a:pPr>
            <a:r>
              <a:rPr lang="en-US" sz="1000" b="0" u="none" strike="noStrike">
                <a:solidFill>
                  <a:srgbClr val="64748B"/>
                </a:solidFill>
                <a:effectLst/>
                <a:uFillTx/>
                <a:latin typeface="Calibri"/>
                <a:ea typeface="Calibri"/>
              </a:rPr>
              <a:t>Chịu trách nhiệm kiến trúc tổng thể, hạ tầng Arch Linux, Rootless Docker, mạng Zero-Trust và bộ kịch bản IaC.</a:t>
            </a:r>
            <a:endParaRPr lang="en-US" sz="1000" b="0" u="none" strike="noStrike">
              <a:solidFill>
                <a:srgbClr val="000000"/>
              </a:solidFill>
              <a:effectLst/>
              <a:uFillTx/>
              <a:latin typeface="Nimbus Sans"/>
            </a:endParaRPr>
          </a:p>
        </p:txBody>
      </p:sp>
      <p:sp>
        <p:nvSpPr>
          <p:cNvPr id="280" name="Shape 21"/>
          <p:cNvSpPr/>
          <p:nvPr/>
        </p:nvSpPr>
        <p:spPr>
          <a:xfrm>
            <a:off x="6492240" y="3566160"/>
            <a:ext cx="4693320" cy="1005480"/>
          </a:xfrm>
          <a:prstGeom prst="roundRect">
            <a:avLst>
              <a:gd name="adj" fmla="val 4545"/>
            </a:avLst>
          </a:prstGeom>
          <a:solidFill>
            <a:srgbClr val="F1F5F9"/>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281" name="Text 22"/>
          <p:cNvSpPr/>
          <p:nvPr/>
        </p:nvSpPr>
        <p:spPr>
          <a:xfrm>
            <a:off x="6629400" y="3657600"/>
            <a:ext cx="3200040" cy="228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0F172A"/>
                </a:solidFill>
                <a:effectLst/>
                <a:uFillTx/>
                <a:latin typeface="Calibri"/>
                <a:ea typeface="Calibri"/>
              </a:rPr>
              <a:t>Nguyễn Tùng Dương (Thành viên)</a:t>
            </a:r>
            <a:endParaRPr lang="en-US" sz="1100" b="0" u="none" strike="noStrike">
              <a:solidFill>
                <a:srgbClr val="000000"/>
              </a:solidFill>
              <a:effectLst/>
              <a:uFillTx/>
              <a:latin typeface="Nimbus Sans"/>
            </a:endParaRPr>
          </a:p>
        </p:txBody>
      </p:sp>
      <p:sp>
        <p:nvSpPr>
          <p:cNvPr id="282" name="Text 23"/>
          <p:cNvSpPr/>
          <p:nvPr/>
        </p:nvSpPr>
        <p:spPr>
          <a:xfrm>
            <a:off x="9692640" y="3657600"/>
            <a:ext cx="1371240" cy="228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1050" b="1" u="none" strike="noStrike">
                <a:solidFill>
                  <a:srgbClr val="0284C7"/>
                </a:solidFill>
                <a:effectLst/>
                <a:uFillTx/>
                <a:latin typeface="Calibri"/>
                <a:ea typeface="Calibri"/>
              </a:rPr>
              <a:t>Đóng góp: 100%</a:t>
            </a:r>
            <a:endParaRPr lang="en-US" sz="1050" b="0" u="none" strike="noStrike">
              <a:solidFill>
                <a:srgbClr val="000000"/>
              </a:solidFill>
              <a:effectLst/>
              <a:uFillTx/>
              <a:latin typeface="Nimbus Sans"/>
            </a:endParaRPr>
          </a:p>
        </p:txBody>
      </p:sp>
      <p:sp>
        <p:nvSpPr>
          <p:cNvPr id="283" name="Text 24"/>
          <p:cNvSpPr/>
          <p:nvPr/>
        </p:nvSpPr>
        <p:spPr>
          <a:xfrm>
            <a:off x="6629400" y="3913560"/>
            <a:ext cx="4388760" cy="594000"/>
          </a:xfrm>
          <a:prstGeom prst="rect">
            <a:avLst/>
          </a:prstGeom>
          <a:noFill/>
          <a:ln w="0">
            <a:noFill/>
          </a:ln>
        </p:spPr>
        <p:style>
          <a:lnRef idx="0"/>
          <a:fillRef idx="0"/>
          <a:effectRef idx="0"/>
          <a:fontRef idx="minor"/>
        </p:style>
        <p:txBody>
          <a:bodyPr lIns="90000" tIns="45000" rIns="90000" bIns="45000" anchor="ctr">
            <a:noAutofit/>
          </a:bodyPr>
          <a:p>
            <a:pPr defTabSz="914400">
              <a:lnSpc>
                <a:spcPts val="1500"/>
              </a:lnSpc>
              <a:tabLst>
                <a:tab pos="0" algn="l"/>
              </a:tabLst>
            </a:pPr>
            <a:r>
              <a:rPr lang="en-US" sz="1000" b="0" u="none" strike="noStrike">
                <a:solidFill>
                  <a:srgbClr val="64748B"/>
                </a:solidFill>
                <a:effectLst/>
                <a:uFillTx/>
                <a:latin typeface="Calibri"/>
                <a:ea typeface="Calibri"/>
              </a:rPr>
              <a:t>Chịu trách nhiệm triển khai nút Ubuntu Server baseline, chuẩn hóa cấu hình đối chứng và kiểm thử an ninh mạng.</a:t>
            </a:r>
            <a:endParaRPr lang="en-US" sz="1000" b="0" u="none" strike="noStrike">
              <a:solidFill>
                <a:srgbClr val="000000"/>
              </a:solidFill>
              <a:effectLst/>
              <a:uFillTx/>
              <a:latin typeface="Nimbus Sans"/>
            </a:endParaRPr>
          </a:p>
        </p:txBody>
      </p:sp>
      <p:sp>
        <p:nvSpPr>
          <p:cNvPr id="284" name="Shape 25"/>
          <p:cNvSpPr/>
          <p:nvPr/>
        </p:nvSpPr>
        <p:spPr>
          <a:xfrm>
            <a:off x="6492240" y="4709160"/>
            <a:ext cx="4693320" cy="1005480"/>
          </a:xfrm>
          <a:prstGeom prst="roundRect">
            <a:avLst>
              <a:gd name="adj" fmla="val 4545"/>
            </a:avLst>
          </a:prstGeom>
          <a:solidFill>
            <a:srgbClr val="F1F5F9"/>
          </a:solidFill>
          <a:ln w="12700">
            <a:solidFill>
              <a:srgbClr val="CBD5E1"/>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285" name="Text 26"/>
          <p:cNvSpPr/>
          <p:nvPr/>
        </p:nvSpPr>
        <p:spPr>
          <a:xfrm>
            <a:off x="6629400" y="4800600"/>
            <a:ext cx="3200040" cy="228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0F172A"/>
                </a:solidFill>
                <a:effectLst/>
                <a:uFillTx/>
                <a:latin typeface="Calibri"/>
                <a:ea typeface="Calibri"/>
              </a:rPr>
              <a:t>Nguyễn Văn C (Thành viên)</a:t>
            </a:r>
            <a:endParaRPr lang="en-US" sz="1100" b="0" u="none" strike="noStrike">
              <a:solidFill>
                <a:srgbClr val="000000"/>
              </a:solidFill>
              <a:effectLst/>
              <a:uFillTx/>
              <a:latin typeface="Nimbus Sans"/>
            </a:endParaRPr>
          </a:p>
        </p:txBody>
      </p:sp>
      <p:sp>
        <p:nvSpPr>
          <p:cNvPr id="286" name="Text 27"/>
          <p:cNvSpPr/>
          <p:nvPr/>
        </p:nvSpPr>
        <p:spPr>
          <a:xfrm>
            <a:off x="9692640" y="4800600"/>
            <a:ext cx="1371240" cy="228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1050" b="1" u="none" strike="noStrike">
                <a:solidFill>
                  <a:srgbClr val="0284C7"/>
                </a:solidFill>
                <a:effectLst/>
                <a:uFillTx/>
                <a:latin typeface="Calibri"/>
                <a:ea typeface="Calibri"/>
              </a:rPr>
              <a:t>Đóng góp: 100%</a:t>
            </a:r>
            <a:endParaRPr lang="en-US" sz="1050" b="0" u="none" strike="noStrike">
              <a:solidFill>
                <a:srgbClr val="000000"/>
              </a:solidFill>
              <a:effectLst/>
              <a:uFillTx/>
              <a:latin typeface="Nimbus Sans"/>
            </a:endParaRPr>
          </a:p>
        </p:txBody>
      </p:sp>
      <p:sp>
        <p:nvSpPr>
          <p:cNvPr id="287" name="Text 28"/>
          <p:cNvSpPr/>
          <p:nvPr/>
        </p:nvSpPr>
        <p:spPr>
          <a:xfrm>
            <a:off x="6629400" y="5056560"/>
            <a:ext cx="4388760" cy="594000"/>
          </a:xfrm>
          <a:prstGeom prst="rect">
            <a:avLst/>
          </a:prstGeom>
          <a:noFill/>
          <a:ln w="0">
            <a:noFill/>
          </a:ln>
        </p:spPr>
        <p:style>
          <a:lnRef idx="0"/>
          <a:fillRef idx="0"/>
          <a:effectRef idx="0"/>
          <a:fontRef idx="minor"/>
        </p:style>
        <p:txBody>
          <a:bodyPr lIns="90000" tIns="45000" rIns="90000" bIns="45000" anchor="ctr">
            <a:noAutofit/>
          </a:bodyPr>
          <a:p>
            <a:pPr defTabSz="914400">
              <a:lnSpc>
                <a:spcPts val="1500"/>
              </a:lnSpc>
              <a:tabLst>
                <a:tab pos="0" algn="l"/>
              </a:tabLst>
            </a:pPr>
            <a:r>
              <a:rPr lang="en-US" sz="1000" b="0" u="none" strike="noStrike">
                <a:solidFill>
                  <a:srgbClr val="64748B"/>
                </a:solidFill>
                <a:effectLst/>
                <a:uFillTx/>
                <a:latin typeface="Calibri"/>
                <a:ea typeface="Calibri"/>
              </a:rPr>
              <a:t>Chịu trách nhiệm thiết lập Prometheus, Grafana, thực hiện đo lường tải công việc và thu thập số liệu benchmark.</a:t>
            </a:r>
            <a:endParaRPr lang="en-US" sz="1000" b="0" u="none" strike="noStrike">
              <a:solidFill>
                <a:srgbClr val="000000"/>
              </a:solidFill>
              <a:effectLst/>
              <a:uFillTx/>
              <a:latin typeface="Nimbus Sans"/>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288" name="Shape 0"/>
          <p:cNvSpPr/>
          <p:nvPr/>
        </p:nvSpPr>
        <p:spPr>
          <a:xfrm>
            <a:off x="731520" y="384120"/>
            <a:ext cx="2285640" cy="292320"/>
          </a:xfrm>
          <a:prstGeom prst="roundRect">
            <a:avLst>
              <a:gd name="adj" fmla="val 25000"/>
            </a:avLst>
          </a:prstGeom>
          <a:solidFill>
            <a:srgbClr val="0284C7"/>
          </a:solidFill>
          <a:ln w="1270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Nimbus Sans"/>
            </a:endParaRPr>
          </a:p>
        </p:txBody>
      </p:sp>
      <p:sp>
        <p:nvSpPr>
          <p:cNvPr id="289" name="Text 1"/>
          <p:cNvSpPr/>
          <p:nvPr/>
        </p:nvSpPr>
        <p:spPr>
          <a:xfrm>
            <a:off x="731520" y="384120"/>
            <a:ext cx="2285640" cy="292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Calibri"/>
                <a:ea typeface="Calibri"/>
              </a:rPr>
              <a:t>HƯỚNG PHÁT TRIỂN &amp; KẾT LUẬN</a:t>
            </a:r>
            <a:endParaRPr lang="en-US" sz="1000" b="0" u="none" strike="noStrike">
              <a:solidFill>
                <a:srgbClr val="000000"/>
              </a:solidFill>
              <a:effectLst/>
              <a:uFillTx/>
              <a:latin typeface="Nimbus Sans"/>
            </a:endParaRPr>
          </a:p>
        </p:txBody>
      </p:sp>
      <p:sp>
        <p:nvSpPr>
          <p:cNvPr id="290" name="Text 2"/>
          <p:cNvSpPr/>
          <p:nvPr/>
        </p:nvSpPr>
        <p:spPr>
          <a:xfrm>
            <a:off x="731520" y="731520"/>
            <a:ext cx="107283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100" b="1" u="none" strike="noStrike">
                <a:solidFill>
                  <a:srgbClr val="0F172A"/>
                </a:solidFill>
                <a:effectLst/>
                <a:uFillTx/>
                <a:latin typeface="Calibri"/>
                <a:ea typeface="Calibri"/>
              </a:rPr>
              <a:t>11. HƯỚNG PHÁT TRIỂN &amp; PHIÊN HỎI ĐÁP</a:t>
            </a:r>
            <a:endParaRPr lang="en-US" sz="2100" b="0" u="none" strike="noStrike">
              <a:solidFill>
                <a:srgbClr val="000000"/>
              </a:solidFill>
              <a:effectLst/>
              <a:uFillTx/>
              <a:latin typeface="Nimbus Sans"/>
            </a:endParaRPr>
          </a:p>
        </p:txBody>
      </p:sp>
      <p:sp>
        <p:nvSpPr>
          <p:cNvPr id="291" name="Text 3"/>
          <p:cNvSpPr/>
          <p:nvPr/>
        </p:nvSpPr>
        <p:spPr>
          <a:xfrm>
            <a:off x="731520" y="1170360"/>
            <a:ext cx="107283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50" b="0" i="1" u="none" strike="noStrike">
                <a:solidFill>
                  <a:srgbClr val="64748B"/>
                </a:solidFill>
                <a:effectLst/>
                <a:uFillTx/>
                <a:latin typeface="Calibri"/>
                <a:ea typeface="Calibri"/>
              </a:rPr>
              <a:t>Định hướng mở rộng kiến trúc trong tương lai và lời cảm ơn Hội đồng</a:t>
            </a:r>
            <a:endParaRPr lang="en-US" sz="1250" b="0" u="none" strike="noStrike">
              <a:solidFill>
                <a:srgbClr val="000000"/>
              </a:solidFill>
              <a:effectLst/>
              <a:uFillTx/>
              <a:latin typeface="Nimbus Sans"/>
            </a:endParaRPr>
          </a:p>
        </p:txBody>
      </p:sp>
      <p:sp>
        <p:nvSpPr>
          <p:cNvPr id="292" name="Shape 4"/>
          <p:cNvSpPr/>
          <p:nvPr/>
        </p:nvSpPr>
        <p:spPr>
          <a:xfrm>
            <a:off x="731520" y="1481040"/>
            <a:ext cx="10728360" cy="360"/>
          </a:xfrm>
          <a:prstGeom prst="line">
            <a:avLst/>
          </a:prstGeom>
          <a:ln w="12700">
            <a:solidFill>
              <a:srgbClr val="CBD5E1"/>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293" name="Shape 5"/>
          <p:cNvSpPr/>
          <p:nvPr/>
        </p:nvSpPr>
        <p:spPr>
          <a:xfrm>
            <a:off x="731520" y="6291000"/>
            <a:ext cx="10728360" cy="360"/>
          </a:xfrm>
          <a:prstGeom prst="line">
            <a:avLst/>
          </a:prstGeom>
          <a:ln w="12700">
            <a:solidFill>
              <a:srgbClr val="E2E8F0"/>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Nimbus Sans"/>
            </a:endParaRPr>
          </a:p>
        </p:txBody>
      </p:sp>
      <p:sp>
        <p:nvSpPr>
          <p:cNvPr id="294" name="Text 6"/>
          <p:cNvSpPr/>
          <p:nvPr/>
        </p:nvSpPr>
        <p:spPr>
          <a:xfrm>
            <a:off x="731520" y="6355080"/>
            <a:ext cx="82292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0" u="none" strike="noStrike">
                <a:solidFill>
                  <a:srgbClr val="94A3B8"/>
                </a:solidFill>
                <a:effectLst/>
                <a:uFillTx/>
                <a:latin typeface="Calibri"/>
                <a:ea typeface="Calibri"/>
              </a:rPr>
              <a:t>VKU — Đồ án Linux &amp; Open Source: MLOps Pipeline | Nhóm: Nguyễn Công Đức, Nguyễn Tùng Dương, Nguyễn Văn C</a:t>
            </a:r>
            <a:endParaRPr lang="en-US" sz="950" b="0" u="none" strike="noStrike">
              <a:solidFill>
                <a:srgbClr val="000000"/>
              </a:solidFill>
              <a:effectLst/>
              <a:uFillTx/>
              <a:latin typeface="Nimbus Sans"/>
            </a:endParaRPr>
          </a:p>
        </p:txBody>
      </p:sp>
      <p:sp>
        <p:nvSpPr>
          <p:cNvPr id="295" name="Text 7"/>
          <p:cNvSpPr/>
          <p:nvPr/>
        </p:nvSpPr>
        <p:spPr>
          <a:xfrm>
            <a:off x="9601200" y="6355080"/>
            <a:ext cx="1858680" cy="25560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1000" b="1" u="none" strike="noStrike">
                <a:solidFill>
                  <a:srgbClr val="0284C7"/>
                </a:solidFill>
                <a:effectLst/>
                <a:uFillTx/>
                <a:latin typeface="Calibri"/>
                <a:ea typeface="Calibri"/>
              </a:rPr>
              <a:t>Slide 12 / 12</a:t>
            </a:r>
            <a:endParaRPr lang="en-US" sz="1000" b="0" u="none" strike="noStrike">
              <a:solidFill>
                <a:srgbClr val="000000"/>
              </a:solidFill>
              <a:effectLst/>
              <a:uFillTx/>
              <a:latin typeface="Nimbus Sans"/>
            </a:endParaRPr>
          </a:p>
        </p:txBody>
      </p:sp>
      <p:sp>
        <p:nvSpPr>
          <p:cNvPr id="296" name="Shape 8"/>
          <p:cNvSpPr/>
          <p:nvPr/>
        </p:nvSpPr>
        <p:spPr>
          <a:xfrm>
            <a:off x="731520" y="1691640"/>
            <a:ext cx="5241960" cy="4388760"/>
          </a:xfrm>
          <a:prstGeom prst="roundRect">
            <a:avLst>
              <a:gd name="adj" fmla="val 1667"/>
            </a:avLst>
          </a:prstGeom>
          <a:solidFill>
            <a:srgbClr val="FFFFFF"/>
          </a:solidFill>
          <a:ln w="19050">
            <a:solidFill>
              <a:srgbClr val="0284C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297" name="Text 9"/>
          <p:cNvSpPr/>
          <p:nvPr/>
        </p:nvSpPr>
        <p:spPr>
          <a:xfrm>
            <a:off x="1005840" y="1920240"/>
            <a:ext cx="46933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50" b="1" u="none" strike="noStrike">
                <a:solidFill>
                  <a:srgbClr val="0284C7"/>
                </a:solidFill>
                <a:effectLst/>
                <a:uFillTx/>
                <a:latin typeface="Calibri"/>
                <a:ea typeface="Calibri"/>
              </a:rPr>
              <a:t>ĐỊNH HƯỚNG NÂNG CẤP HẠ TẦNG TƯƠNG LAI</a:t>
            </a:r>
            <a:endParaRPr lang="en-US" sz="1350" b="0" u="none" strike="noStrike">
              <a:solidFill>
                <a:srgbClr val="000000"/>
              </a:solidFill>
              <a:effectLst/>
              <a:uFillTx/>
              <a:latin typeface="Nimbus Sans"/>
            </a:endParaRPr>
          </a:p>
        </p:txBody>
      </p:sp>
      <p:sp>
        <p:nvSpPr>
          <p:cNvPr id="298" name="Text 10"/>
          <p:cNvSpPr/>
          <p:nvPr/>
        </p:nvSpPr>
        <p:spPr>
          <a:xfrm>
            <a:off x="1005840" y="2377440"/>
            <a:ext cx="4693320" cy="8226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0284C7"/>
                </a:solidFill>
                <a:effectLst/>
                <a:uFillTx/>
                <a:latin typeface="Calibri"/>
              </a:rPr>
              <a:t>1. Rootless k3s Cluster: </a:t>
            </a:r>
            <a:r>
              <a:rPr lang="en-US" sz="1050" b="0" u="none" strike="noStrike">
                <a:solidFill>
                  <a:srgbClr val="1E293B"/>
                </a:solidFill>
                <a:effectLst/>
                <a:uFillTx/>
                <a:latin typeface="Calibri"/>
                <a:ea typeface="Calibri"/>
              </a:rPr>
              <a:t>Nâng cấp kiến trúc từ máy chủ đơn lẻ lên cụm phân tán đa máy chủ sử dụng bản phân phối Kubernetes unprivileged siêu nhẹ.</a:t>
            </a:r>
            <a:endParaRPr lang="en-US" sz="1050" b="0" u="none" strike="noStrike">
              <a:solidFill>
                <a:srgbClr val="000000"/>
              </a:solidFill>
              <a:effectLst/>
              <a:uFillTx/>
              <a:latin typeface="Nimbus Sans"/>
            </a:endParaRPr>
          </a:p>
        </p:txBody>
      </p:sp>
      <p:sp>
        <p:nvSpPr>
          <p:cNvPr id="299" name="Text 11"/>
          <p:cNvSpPr/>
          <p:nvPr/>
        </p:nvSpPr>
        <p:spPr>
          <a:xfrm>
            <a:off x="1005840" y="3291840"/>
            <a:ext cx="4693320" cy="8226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0284C7"/>
                </a:solidFill>
                <a:effectLst/>
                <a:uFillTx/>
                <a:latin typeface="Calibri"/>
              </a:rPr>
              <a:t>2. Mutual TLS (mTLS): </a:t>
            </a:r>
            <a:r>
              <a:rPr lang="en-US" sz="1050" b="0" u="none" strike="noStrike">
                <a:solidFill>
                  <a:srgbClr val="1E293B"/>
                </a:solidFill>
                <a:effectLst/>
                <a:uFillTx/>
                <a:latin typeface="Calibri"/>
                <a:ea typeface="Calibri"/>
              </a:rPr>
              <a:t>Tích hợp Service Mesh Linkerd mã hóa toàn bộ lưu lượng giữa các vi dịch vụ bằng chứng chỉ số tự động xoay vòng.</a:t>
            </a:r>
            <a:endParaRPr lang="en-US" sz="1050" b="0" u="none" strike="noStrike">
              <a:solidFill>
                <a:srgbClr val="000000"/>
              </a:solidFill>
              <a:effectLst/>
              <a:uFillTx/>
              <a:latin typeface="Nimbus Sans"/>
            </a:endParaRPr>
          </a:p>
        </p:txBody>
      </p:sp>
      <p:sp>
        <p:nvSpPr>
          <p:cNvPr id="300" name="Text 12"/>
          <p:cNvSpPr/>
          <p:nvPr/>
        </p:nvSpPr>
        <p:spPr>
          <a:xfrm>
            <a:off x="1005840" y="4206240"/>
            <a:ext cx="4693320" cy="8226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0284C7"/>
                </a:solidFill>
                <a:effectLst/>
                <a:uFillTx/>
                <a:latin typeface="Calibri"/>
              </a:rPr>
              <a:t>3. Runtime Security với Falco eBPF: </a:t>
            </a:r>
            <a:r>
              <a:rPr lang="en-US" sz="1050" b="0" u="none" strike="noStrike">
                <a:solidFill>
                  <a:srgbClr val="1E293B"/>
                </a:solidFill>
                <a:effectLst/>
                <a:uFillTx/>
                <a:latin typeface="Calibri"/>
                <a:ea typeface="Calibri"/>
              </a:rPr>
              <a:t>Khai thác công nghệ eBPF để giám sát các lời gọi hệ thống (Syscalls) ở tầng kernel, phát hiện xâm nhập tức thì.</a:t>
            </a:r>
            <a:endParaRPr lang="en-US" sz="1050" b="0" u="none" strike="noStrike">
              <a:solidFill>
                <a:srgbClr val="000000"/>
              </a:solidFill>
              <a:effectLst/>
              <a:uFillTx/>
              <a:latin typeface="Nimbus Sans"/>
            </a:endParaRPr>
          </a:p>
        </p:txBody>
      </p:sp>
      <p:sp>
        <p:nvSpPr>
          <p:cNvPr id="301" name="Text 13"/>
          <p:cNvSpPr/>
          <p:nvPr/>
        </p:nvSpPr>
        <p:spPr>
          <a:xfrm>
            <a:off x="1005840" y="5120640"/>
            <a:ext cx="4693320" cy="8226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100" b="1" u="none" strike="noStrike">
                <a:solidFill>
                  <a:srgbClr val="0284C7"/>
                </a:solidFill>
                <a:effectLst/>
                <a:uFillTx/>
                <a:latin typeface="Calibri"/>
              </a:rPr>
              <a:t>4. DevSecOps CI/CD Pipeline: </a:t>
            </a:r>
            <a:r>
              <a:rPr lang="en-US" sz="1050" b="0" u="none" strike="noStrike">
                <a:solidFill>
                  <a:srgbClr val="1E293B"/>
                </a:solidFill>
                <a:effectLst/>
                <a:uFillTx/>
                <a:latin typeface="Calibri"/>
                <a:ea typeface="Calibri"/>
              </a:rPr>
              <a:t>Tích hợp công cụ quét lỗ hổng Trivy vào GitHub Actions để tự động kiểm định CVE trước khi đóng gói image.</a:t>
            </a:r>
            <a:endParaRPr lang="en-US" sz="1050" b="0" u="none" strike="noStrike">
              <a:solidFill>
                <a:srgbClr val="000000"/>
              </a:solidFill>
              <a:effectLst/>
              <a:uFillTx/>
              <a:latin typeface="Nimbus Sans"/>
            </a:endParaRPr>
          </a:p>
        </p:txBody>
      </p:sp>
      <p:sp>
        <p:nvSpPr>
          <p:cNvPr id="302" name="Shape 14"/>
          <p:cNvSpPr/>
          <p:nvPr/>
        </p:nvSpPr>
        <p:spPr>
          <a:xfrm>
            <a:off x="6217920" y="1691640"/>
            <a:ext cx="5241960" cy="4388760"/>
          </a:xfrm>
          <a:prstGeom prst="roundRect">
            <a:avLst>
              <a:gd name="adj" fmla="val 1667"/>
            </a:avLst>
          </a:prstGeom>
          <a:solidFill>
            <a:srgbClr val="FFFFFF"/>
          </a:solidFill>
          <a:ln w="19050">
            <a:solidFill>
              <a:srgbClr val="BA141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Nimbus Sans"/>
            </a:endParaRPr>
          </a:p>
        </p:txBody>
      </p:sp>
      <p:sp>
        <p:nvSpPr>
          <p:cNvPr id="303" name="Text 15"/>
          <p:cNvSpPr/>
          <p:nvPr/>
        </p:nvSpPr>
        <p:spPr>
          <a:xfrm>
            <a:off x="6492240" y="1965960"/>
            <a:ext cx="4693320" cy="319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600" b="1" u="none" strike="noStrike">
                <a:solidFill>
                  <a:srgbClr val="BA141A"/>
                </a:solidFill>
                <a:effectLst/>
                <a:uFillTx/>
                <a:latin typeface="Calibri"/>
                <a:ea typeface="Calibri"/>
              </a:rPr>
              <a:t>LỜI CẢM ƠN</a:t>
            </a:r>
            <a:endParaRPr lang="en-US" sz="1600" b="0" u="none" strike="noStrike">
              <a:solidFill>
                <a:srgbClr val="000000"/>
              </a:solidFill>
              <a:effectLst/>
              <a:uFillTx/>
              <a:latin typeface="Nimbus Sans"/>
            </a:endParaRPr>
          </a:p>
        </p:txBody>
      </p:sp>
      <p:sp>
        <p:nvSpPr>
          <p:cNvPr id="304" name="Text 16"/>
          <p:cNvSpPr/>
          <p:nvPr/>
        </p:nvSpPr>
        <p:spPr>
          <a:xfrm>
            <a:off x="6583680" y="2423160"/>
            <a:ext cx="4510440" cy="11426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2001"/>
              </a:lnSpc>
              <a:tabLst>
                <a:tab pos="0" algn="l"/>
              </a:tabLst>
            </a:pPr>
            <a:r>
              <a:rPr lang="en-US" sz="1200" b="0" i="1" u="none" strike="noStrike">
                <a:solidFill>
                  <a:srgbClr val="1E293B"/>
                </a:solidFill>
                <a:effectLst/>
                <a:uFillTx/>
                <a:latin typeface="Calibri"/>
                <a:ea typeface="Calibri"/>
              </a:rPr>
              <a:t>Nhóm tác giả xin chân thành cảm ơn TS. Hoàng Hữu Đức và Quý Thầy Cô trong Hội đồng Khoa học máy tính VKU đã tận tình hướng dẫn, định hướng và tạo mọi điều kiện thuận lợi nhất để nhóm hoàn thành xuất sắc đề tài này!</a:t>
            </a:r>
            <a:endParaRPr lang="en-US" sz="1200" b="0" u="none" strike="noStrike">
              <a:solidFill>
                <a:srgbClr val="000000"/>
              </a:solidFill>
              <a:effectLst/>
              <a:uFillTx/>
              <a:latin typeface="Nimbus Sans"/>
            </a:endParaRPr>
          </a:p>
        </p:txBody>
      </p:sp>
      <p:sp>
        <p:nvSpPr>
          <p:cNvPr id="305" name="Text 18"/>
          <p:cNvSpPr/>
          <p:nvPr/>
        </p:nvSpPr>
        <p:spPr>
          <a:xfrm>
            <a:off x="6583680" y="4023360"/>
            <a:ext cx="4510440" cy="4568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endParaRPr lang="en-US" sz="1800" b="0" u="none" strike="noStrike">
              <a:solidFill>
                <a:srgbClr val="000000"/>
              </a:solidFill>
              <a:effectLst/>
              <a:uFillTx/>
              <a:latin typeface="Nimbus Sans"/>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19</TotalTime>
  <Application>LibreOffice/26.2.6.3$Linux_X86_64 LibreOffice_project/620$Build-3</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2026-10-20T01:27:34Z</dcterms:created>
  <dc:creator>PptxGenJS</dc:creator>
  <dc:description/>
  <dc:language>en-US</dc:language>
  <cp:lastModifiedBy/>
  <dcterms:modified xsi:type="dcterms:W3CDTF">2026-10-20T09:02:01Z</dcterms:modified>
  <cp:revision>2</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12</vt:i4>
  </property>
  <property fmtid="{D5CDD505-2E9C-101B-9397-08002B2CF9AE}" pid="3" name="PresentationFormat">
    <vt:lpwstr>On-screen Show (16:9)</vt:lpwstr>
  </property>
  <property fmtid="{D5CDD505-2E9C-101B-9397-08002B2CF9AE}" pid="4" name="Slides">
    <vt:i4>12</vt:i4>
  </property>
</Properties>
</file>